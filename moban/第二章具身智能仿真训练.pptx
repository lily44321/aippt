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0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57" r:id="rId4"/>
    <p:sldId id="256" r:id="rId5"/>
    <p:sldId id="25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49650" initials="4" lastIdx="0" clrIdx="0"/>
  <p:cmAuthor id="2" name="tonydong" initials="t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2015</a:t>
            </a:r>
            <a:r>
              <a:rPr lang="zh-CN" altLang="en-US" dirty="0"/>
              <a:t>年深度学习算法突破</a:t>
            </a:r>
            <a:r>
              <a:rPr lang="en-US" altLang="zh-CN" dirty="0"/>
              <a:t>+</a:t>
            </a:r>
            <a:r>
              <a:rPr lang="zh-CN" altLang="en-US" dirty="0"/>
              <a:t>创业热潮，</a:t>
            </a:r>
            <a:r>
              <a:rPr lang="en-US" altLang="zh-CN" dirty="0"/>
              <a:t>2016</a:t>
            </a:r>
            <a:r>
              <a:rPr lang="zh-CN" altLang="en-US" dirty="0"/>
              <a:t>年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 AlphaGo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击败围棋世界冠军李世石；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2016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年美国发布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《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国家人工智能研究与发展战略计划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》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标志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从企业行为上升为国家战略，各国开始抢占技术与产业制高点；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2017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Transformer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架构的推出不仅是一次技术创新，更是人工智能领域的 “范式革命！后面催生大模型！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dirty="0"/>
              <a:t>2017</a:t>
            </a:r>
            <a:r>
              <a:rPr lang="zh-CN" altLang="en-US" dirty="0"/>
              <a:t>年</a:t>
            </a:r>
            <a:r>
              <a:rPr lang="en-US" altLang="zh-CN" dirty="0"/>
              <a:t>7</a:t>
            </a:r>
            <a:r>
              <a:rPr lang="zh-CN" altLang="en-US" dirty="0"/>
              <a:t>月，国家发布</a:t>
            </a:r>
            <a:r>
              <a:rPr lang="en-US" altLang="zh-CN" dirty="0"/>
              <a:t>《</a:t>
            </a:r>
            <a:r>
              <a:rPr lang="zh-CN" altLang="en-US" dirty="0"/>
              <a:t>新一代人工智能发展规划</a:t>
            </a:r>
            <a:r>
              <a:rPr lang="en-US" altLang="zh-CN" dirty="0"/>
              <a:t>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388362F-9F43-4429-AF5E-7A10B403247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effectLst/>
              </a:rPr>
              <a:t>西安：高校总量达</a:t>
            </a:r>
            <a:r>
              <a:rPr lang="en-US" altLang="zh-CN" dirty="0">
                <a:effectLst/>
              </a:rPr>
              <a:t>65</a:t>
            </a:r>
            <a:r>
              <a:rPr lang="zh-CN" altLang="en-US" dirty="0">
                <a:effectLst/>
              </a:rPr>
              <a:t>所，双一流、</a:t>
            </a:r>
            <a:r>
              <a:rPr lang="en-US" altLang="zh-CN" dirty="0">
                <a:effectLst/>
              </a:rPr>
              <a:t>985/211</a:t>
            </a:r>
            <a:r>
              <a:rPr lang="zh-CN" altLang="en-US" dirty="0">
                <a:effectLst/>
              </a:rPr>
              <a:t>高校集聚，核心重点高校包括西安交通大学、西北工业大学、西安电子科技大学等，理工科优势突出，尤其在电子信息、航空航天、人工智能领域实力强劲，产学研政策完善（如“四主体一联合”模式推广）</a:t>
            </a:r>
            <a:r>
              <a:rPr lang="en-US" altLang="zh-CN" dirty="0">
                <a:effectLst/>
              </a:rPr>
              <a:t>[superscript:2][superscript:3]</a:t>
            </a:r>
            <a:r>
              <a:rPr lang="zh-CN" altLang="en-US" dirty="0">
                <a:effectLst/>
              </a:rPr>
              <a:t>。 杭州：核心重点高校包括浙江大学、杭州电子科技大学、浙江工业大学等，其中浙江大学为全国顶尖双一流高校，杭州电子科技大学等聚焦电子信息、人工智能领域，且多所高校新增</a:t>
            </a:r>
            <a:r>
              <a:rPr lang="en-US" altLang="zh-CN" dirty="0">
                <a:effectLst/>
              </a:rPr>
              <a:t>AI</a:t>
            </a:r>
            <a:r>
              <a:rPr lang="zh-CN" altLang="en-US" dirty="0">
                <a:effectLst/>
              </a:rPr>
              <a:t>相关中外合作办学专业，互联网产业联动性强</a:t>
            </a:r>
            <a:endParaRPr lang="zh-CN" altLang="en-US" dirty="0">
              <a:effectLst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388362F-9F43-4429-AF5E-7A10B403247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CC00A-26C1-4169-B235-F058450353E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551FF-272A-4B62-AA4C-4A17E4F948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89000"/>
            <a:ext cx="12192000" cy="6858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659867" y="6460608"/>
            <a:ext cx="1513800" cy="365125"/>
          </a:xfrm>
        </p:spPr>
        <p:txBody>
          <a:bodyPr/>
          <a:lstStyle>
            <a:lvl1pPr>
              <a:defRPr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C54551FF-272A-4B62-AA4C-4A17E4F948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C0D4F-7AC1-496A-BD1C-0546BD489CF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4551FF-272A-4B62-AA4C-4A17E4F9482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9.xml"/><Relationship Id="rId12" Type="http://schemas.openxmlformats.org/officeDocument/2006/relationships/image" Target="../media/image4.png"/><Relationship Id="rId11" Type="http://schemas.openxmlformats.org/officeDocument/2006/relationships/image" Target="../media/image3.png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13.xml"/><Relationship Id="rId17" Type="http://schemas.openxmlformats.org/officeDocument/2006/relationships/image" Target="../media/image10.svg"/><Relationship Id="rId16" Type="http://schemas.openxmlformats.org/officeDocument/2006/relationships/image" Target="../media/image9.png"/><Relationship Id="rId15" Type="http://schemas.openxmlformats.org/officeDocument/2006/relationships/tags" Target="../tags/tag30.xml"/><Relationship Id="rId14" Type="http://schemas.openxmlformats.org/officeDocument/2006/relationships/image" Target="../media/image8.svg"/><Relationship Id="rId13" Type="http://schemas.openxmlformats.org/officeDocument/2006/relationships/image" Target="../media/image7.png"/><Relationship Id="rId12" Type="http://schemas.openxmlformats.org/officeDocument/2006/relationships/tags" Target="../tags/tag29.xml"/><Relationship Id="rId11" Type="http://schemas.openxmlformats.org/officeDocument/2006/relationships/image" Target="../media/image6.svg"/><Relationship Id="rId10" Type="http://schemas.openxmlformats.org/officeDocument/2006/relationships/image" Target="../media/image5.png"/><Relationship Id="rId1" Type="http://schemas.openxmlformats.org/officeDocument/2006/relationships/tags" Target="../tags/tag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647152" y="2500515"/>
            <a:ext cx="1513800" cy="365125"/>
          </a:xfrm>
        </p:spPr>
        <p:txBody>
          <a:bodyPr/>
          <a:lstStyle/>
          <a:p>
            <a:fld id="{C54551FF-272A-4B62-AA4C-4A17E4F94828}" type="slidenum">
              <a:rPr lang="zh-CN" altLang="en-US" smtClean="0"/>
            </a:fld>
            <a:endParaRPr lang="zh-CN" altLang="en-US"/>
          </a:p>
        </p:txBody>
      </p:sp>
      <p:sp>
        <p:nvSpPr>
          <p:cNvPr id="17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Rectangle 1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271067" y="3501490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59285" y="350149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l"/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cs typeface="+mn-ea"/>
                <a:sym typeface="微软雅黑" panose="020B0503020204020204" charset="-122"/>
              </a:rPr>
              <a:t>机器人仿真训练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Rectangle 1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59328" y="439098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支撑“具身智能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建设的配套资源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Rectangle 1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271110" y="4390887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1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074935" y="2534877"/>
            <a:ext cx="7365995" cy="576000"/>
          </a:xfrm>
          <a:prstGeom prst="rect">
            <a:avLst/>
          </a:prstGeom>
          <a:solidFill>
            <a:srgbClr val="5DA0F9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具身智能机器人产业背景及国家政策</a:t>
            </a:r>
            <a:endParaRPr kumimoji="1"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Rectangle 12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286717" y="2534784"/>
            <a:ext cx="517283" cy="576000"/>
          </a:xfrm>
          <a:prstGeom prst="rect">
            <a:avLst/>
          </a:prstGeom>
          <a:solidFill>
            <a:srgbClr val="5DA0F9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75160" y="1722745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图灵智新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介绍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" name="Rectangle 12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286942" y="1722652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1519020" y="4949300"/>
            <a:ext cx="6699073" cy="6165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明确指出将“推动量子科技、生物制造、氢能和核聚变能、脑机接口、</a:t>
            </a:r>
            <a:r>
              <a:rPr kumimoji="0" lang="zh-CN" altLang="en-US" sz="1200" b="1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srgbClr val="4472C4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具身智能</a:t>
            </a:r>
            <a:r>
              <a:rPr kumimoji="0" lang="zh-CN" altLang="en-US" sz="1200" b="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kumimoji="0" lang="zh-CN" altLang="en-US" sz="1200" b="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第六代移动通信等成为新的经济增长点”。这一表述直接</a:t>
            </a:r>
            <a:r>
              <a:rPr kumimoji="0" lang="zh-CN" altLang="en-US" sz="1400" b="1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srgbClr val="4472C4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将具身智能纳入“十五五”时期国家重点培育的未来产业范畴</a:t>
            </a:r>
            <a:r>
              <a:rPr kumimoji="0" lang="zh-CN" altLang="en-US" sz="1200" b="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，确立了其在国家战略中的重要地位。</a:t>
            </a:r>
            <a:endParaRPr kumimoji="0" lang="zh-CN" altLang="en-US" sz="1200" b="0" i="0" u="none" strike="noStrike" kern="1200" cap="none" spc="40" normalizeH="0" baseline="0" noProof="0" dirty="0">
              <a:ln w="3175">
                <a:noFill/>
                <a:prstDash val="dash"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40" normalizeH="0" baseline="0" noProof="0" dirty="0">
              <a:ln w="3175">
                <a:noFill/>
                <a:prstDash val="dash"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1518385" y="4581000"/>
            <a:ext cx="6392830" cy="44323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40" normalizeH="0" baseline="0" noProof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《中共中央关于制定国民经济和社会发展第十五个五年规划的建议》</a:t>
            </a:r>
            <a:endParaRPr kumimoji="0" lang="zh-CN" altLang="en-US" sz="1400" b="1" i="0" u="none" strike="noStrike" kern="1200" cap="none" spc="40" normalizeH="0" baseline="0" noProof="0">
              <a:ln w="3175">
                <a:noFill/>
                <a:prstDash val="dash"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655322" y="4644254"/>
            <a:ext cx="556185" cy="556185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10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1526640" y="6338839"/>
            <a:ext cx="6698772" cy="6165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明确“突破具身智能控制、人机共融等核心技术”，“</a:t>
            </a:r>
            <a:r>
              <a:rPr kumimoji="0" lang="zh-CN" altLang="en-US" sz="120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加强智能机器人领域高技能人才培养</a:t>
            </a:r>
            <a:r>
              <a:rPr kumimoji="0" lang="zh-CN" altLang="en-US" sz="1200" b="0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”，要求职业院校与企业共建“双元”育人平台。</a:t>
            </a:r>
            <a:endParaRPr kumimoji="0" lang="zh-CN" altLang="en-US" sz="1200" b="0" i="0" u="none" strike="noStrike" kern="1200" cap="none" spc="40" normalizeH="0" baseline="0" noProof="0" dirty="0">
              <a:ln w="3175">
                <a:noFill/>
                <a:prstDash val="dash"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1526005" y="5893704"/>
            <a:ext cx="6392830" cy="44323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40" normalizeH="0" baseline="0" noProof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《广东省培育智能机器人战略性新兴产业集群行动计划（2023—2025年）》</a:t>
            </a:r>
            <a:endParaRPr kumimoji="0" lang="zh-CN" altLang="en-US" sz="1400" b="1" i="0" u="none" strike="noStrike" kern="1200" cap="none" spc="40" normalizeH="0" baseline="0" noProof="0">
              <a:ln w="3175">
                <a:noFill/>
                <a:prstDash val="dash"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663243" y="5957477"/>
            <a:ext cx="556185" cy="556185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10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矩形 13"/>
          <p:cNvSpPr/>
          <p:nvPr>
            <p:custDataLst>
              <p:tags r:id="rId7"/>
            </p:custDataLst>
          </p:nvPr>
        </p:nvSpPr>
        <p:spPr>
          <a:xfrm>
            <a:off x="735984" y="937175"/>
            <a:ext cx="556185" cy="556185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10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" name="矩形 17"/>
          <p:cNvSpPr/>
          <p:nvPr>
            <p:custDataLst>
              <p:tags r:id="rId8"/>
            </p:custDataLst>
          </p:nvPr>
        </p:nvSpPr>
        <p:spPr>
          <a:xfrm>
            <a:off x="1599379" y="1380435"/>
            <a:ext cx="6584619" cy="17605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中国首个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国家级顶层设计文件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，提出 “三步走” 战略（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2020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年与世界同步、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2025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年部分领先、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2030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年成全球创新中心），明确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核心产业规模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2030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年超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1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万亿元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1. 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国内产业方向明确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：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为中国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发展划定清晰路径，推动 “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 +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制造”“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 +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医疗” 等场景落地，激发企业（如百度、腾讯等）的技术投入与场景探索；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2. 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产教融合加速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：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政策推动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高校设立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学科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、建设创新基地，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解决 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 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人才短缺问题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，为产业爆发储备核心资源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。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【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广东：华师大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2018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年；广工大、华农大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2019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年；中大、华工大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2020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年；还有大量学校今年汕大、嘉应学院，珠江学院等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…..】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9" name="矩形 18"/>
          <p:cNvSpPr/>
          <p:nvPr>
            <p:custDataLst>
              <p:tags r:id="rId9"/>
            </p:custDataLst>
          </p:nvPr>
        </p:nvSpPr>
        <p:spPr>
          <a:xfrm>
            <a:off x="1598744" y="935300"/>
            <a:ext cx="6385210" cy="44323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核心战略文件：</a:t>
            </a:r>
            <a:r>
              <a:rPr kumimoji="0" lang="zh-CN" altLang="en-US" sz="1400" b="1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《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新一代人工智能发展规划</a:t>
            </a:r>
            <a:r>
              <a:rPr kumimoji="0" lang="zh-CN" altLang="en-US" sz="1400" b="1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》</a:t>
            </a:r>
            <a:r>
              <a:rPr kumimoji="0" lang="en-US" altLang="zh-CN" sz="1400" b="1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2017</a:t>
            </a:r>
            <a:r>
              <a:rPr kumimoji="0" lang="zh-CN" altLang="en-US" sz="1400" b="1" i="0" u="none" strike="noStrike" kern="1200" cap="none" spc="40" normalizeH="0" baseline="0" noProof="0" dirty="0">
                <a:ln w="3175">
                  <a:noFill/>
                  <a:prstDash val="dash"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endParaRPr kumimoji="0" lang="zh-CN" altLang="en-US" sz="1400" b="1" i="0" u="none" strike="noStrike" kern="1200" cap="none" spc="40" normalizeH="0" baseline="0" noProof="0" dirty="0">
              <a:ln w="3175">
                <a:noFill/>
                <a:prstDash val="dash"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1" name="图片 20" descr="placingpictureplaceholder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t="1234" b="1234"/>
          <a:stretch>
            <a:fillRect/>
          </a:stretch>
        </p:blipFill>
        <p:spPr>
          <a:xfrm>
            <a:off x="8642142" y="822864"/>
            <a:ext cx="2866858" cy="1565811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0" t="25837" r="7788" b="13919"/>
          <a:stretch>
            <a:fillRect/>
          </a:stretch>
        </p:blipFill>
        <p:spPr>
          <a:xfrm>
            <a:off x="8603458" y="2508665"/>
            <a:ext cx="2905542" cy="4015211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10035778" y="5836019"/>
            <a:ext cx="719666" cy="20479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83000" y="856878"/>
            <a:ext cx="7717000" cy="2572122"/>
          </a:xfrm>
          <a:prstGeom prst="rect">
            <a:avLst/>
          </a:prstGeom>
          <a:noFill/>
          <a:ln w="25400">
            <a:solidFill>
              <a:srgbClr val="76B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526005" y="3566139"/>
            <a:ext cx="6657993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2021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 “十四五” 规划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：将 “新一代人工智能”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列为科技前沿攻关的七大领域之一，明确 “加强原创性引领性科技攻关”，推动人工智能与实体经济深度融合；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2025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8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月份国务院发布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《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关于深入实施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“人工智能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+”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行动的意见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》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6" name="矩形 25"/>
          <p:cNvSpPr/>
          <p:nvPr>
            <p:custDataLst>
              <p:tags r:id="rId13"/>
            </p:custDataLst>
          </p:nvPr>
        </p:nvSpPr>
        <p:spPr>
          <a:xfrm>
            <a:off x="697072" y="3609123"/>
            <a:ext cx="556185" cy="556185"/>
          </a:xfrm>
          <a:prstGeom prst="rect">
            <a:avLst/>
          </a:prstGeom>
          <a:solidFill>
            <a:srgbClr val="376FFF"/>
          </a:solidFill>
          <a:ln>
            <a:noFill/>
          </a:ln>
          <a:effectLst/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100000"/>
                </a:srgb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659867" y="6460608"/>
            <a:ext cx="15138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54551FF-272A-4B62-AA4C-4A17E4F9482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52000" y="663335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285A"/>
                </a:solidFill>
                <a:latin typeface="微软雅黑" panose="020B0503020204020204" charset="-122"/>
                <a:ea typeface="微软雅黑" panose="020B0503020204020204" charset="-122"/>
              </a:rPr>
              <a:t>国家政策及行业发展背景</a:t>
            </a:r>
            <a:endParaRPr lang="en-US" altLang="zh-CN" sz="2400" b="1" dirty="0">
              <a:solidFill>
                <a:srgbClr val="00285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4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09836" y="1125000"/>
            <a:ext cx="10730164" cy="5307760"/>
            <a:chOff x="1024292" y="1216201"/>
            <a:chExt cx="10730164" cy="5620418"/>
          </a:xfrm>
        </p:grpSpPr>
        <p:grpSp>
          <p:nvGrpSpPr>
            <p:cNvPr id="10" name="组合 0"/>
            <p:cNvGrpSpPr/>
            <p:nvPr/>
          </p:nvGrpSpPr>
          <p:grpSpPr>
            <a:xfrm>
              <a:off x="1867123" y="1216201"/>
              <a:ext cx="8457754" cy="3509295"/>
              <a:chOff x="1867123" y="1216201"/>
              <a:chExt cx="8457754" cy="3509295"/>
            </a:xfrm>
          </p:grpSpPr>
          <p:sp>
            <p:nvSpPr>
              <p:cNvPr id="39" name="0"/>
              <p:cNvSpPr/>
              <p:nvPr/>
            </p:nvSpPr>
            <p:spPr>
              <a:xfrm>
                <a:off x="1867123" y="2565799"/>
                <a:ext cx="8457754" cy="2159697"/>
              </a:xfrm>
              <a:prstGeom prst="ellipse">
                <a:avLst/>
              </a:prstGeom>
              <a:gradFill flip="none" rotWithShape="1">
                <a:gsLst>
                  <a:gs pos="28000">
                    <a:srgbClr val="4CD2FF"/>
                  </a:gs>
                  <a:gs pos="80000">
                    <a:schemeClr val="accent5"/>
                  </a:gs>
                  <a:gs pos="0">
                    <a:srgbClr val="BAE9FC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0" name="0"/>
              <p:cNvSpPr/>
              <p:nvPr/>
            </p:nvSpPr>
            <p:spPr>
              <a:xfrm>
                <a:off x="2165037" y="2477669"/>
                <a:ext cx="7861926" cy="1994779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100000">
                    <a:schemeClr val="bg1"/>
                  </a:gs>
                  <a:gs pos="38000">
                    <a:schemeClr val="bg1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r>
                  <a:rPr lang="zh-CN" altLang="en-US" dirty="0">
                    <a:latin typeface="+mj-ea"/>
                    <a:ea typeface="+mj-ea"/>
                  </a:rPr>
                  <a:t>产教深度融合</a:t>
                </a:r>
                <a:endParaRPr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41" name="0"/>
              <p:cNvSpPr/>
              <p:nvPr/>
            </p:nvSpPr>
            <p:spPr>
              <a:xfrm>
                <a:off x="3263854" y="2667396"/>
                <a:ext cx="5664292" cy="1199482"/>
              </a:xfrm>
              <a:prstGeom prst="ellipse">
                <a:avLst/>
              </a:prstGeom>
              <a:noFill/>
              <a:ln w="38100" cap="rnd" cmpd="sng">
                <a:gradFill>
                  <a:gsLst>
                    <a:gs pos="50000">
                      <a:schemeClr val="accent5"/>
                    </a:gs>
                    <a:gs pos="84000">
                      <a:schemeClr val="accent1">
                        <a:lumMod val="20000"/>
                        <a:lumOff val="80000"/>
                      </a:schemeClr>
                    </a:gs>
                    <a:gs pos="1000">
                      <a:srgbClr val="4CD2FF"/>
                    </a:gs>
                    <a:gs pos="100000">
                      <a:schemeClr val="bg1">
                        <a:lumMod val="95000"/>
                        <a:alpha val="0"/>
                      </a:schemeClr>
                    </a:gs>
                  </a:gsLst>
                  <a:lin ang="16200000" scaled="0"/>
                </a:gra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42" name="0"/>
              <p:cNvSpPr/>
              <p:nvPr/>
            </p:nvSpPr>
            <p:spPr>
              <a:xfrm>
                <a:off x="5120071" y="1344269"/>
                <a:ext cx="1988663" cy="1988663"/>
              </a:xfrm>
              <a:prstGeom prst="ellipse">
                <a:avLst/>
              </a:prstGeom>
              <a:gradFill>
                <a:gsLst>
                  <a:gs pos="75000">
                    <a:srgbClr val="75A3FD"/>
                  </a:gs>
                  <a:gs pos="0">
                    <a:schemeClr val="accent1">
                      <a:lumMod val="75000"/>
                    </a:schemeClr>
                  </a:gs>
                  <a:gs pos="100000">
                    <a:schemeClr val="accent2"/>
                  </a:gs>
                </a:gsLst>
                <a:lin ang="3600000" scaled="0"/>
              </a:gradFill>
              <a:ln>
                <a:noFill/>
              </a:ln>
              <a:effectLst>
                <a:outerShdw blurRad="38100" algn="ctr" rotWithShape="0">
                  <a:schemeClr val="accent1">
                    <a:alpha val="4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43" name="0"/>
              <p:cNvSpPr/>
              <p:nvPr/>
            </p:nvSpPr>
            <p:spPr>
              <a:xfrm rot="16200000">
                <a:off x="4974922" y="1216201"/>
                <a:ext cx="1136191" cy="1136191"/>
              </a:xfrm>
              <a:custGeom>
                <a:avLst/>
                <a:gdLst>
                  <a:gd name="connsiteX0" fmla="*/ 1136191 w 2272382"/>
                  <a:gd name="connsiteY0" fmla="*/ 0 h 2272382"/>
                  <a:gd name="connsiteX1" fmla="*/ 2272382 w 2272382"/>
                  <a:gd name="connsiteY1" fmla="*/ 1136191 h 2272382"/>
                  <a:gd name="connsiteX2" fmla="*/ 1136191 w 2272382"/>
                  <a:gd name="connsiteY2" fmla="*/ 1136191 h 2272382"/>
                  <a:gd name="connsiteX3" fmla="*/ 1136191 w 2272382"/>
                  <a:gd name="connsiteY3" fmla="*/ 0 h 2272382"/>
                  <a:gd name="connsiteX0-1" fmla="*/ 1136191 w 2272382"/>
                  <a:gd name="connsiteY0-2" fmla="*/ 0 h 2272382"/>
                  <a:gd name="connsiteX1-3" fmla="*/ 2272382 w 2272382"/>
                  <a:gd name="connsiteY1-4" fmla="*/ 1136191 h 2272382"/>
                  <a:gd name="connsiteX0-5" fmla="*/ 0 w 1136191"/>
                  <a:gd name="connsiteY0-6" fmla="*/ 0 h 1136191"/>
                  <a:gd name="connsiteX1-7" fmla="*/ 1136191 w 1136191"/>
                  <a:gd name="connsiteY1-8" fmla="*/ 1136191 h 1136191"/>
                  <a:gd name="connsiteX2-9" fmla="*/ 0 w 1136191"/>
                  <a:gd name="connsiteY2-10" fmla="*/ 0 h 1136191"/>
                  <a:gd name="connsiteX0-11" fmla="*/ 0 w 1136191"/>
                  <a:gd name="connsiteY0-12" fmla="*/ 0 h 1136191"/>
                  <a:gd name="connsiteX1-13" fmla="*/ 1136191 w 1136191"/>
                  <a:gd name="connsiteY1-14" fmla="*/ 1136191 h 113619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w="1136191" h="1136191" stroke="0" extrusionOk="0">
                    <a:moveTo>
                      <a:pt x="0" y="0"/>
                    </a:moveTo>
                    <a:cubicBezTo>
                      <a:pt x="627501" y="0"/>
                      <a:pt x="1136191" y="508690"/>
                      <a:pt x="1136191" y="1136191"/>
                    </a:cubicBezTo>
                    <a:lnTo>
                      <a:pt x="0" y="0"/>
                    </a:lnTo>
                    <a:close/>
                  </a:path>
                  <a:path w="1136191" h="1136191" fill="none">
                    <a:moveTo>
                      <a:pt x="0" y="0"/>
                    </a:moveTo>
                    <a:cubicBezTo>
                      <a:pt x="627501" y="0"/>
                      <a:pt x="1136191" y="508690"/>
                      <a:pt x="1136191" y="1136191"/>
                    </a:cubicBezTo>
                  </a:path>
                </a:pathLst>
              </a:custGeom>
              <a:noFill/>
              <a:ln w="19050">
                <a:gradFill>
                  <a:gsLst>
                    <a:gs pos="100000">
                      <a:schemeClr val="accent1">
                        <a:alpha val="0"/>
                      </a:schemeClr>
                    </a:gs>
                    <a:gs pos="0">
                      <a:schemeClr val="accent1"/>
                    </a:gs>
                  </a:gsLst>
                  <a:lin ang="5400000" scaled="1"/>
                </a:gradFill>
                <a:head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4" name="0"/>
              <p:cNvSpPr/>
              <p:nvPr/>
            </p:nvSpPr>
            <p:spPr>
              <a:xfrm rot="5400000">
                <a:off x="6080887" y="2335191"/>
                <a:ext cx="1136191" cy="1136191"/>
              </a:xfrm>
              <a:custGeom>
                <a:avLst/>
                <a:gdLst>
                  <a:gd name="connsiteX0" fmla="*/ 1136191 w 2272382"/>
                  <a:gd name="connsiteY0" fmla="*/ 0 h 2272382"/>
                  <a:gd name="connsiteX1" fmla="*/ 2272382 w 2272382"/>
                  <a:gd name="connsiteY1" fmla="*/ 1136191 h 2272382"/>
                  <a:gd name="connsiteX2" fmla="*/ 1136191 w 2272382"/>
                  <a:gd name="connsiteY2" fmla="*/ 1136191 h 2272382"/>
                  <a:gd name="connsiteX3" fmla="*/ 1136191 w 2272382"/>
                  <a:gd name="connsiteY3" fmla="*/ 0 h 2272382"/>
                  <a:gd name="connsiteX0-1" fmla="*/ 1136191 w 2272382"/>
                  <a:gd name="connsiteY0-2" fmla="*/ 0 h 2272382"/>
                  <a:gd name="connsiteX1-3" fmla="*/ 2272382 w 2272382"/>
                  <a:gd name="connsiteY1-4" fmla="*/ 1136191 h 2272382"/>
                  <a:gd name="connsiteX0-5" fmla="*/ 0 w 1136191"/>
                  <a:gd name="connsiteY0-6" fmla="*/ 0 h 1136191"/>
                  <a:gd name="connsiteX1-7" fmla="*/ 1136191 w 1136191"/>
                  <a:gd name="connsiteY1-8" fmla="*/ 1136191 h 1136191"/>
                  <a:gd name="connsiteX2-9" fmla="*/ 0 w 1136191"/>
                  <a:gd name="connsiteY2-10" fmla="*/ 0 h 1136191"/>
                  <a:gd name="connsiteX0-11" fmla="*/ 0 w 1136191"/>
                  <a:gd name="connsiteY0-12" fmla="*/ 0 h 1136191"/>
                  <a:gd name="connsiteX1-13" fmla="*/ 1136191 w 1136191"/>
                  <a:gd name="connsiteY1-14" fmla="*/ 1136191 h 113619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</a:cxnLst>
                <a:rect l="l" t="t" r="r" b="b"/>
                <a:pathLst>
                  <a:path w="1136191" h="1136191" stroke="0" extrusionOk="0">
                    <a:moveTo>
                      <a:pt x="0" y="0"/>
                    </a:moveTo>
                    <a:cubicBezTo>
                      <a:pt x="627501" y="0"/>
                      <a:pt x="1136191" y="508690"/>
                      <a:pt x="1136191" y="1136191"/>
                    </a:cubicBezTo>
                    <a:lnTo>
                      <a:pt x="0" y="0"/>
                    </a:lnTo>
                    <a:close/>
                  </a:path>
                  <a:path w="1136191" h="1136191" fill="none">
                    <a:moveTo>
                      <a:pt x="0" y="0"/>
                    </a:moveTo>
                    <a:cubicBezTo>
                      <a:pt x="627501" y="0"/>
                      <a:pt x="1136191" y="508690"/>
                      <a:pt x="1136191" y="1136191"/>
                    </a:cubicBezTo>
                  </a:path>
                </a:pathLst>
              </a:custGeom>
              <a:noFill/>
              <a:ln w="19050">
                <a:gradFill>
                  <a:gsLst>
                    <a:gs pos="100000">
                      <a:schemeClr val="accent1">
                        <a:alpha val="0"/>
                      </a:schemeClr>
                    </a:gs>
                    <a:gs pos="0">
                      <a:schemeClr val="accent1"/>
                    </a:gs>
                  </a:gsLst>
                  <a:lin ang="5400000" scaled="1"/>
                </a:gradFill>
                <a:head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5" name="0"/>
              <p:cNvSpPr/>
              <p:nvPr/>
            </p:nvSpPr>
            <p:spPr>
              <a:xfrm>
                <a:off x="5445415" y="1669612"/>
                <a:ext cx="1337974" cy="1337976"/>
              </a:xfrm>
              <a:prstGeom prst="ellipse">
                <a:avLst/>
              </a:prstGeom>
              <a:gradFill flip="none" rotWithShape="1">
                <a:gsLst>
                  <a:gs pos="6400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2">
                      <a:lumMod val="20000"/>
                      <a:lumOff val="80000"/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6" name="0"/>
              <p:cNvSpPr/>
              <p:nvPr/>
            </p:nvSpPr>
            <p:spPr>
              <a:xfrm>
                <a:off x="5261157" y="1485354"/>
                <a:ext cx="1706490" cy="1706492"/>
              </a:xfrm>
              <a:prstGeom prst="ellipse">
                <a:avLst/>
              </a:prstGeom>
              <a:noFill/>
              <a:ln w="12700">
                <a:gradFill>
                  <a:gsLst>
                    <a:gs pos="0">
                      <a:schemeClr val="bg1"/>
                    </a:gs>
                    <a:gs pos="100000">
                      <a:schemeClr val="accent2">
                        <a:lumMod val="20000"/>
                        <a:lumOff val="80000"/>
                      </a:schemeClr>
                    </a:gs>
                  </a:gsLst>
                  <a:lin ang="8400000" scaled="0"/>
                </a:gra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47" name="Index-0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5380215" y="1892749"/>
                <a:ext cx="1431569" cy="51318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zh-CN" altLang="en-US" sz="2500" b="1" dirty="0">
                    <a:gradFill flip="none" rotWithShape="1">
                      <a:gsLst>
                        <a:gs pos="41000">
                          <a:schemeClr val="accent1"/>
                        </a:gs>
                        <a:gs pos="96000">
                          <a:schemeClr val="accent2"/>
                        </a:gs>
                      </a:gsLst>
                      <a:lin ang="2700000" scaled="1"/>
                      <a:tileRect/>
                    </a:gradFill>
                    <a:latin typeface="+mj-ea"/>
                    <a:ea typeface="+mj-ea"/>
                  </a:rPr>
                  <a:t>具身</a:t>
                </a:r>
                <a:endParaRPr lang="en-US" altLang="zh-CN" sz="2500" b="1" dirty="0">
                  <a:gradFill flip="none" rotWithShape="1">
                    <a:gsLst>
                      <a:gs pos="41000">
                        <a:schemeClr val="accent1"/>
                      </a:gs>
                      <a:gs pos="96000">
                        <a:schemeClr val="accent2"/>
                      </a:gs>
                    </a:gsLst>
                    <a:lin ang="2700000" scaled="1"/>
                    <a:tileRect/>
                  </a:gradFill>
                  <a:latin typeface="+mj-ea"/>
                  <a:ea typeface="+mj-ea"/>
                </a:endParaRPr>
              </a:p>
              <a:p>
                <a:pPr algn="ctr"/>
                <a:r>
                  <a:rPr lang="zh-CN" altLang="en-US" sz="2500" b="1" dirty="0">
                    <a:gradFill flip="none" rotWithShape="1">
                      <a:gsLst>
                        <a:gs pos="41000">
                          <a:schemeClr val="accent1"/>
                        </a:gs>
                        <a:gs pos="96000">
                          <a:schemeClr val="accent2"/>
                        </a:gs>
                      </a:gsLst>
                      <a:lin ang="2700000" scaled="1"/>
                      <a:tileRect/>
                    </a:gradFill>
                    <a:latin typeface="+mj-ea"/>
                    <a:ea typeface="+mj-ea"/>
                  </a:rPr>
                  <a:t>智能</a:t>
                </a:r>
                <a:endParaRPr lang="zh-CN" altLang="en-US" sz="2500" b="1" dirty="0">
                  <a:gradFill flip="none" rotWithShape="1">
                    <a:gsLst>
                      <a:gs pos="41000">
                        <a:schemeClr val="accent1"/>
                      </a:gs>
                      <a:gs pos="96000">
                        <a:schemeClr val="accent2"/>
                      </a:gs>
                    </a:gsLst>
                    <a:lin ang="2700000" scaled="1"/>
                    <a:tileRect/>
                  </a:gradFill>
                  <a:latin typeface="+mj-ea"/>
                  <a:ea typeface="+mj-ea"/>
                </a:endParaRPr>
              </a:p>
            </p:txBody>
          </p:sp>
        </p:grpSp>
        <p:grpSp>
          <p:nvGrpSpPr>
            <p:cNvPr id="12" name="组合 1"/>
            <p:cNvGrpSpPr/>
            <p:nvPr/>
          </p:nvGrpSpPr>
          <p:grpSpPr>
            <a:xfrm>
              <a:off x="1024292" y="3620025"/>
              <a:ext cx="3023999" cy="2611758"/>
              <a:chOff x="254754" y="3108949"/>
              <a:chExt cx="3023999" cy="2611758"/>
            </a:xfrm>
          </p:grpSpPr>
          <p:sp>
            <p:nvSpPr>
              <p:cNvPr id="34" name="Title-1"/>
              <p:cNvSpPr txBox="1"/>
              <p:nvPr>
                <p:custDataLst>
                  <p:tags r:id="rId3"/>
                </p:custDataLst>
              </p:nvPr>
            </p:nvSpPr>
            <p:spPr>
              <a:xfrm flipH="1">
                <a:off x="795987" y="4103408"/>
                <a:ext cx="2103291" cy="36933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just"/>
                <a:r>
                  <a:rPr lang="zh-CN" altLang="en-US" b="1" dirty="0">
                    <a:gradFill flip="none" rotWithShape="1">
                      <a:gsLst>
                        <a:gs pos="41000">
                          <a:schemeClr val="accent1"/>
                        </a:gs>
                        <a:gs pos="96000">
                          <a:schemeClr val="accent2"/>
                        </a:gs>
                      </a:gsLst>
                      <a:lin ang="2700000" scaled="1"/>
                      <a:tileRect/>
                    </a:gradFill>
                    <a:latin typeface="+mj-ea"/>
                    <a:ea typeface="+mj-ea"/>
                  </a:rPr>
                  <a:t>国家战略高度定位</a:t>
                </a:r>
                <a:endParaRPr lang="zh-CN" altLang="en-US" b="1" dirty="0">
                  <a:gradFill flip="none" rotWithShape="1">
                    <a:gsLst>
                      <a:gs pos="41000">
                        <a:schemeClr val="accent1"/>
                      </a:gs>
                      <a:gs pos="96000">
                        <a:schemeClr val="accent2"/>
                      </a:gs>
                    </a:gsLst>
                    <a:lin ang="2700000" scaled="1"/>
                    <a:tileRect/>
                  </a:gradFill>
                  <a:latin typeface="+mj-ea"/>
                  <a:ea typeface="+mj-ea"/>
                </a:endParaRPr>
              </a:p>
            </p:txBody>
          </p:sp>
          <p:sp>
            <p:nvSpPr>
              <p:cNvPr id="35" name="Body-1"/>
              <p:cNvSpPr txBox="1"/>
              <p:nvPr>
                <p:custDataLst>
                  <p:tags r:id="rId4"/>
                </p:custDataLst>
              </p:nvPr>
            </p:nvSpPr>
            <p:spPr>
              <a:xfrm flipH="1">
                <a:off x="254754" y="4472740"/>
                <a:ext cx="3023999" cy="124796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2025 年首次写入《政府工作报告》，2026 年再次明确为重点培育的未来产业。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1F2329"/>
                  </a:solidFill>
                  <a:effectLst/>
                  <a:latin typeface="Arial" panose="020B0604020202020204" pitchFamily="34" charset="0"/>
                  <a:ea typeface="ui-sans-serif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“十五五” 规划将其列为新经济增长点，定位为全球科技竞争的核心赛道</a:t>
                </a:r>
                <a:r>
                  <a:rPr kumimoji="0" lang="en-US" altLang="zh-CN" sz="3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.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。</a:t>
                </a:r>
                <a:endParaRPr kumimoji="0" lang="en-US" altLang="zh-CN" sz="1000" b="0" i="0" u="none" strike="noStrike" cap="none" normalizeH="0" baseline="0" dirty="0">
                  <a:ln>
                    <a:noFill/>
                  </a:ln>
                  <a:solidFill>
                    <a:srgbClr val="1F2329"/>
                  </a:solidFill>
                  <a:effectLst/>
                  <a:latin typeface="Arial" panose="020B0604020202020204" pitchFamily="34" charset="0"/>
                  <a:ea typeface="ui-sans-serif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政策目标：2030 年市场规模约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4000 亿元</a:t>
                </a: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，2035 年突破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万亿元</a:t>
                </a: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algn="ctr"/>
                <a:endParaRPr lang="zh-CN" altLang="en-US" sz="1000" dirty="0">
                  <a:effectLst/>
                  <a:latin typeface="+mj-ea"/>
                  <a:ea typeface="+mj-ea"/>
                </a:endParaRPr>
              </a:p>
            </p:txBody>
          </p:sp>
          <p:sp>
            <p:nvSpPr>
              <p:cNvPr id="36" name="1"/>
              <p:cNvSpPr/>
              <p:nvPr/>
            </p:nvSpPr>
            <p:spPr>
              <a:xfrm flipH="1">
                <a:off x="1458934" y="3108949"/>
                <a:ext cx="868960" cy="86896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203200" dir="5400000" sx="90000" sy="-19000" rotWithShape="0">
                  <a:schemeClr val="accent1">
                    <a:lumMod val="60000"/>
                    <a:lumOff val="40000"/>
                    <a:alpha val="43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37" name="1"/>
              <p:cNvSpPr/>
              <p:nvPr/>
            </p:nvSpPr>
            <p:spPr>
              <a:xfrm flipH="1">
                <a:off x="1497024" y="3147039"/>
                <a:ext cx="792780" cy="7927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</p:grpSp>
        <p:grpSp>
          <p:nvGrpSpPr>
            <p:cNvPr id="13" name="组合 2"/>
            <p:cNvGrpSpPr/>
            <p:nvPr/>
          </p:nvGrpSpPr>
          <p:grpSpPr>
            <a:xfrm>
              <a:off x="4770453" y="4238580"/>
              <a:ext cx="3456001" cy="2598039"/>
              <a:chOff x="567866" y="3108949"/>
              <a:chExt cx="3456001" cy="2598039"/>
            </a:xfrm>
          </p:grpSpPr>
          <p:sp>
            <p:nvSpPr>
              <p:cNvPr id="29" name="Title-2"/>
              <p:cNvSpPr txBox="1"/>
              <p:nvPr>
                <p:custDataLst>
                  <p:tags r:id="rId5"/>
                </p:custDataLst>
              </p:nvPr>
            </p:nvSpPr>
            <p:spPr>
              <a:xfrm flipH="1">
                <a:off x="639868" y="4032668"/>
                <a:ext cx="2736000" cy="36933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just"/>
                <a:r>
                  <a:rPr lang="zh-CN" altLang="en-US" b="1" dirty="0">
                    <a:gradFill flip="none" rotWithShape="1">
                      <a:gsLst>
                        <a:gs pos="41000">
                          <a:schemeClr val="accent1"/>
                        </a:gs>
                        <a:gs pos="96000">
                          <a:schemeClr val="accent2"/>
                        </a:gs>
                      </a:gsLst>
                      <a:lin ang="2700000" scaled="1"/>
                      <a:tileRect/>
                    </a:gradFill>
                    <a:latin typeface="+mj-ea"/>
                    <a:ea typeface="+mj-ea"/>
                  </a:rPr>
                  <a:t>技术成熟度：快速迭代</a:t>
                </a:r>
                <a:endParaRPr lang="zh-CN" altLang="en-US" b="1" dirty="0">
                  <a:gradFill flip="none" rotWithShape="1">
                    <a:gsLst>
                      <a:gs pos="41000">
                        <a:schemeClr val="accent1"/>
                      </a:gs>
                      <a:gs pos="96000">
                        <a:schemeClr val="accent2"/>
                      </a:gs>
                    </a:gsLst>
                    <a:lin ang="2700000" scaled="1"/>
                    <a:tileRect/>
                  </a:gradFill>
                  <a:latin typeface="+mj-ea"/>
                  <a:ea typeface="+mj-ea"/>
                </a:endParaRPr>
              </a:p>
            </p:txBody>
          </p:sp>
          <p:sp>
            <p:nvSpPr>
              <p:cNvPr id="30" name="Body-2"/>
              <p:cNvSpPr txBox="1"/>
              <p:nvPr>
                <p:custDataLst>
                  <p:tags r:id="rId6"/>
                </p:custDataLst>
              </p:nvPr>
            </p:nvSpPr>
            <p:spPr>
              <a:xfrm flipH="1">
                <a:off x="567866" y="4459021"/>
                <a:ext cx="3456001" cy="124796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核心突破：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大模型 + 机器人本体 + 多模态感知</a:t>
                </a: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深度融合，实现 “感知 - 决策 - 执行” 闭环</a:t>
                </a:r>
                <a:r>
                  <a:rPr kumimoji="0" lang="zh-CN" altLang="en-US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。</a:t>
                </a:r>
                <a:endPara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1F2329"/>
                  </a:solidFill>
                  <a:effectLst/>
                  <a:latin typeface="Arial" panose="020B0604020202020204" pitchFamily="34" charset="0"/>
                  <a:ea typeface="ui-sans-serif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硬件：人形 / 四足 / 机械臂等载体成熟，灵巧手、关节模组、力觉传感等关键部件快速迭代。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1F2329"/>
                  </a:solidFill>
                  <a:effectLst/>
                  <a:latin typeface="Arial" panose="020B0604020202020204" pitchFamily="34" charset="0"/>
                  <a:ea typeface="ui-sans-serif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软件：具身 VLA 大模型、大小脑分离架构、数字孪生仿真训练，大幅降低落地门槛。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" name="2"/>
              <p:cNvSpPr/>
              <p:nvPr/>
            </p:nvSpPr>
            <p:spPr>
              <a:xfrm flipH="1">
                <a:off x="1458934" y="3108949"/>
                <a:ext cx="868960" cy="86896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203200" dir="5400000" sx="90000" sy="-19000" rotWithShape="0">
                  <a:schemeClr val="accent1">
                    <a:lumMod val="60000"/>
                    <a:lumOff val="40000"/>
                    <a:alpha val="43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32" name="2"/>
              <p:cNvSpPr/>
              <p:nvPr/>
            </p:nvSpPr>
            <p:spPr>
              <a:xfrm flipH="1">
                <a:off x="1497024" y="3147039"/>
                <a:ext cx="792780" cy="7927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</p:grpSp>
        <p:grpSp>
          <p:nvGrpSpPr>
            <p:cNvPr id="15" name="组合 3"/>
            <p:cNvGrpSpPr/>
            <p:nvPr/>
          </p:nvGrpSpPr>
          <p:grpSpPr>
            <a:xfrm flipH="1">
              <a:off x="8730456" y="3581935"/>
              <a:ext cx="3024000" cy="2649848"/>
              <a:chOff x="-15856" y="3108949"/>
              <a:chExt cx="3024000" cy="2649848"/>
            </a:xfrm>
          </p:grpSpPr>
          <p:sp>
            <p:nvSpPr>
              <p:cNvPr id="16" name="Title-3"/>
              <p:cNvSpPr txBox="1"/>
              <p:nvPr>
                <p:custDataLst>
                  <p:tags r:id="rId7"/>
                </p:custDataLst>
              </p:nvPr>
            </p:nvSpPr>
            <p:spPr>
              <a:xfrm flipH="1">
                <a:off x="560144" y="4055155"/>
                <a:ext cx="2448000" cy="36933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just"/>
                <a:r>
                  <a:rPr lang="zh-CN" altLang="en-US" b="1" dirty="0">
                    <a:gradFill flip="none" rotWithShape="1">
                      <a:gsLst>
                        <a:gs pos="41000">
                          <a:schemeClr val="accent1"/>
                        </a:gs>
                        <a:gs pos="96000">
                          <a:schemeClr val="accent2"/>
                        </a:gs>
                      </a:gsLst>
                      <a:lin ang="2700000" scaled="1"/>
                      <a:tileRect/>
                    </a:gradFill>
                    <a:latin typeface="+mj-ea"/>
                    <a:ea typeface="+mj-ea"/>
                  </a:rPr>
                  <a:t>产业生态与资本热度</a:t>
                </a:r>
                <a:endParaRPr lang="zh-CN" altLang="en-US" b="1" dirty="0">
                  <a:gradFill flip="none" rotWithShape="1">
                    <a:gsLst>
                      <a:gs pos="41000">
                        <a:schemeClr val="accent1"/>
                      </a:gs>
                      <a:gs pos="96000">
                        <a:schemeClr val="accent2"/>
                      </a:gs>
                    </a:gsLst>
                    <a:lin ang="2700000" scaled="1"/>
                    <a:tileRect/>
                  </a:gradFill>
                  <a:latin typeface="+mj-ea"/>
                  <a:ea typeface="+mj-ea"/>
                </a:endParaRPr>
              </a:p>
            </p:txBody>
          </p:sp>
          <p:sp>
            <p:nvSpPr>
              <p:cNvPr id="17" name="Body-3"/>
              <p:cNvSpPr txBox="1"/>
              <p:nvPr>
                <p:custDataLst>
                  <p:tags r:id="rId8"/>
                </p:custDataLst>
              </p:nvPr>
            </p:nvSpPr>
            <p:spPr>
              <a:xfrm flipH="1">
                <a:off x="-15856" y="4472739"/>
                <a:ext cx="3024000" cy="128605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国内超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150 家</a:t>
                </a: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人形机器人企业，产业链（核心部件 - 整机 - 场景应用）初步成型。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1F2329"/>
                  </a:solidFill>
                  <a:effectLst/>
                  <a:latin typeface="Arial" panose="020B0604020202020204" pitchFamily="34" charset="0"/>
                  <a:ea typeface="ui-sans-serif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投融资活跃：天使轮 / Pre-A 轮融资密集，产业资本与地方基金加速布局。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000" b="0" i="0" u="none" strike="noStrike" cap="none" normalizeH="0" baseline="0" dirty="0">
                  <a:ln>
                    <a:noFill/>
                  </a:ln>
                  <a:solidFill>
                    <a:srgbClr val="1F2329"/>
                  </a:solidFill>
                  <a:effectLst/>
                  <a:latin typeface="Arial" panose="020B0604020202020204" pitchFamily="34" charset="0"/>
                  <a:ea typeface="ui-sans-serif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</a:pP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阶段判断：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202</a:t>
                </a:r>
                <a:r>
                  <a:rPr lang="en-US" altLang="zh-CN" sz="1000" b="1" dirty="0">
                    <a:solidFill>
                      <a:srgbClr val="1F2329"/>
                    </a:solidFill>
                    <a:latin typeface="Arial" panose="020B0604020202020204" pitchFamily="34" charset="0"/>
                    <a:ea typeface="ui-sans-serif"/>
                  </a:rPr>
                  <a:t>6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-202</a:t>
                </a:r>
                <a:r>
                  <a:rPr lang="en-US" altLang="zh-CN" sz="1000" b="1" dirty="0">
                    <a:solidFill>
                      <a:srgbClr val="1F2329"/>
                    </a:solidFill>
                    <a:latin typeface="Arial" panose="020B0604020202020204" pitchFamily="34" charset="0"/>
                    <a:ea typeface="ui-sans-serif"/>
                  </a:rPr>
                  <a:t>7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 年工业场景规模化落地，202</a:t>
                </a:r>
                <a:r>
                  <a:rPr kumimoji="0" lang="en-US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7</a:t>
                </a:r>
                <a:r>
                  <a:rPr kumimoji="0" lang="zh-CN" altLang="zh-CN" sz="1000" b="1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 年后家庭 / 服务场景逐步渗透</a:t>
                </a:r>
                <a:r>
                  <a:rPr kumimoji="0" lang="zh-CN" altLang="zh-CN" sz="1000" b="0" i="0" u="none" strike="noStrike" cap="none" normalizeH="0" baseline="0" dirty="0">
                    <a:ln>
                      <a:noFill/>
                    </a:ln>
                    <a:solidFill>
                      <a:srgbClr val="1F2329"/>
                    </a:solidFill>
                    <a:effectLst/>
                    <a:latin typeface="Arial" panose="020B0604020202020204" pitchFamily="34" charset="0"/>
                    <a:ea typeface="ui-sans-serif"/>
                  </a:rPr>
                  <a:t>。</a:t>
                </a:r>
                <a:r>
                  <a:rPr kumimoji="0" lang="zh-CN" altLang="zh-CN" sz="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" name="3"/>
              <p:cNvSpPr/>
              <p:nvPr/>
            </p:nvSpPr>
            <p:spPr>
              <a:xfrm flipH="1">
                <a:off x="1458934" y="3108949"/>
                <a:ext cx="868960" cy="86896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203200" dir="5400000" sx="90000" sy="-19000" rotWithShape="0">
                  <a:schemeClr val="accent1">
                    <a:lumMod val="60000"/>
                    <a:lumOff val="40000"/>
                    <a:alpha val="43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27" name="3"/>
              <p:cNvSpPr/>
              <p:nvPr/>
            </p:nvSpPr>
            <p:spPr>
              <a:xfrm flipH="1">
                <a:off x="1497024" y="3147039"/>
                <a:ext cx="792780" cy="7927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zh-CN" altLang="en-US" dirty="0">
                  <a:latin typeface="+mj-ea"/>
                  <a:ea typeface="+mj-ea"/>
                </a:endParaRPr>
              </a:p>
            </p:txBody>
          </p:sp>
        </p:grpSp>
      </p:grpSp>
      <p:pic>
        <p:nvPicPr>
          <p:cNvPr id="52" name="图形 5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88079" y="4141165"/>
            <a:ext cx="558278" cy="558278"/>
          </a:xfrm>
          <a:prstGeom prst="rect">
            <a:avLst/>
          </a:prstGeom>
        </p:spPr>
      </p:pic>
      <p:sp>
        <p:nvSpPr>
          <p:cNvPr id="55" name="文本框 54"/>
          <p:cNvSpPr txBox="1"/>
          <p:nvPr/>
        </p:nvSpPr>
        <p:spPr>
          <a:xfrm>
            <a:off x="2215798" y="6535756"/>
            <a:ext cx="77604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CN" altLang="en-US" sz="1200" b="1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ui-sans-serif"/>
              </a:rPr>
              <a:t>资本与智力都快速聚集到该领域，硬件、软件、模型快速迭代，在</a:t>
            </a: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ui-sans-serif"/>
              </a:rPr>
              <a:t>3-5</a:t>
            </a:r>
            <a:r>
              <a:rPr kumimoji="0" lang="zh-CN" altLang="en-US" sz="1200" b="1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ui-sans-serif"/>
              </a:rPr>
              <a:t>年内即将迎来具身智能的</a:t>
            </a:r>
            <a:r>
              <a:rPr kumimoji="0" lang="en-US" altLang="zh-CN" sz="1200" b="1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ui-sans-serif"/>
              </a:rPr>
              <a:t>ChatGPT</a:t>
            </a:r>
            <a:r>
              <a:rPr kumimoji="0" lang="zh-CN" altLang="en-US" sz="1200" b="1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ui-sans-serif"/>
              </a:rPr>
              <a:t>时刻！</a:t>
            </a:r>
            <a:endParaRPr kumimoji="0" lang="zh-CN" altLang="zh-CN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74675" y="3182140"/>
            <a:ext cx="1242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AI+</a:t>
            </a:r>
            <a:r>
              <a:rPr lang="zh-CN" altLang="en-US" b="1" dirty="0"/>
              <a:t>机器人</a:t>
            </a:r>
            <a:endParaRPr lang="zh-CN" altLang="en-US" b="1" dirty="0"/>
          </a:p>
        </p:txBody>
      </p:sp>
      <p:pic>
        <p:nvPicPr>
          <p:cNvPr id="14" name="图形 1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72067" y="3502166"/>
            <a:ext cx="622065" cy="622065"/>
          </a:xfrm>
          <a:prstGeom prst="rect">
            <a:avLst/>
          </a:prstGeom>
        </p:spPr>
      </p:pic>
      <p:pic>
        <p:nvPicPr>
          <p:cNvPr id="22" name="图形 21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453900" y="3459831"/>
            <a:ext cx="575252" cy="575252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2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3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4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5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6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7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8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645669291338}"/>
</p:tagLst>
</file>

<file path=ppt/tags/tag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67_3*l_h_f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88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文本内容，简明扼要地阐述您的观点。根据需要增减文字，准确地理解您传达的思想。"/>
  <p:tag name="KSO_WM_UNIT_TEXT_TYPE" val="1"/>
  <p:tag name="KSO_WM_DIAGRAM_USE_COLOR_VALUE" val="{&quot;color_scheme&quot;:1,&quot;color_type&quot;:1,&quot;theme_color_indexes&quot;:[]}"/>
  <p:tag name="KSO_WM_UNIT_PLACING_PICTURE_USER_VIEWPORT" val="{&quot;height&quot;:971,&quot;width&quot;:11852}"/>
</p:tagLst>
</file>

<file path=ppt/tags/tag1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67_3*l_h_a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39"/>
  <p:tag name="KSO_WM_UNIT_TEXT_FILL_FORE_SCHEMECOLOR_INDEX" val="1"/>
  <p:tag name="KSO_WM_UNIT_TEXT_FILL_TYPE" val="1"/>
  <p:tag name="KSO_WM_UNIT_PRESET_TEXT" val="单击此处添加标题"/>
  <p:tag name="KSO_WM_UNIT_TEXT_TYPE" val="1"/>
  <p:tag name="KSO_WM_DIAGRAM_USE_COLOR_VALUE" val="{&quot;color_scheme&quot;:1,&quot;color_type&quot;:1,&quot;theme_color_indexes&quot;:[]}"/>
  <p:tag name="KSO_WM_UNIT_PLACING_PICTURE_USER_VIEWPORT" val="{&quot;height&quot;:698,&quot;width&quot;:11840}"/>
</p:tagLst>
</file>

<file path=ppt/tags/tag1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67_3*l_h_i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  <p:tag name="KSO_WM_UNIT_PLACING_PICTURE_USER_VIEWPORT" val="{&quot;height&quot;:875.8820801965509,&quot;width&quot;:875.8820801965524}"/>
</p:tagLst>
</file>

<file path=ppt/tags/tag1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967_3*l_h_f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88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文本内容，简明扼要地阐述您的观点。根据需要增减文字，准确地理解您传达的思想。"/>
  <p:tag name="KSO_WM_UNIT_TEXT_TYPE" val="1"/>
  <p:tag name="KSO_WM_DIAGRAM_USE_COLOR_VALUE" val="{&quot;color_scheme&quot;:1,&quot;color_type&quot;:1,&quot;theme_color_indexes&quot;:[]}"/>
  <p:tag name="KSO_WM_UNIT_PLACING_PICTURE_USER_VIEWPORT" val="{&quot;height&quot;:971,&quot;width&quot;:11840}"/>
</p:tagLst>
</file>

<file path=ppt/tags/tag1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967_3*l_h_a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标题"/>
  <p:tag name="KSO_WM_UNIT_TEXT_TYPE" val="1"/>
  <p:tag name="KSO_WM_DIAGRAM_USE_COLOR_VALUE" val="{&quot;color_scheme&quot;:1,&quot;color_type&quot;:1,&quot;theme_color_indexes&quot;:[]}"/>
  <p:tag name="KSO_WM_UNIT_PLACING_PICTURE_USER_VIEWPORT" val="{&quot;height&quot;:698,&quot;width&quot;:11840}"/>
</p:tagLst>
</file>

<file path=ppt/tags/tag1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967_3*l_h_i*1_2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  <p:tag name="KSO_WM_UNIT_PLACING_PICTURE_USER_VIEWPORT" val="{&quot;height&quot;:875.8820801965509,&quot;width&quot;:875.8820801965524}"/>
</p:tagLst>
</file>

<file path=ppt/tags/tag1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1967_3*l_h_i*1_3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1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1967_3*l_h_f*1_4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UNIT_VALUE" val="88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文本内容，简明扼要地阐述您的观点。根据需要增减文字，准确地理解您传达的思想。"/>
  <p:tag name="KSO_WM_UNIT_TEXT_TYPE" val="1"/>
  <p:tag name="KSO_WM_DIAGRAM_USE_COLOR_VALUE" val="{&quot;color_scheme&quot;:1,&quot;color_type&quot;:1,&quot;theme_color_indexes&quot;:[]}"/>
</p:tagLst>
</file>

<file path=ppt/tags/tag1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1967_3*l_h_a*1_4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添加标题"/>
  <p:tag name="KSO_WM_UNIT_TEXT_TYPE" val="1"/>
  <p:tag name="KSO_WM_DIAGRAM_USE_COLOR_VALUE" val="{&quot;color_scheme&quot;:1,&quot;color_type&quot;:1,&quot;theme_color_indexes&quot;:[]}"/>
</p:tagLst>
</file>

<file path=ppt/tags/tag18.xml><?xml version="1.0" encoding="utf-8"?>
<p:tagLst xmlns:p="http://schemas.openxmlformats.org/presentationml/2006/main">
  <p:tag name="KSO_WM_DIAGRAM_VIRTUALLY_FRAME" val="{&quot;height&quot;:487.2,&quot;left&quot;:-65.85,&quot;top&quot;:39.7,&quot;width&quot;:1050.0216522216797}"/>
  <p:tag name="KSO_WM_UNIT_VALUE" val="761*1354"/>
  <p:tag name="KSO_WM_UNIT_HIGHLIGHT" val="0"/>
  <p:tag name="KSO_WM_UNIT_DIAGRAM_ISNUMVISUAL" val="0"/>
  <p:tag name="KSO_WM_UNIT_DIAGRAM_ISREFERUNIT" val="0"/>
  <p:tag name="KSO_WM_UNIT_TYPE" val="d"/>
  <p:tag name="KSO_WM_UNIT_INDEX" val="1"/>
  <p:tag name="KSO_WM_UNIT_ID" val="diagram20211919_1*d*1"/>
  <p:tag name="KSO_WM_TEMPLATE_CATEGORY" val="diagram"/>
  <p:tag name="KSO_WM_TEMPLATE_INDEX" val="20211919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4039ffacf8a04f7a9fe95474914dc708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b46a5ded9f054d938f178f453e75bfee"/>
  <p:tag name="KSO_WM_UNIT_PLACING_PICTURE" val="b46a5ded9f054d938f178f453e75bfee"/>
  <p:tag name="KSO_WM_UNIT_SUPPORT_UNIT_TYPE" val="[&quot;d&quot;,&quot;α&quot;,&quot;β&quot;]"/>
  <p:tag name="KSO_WM_TEMPLATE_ASSEMBLE_XID" val="60656f194054ed1e2fb8037c"/>
  <p:tag name="KSO_WM_TEMPLATE_ASSEMBLE_GROUPID" val="60656f194054ed1e2fb8037c"/>
  <p:tag name="KSO_WM_UNIT_PLACING_PICTURE_USER_VIEWPORT" val="{&quot;height&quot;:2748.151181102362,&quot;width&quot;:5031.615748031496}"/>
  <p:tag name="KSO_WM_UNIT_PLACING_PICTURE_INFO" val="{&quot;code&quot;:&quot;&quot;,&quot;full_picture&quot;:false,&quot;margin&quot;:{&quot;left&quot;:16.589721861882026,&quot;right&quot;:16.83245364431673},&quot;scheme&quot;:&quot;2-0&quot;,&quot;spacing&quot;:5}"/>
  <p:tag name="KSO_WM_UNIT_PLACING_PICTURE_USER_VIEWPORT_SMARTMENU" val="{&quot;height&quot;:2748.150808619432,&quot;width&quot;:5031.616304329149}"/>
  <p:tag name="KSO_WM_UNIT_PLACING_PICTURE_USER_RELATIVERECTANGLE_SMARTMENU" val="{&quot;bottom&quot;:0.012342370579141566,&quot;left&quot;:0,&quot;right&quot;:0,&quot;top&quot;:0.012342370579141566}"/>
</p:tagLst>
</file>

<file path=ppt/tags/tag1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67_3*l_h_i*1_1_1"/>
  <p:tag name="KSO_WM_TEMPLATE_CATEGORY" val="diagram"/>
  <p:tag name="KSO_WM_TEMPLATE_INDEX" val="20231967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474.0255118110237,&quot;left&quot;:15.744287109375,&quot;top&quot;:73.64566929133858,&quot;width&quot;:748.692169583538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]}"/>
  <p:tag name="KSO_WM_UNIT_PLACING_PICTURE_USER_VIEWPORT" val="{&quot;height&quot;:875.8820801965509,&quot;width&quot;:875.8820801965524}"/>
</p:tagLst>
</file>

<file path=ppt/tags/tag20.xml><?xml version="1.0" encoding="utf-8"?>
<p:tagLst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0000"/>
  <p:tag name="OP_SCP_COMPONENT_INFO" val="{&quot;title&quot;:&quot;蓝白色环形3项总分总结PPT组件&quot;,&quot;description&quot;:&quot;蓝白色环形3项总分总结PPT组件&quot;,&quot;keywords&quot;:[&quot;蓝色&quot;,&quot;白色&quot;,&quot;环形&quot;,&quot;3项&quot;,&quot;总分&quot;,&quot;总结&quot;,&quot;PPT组件&quot;],&quot;labels&quot;:[]}"/>
  <p:tag name="OP_SCP_GROUP_ID" val="bd8919d8-8d42-7ebd-7984-07bfa7a2e4c0"/>
  <p:tag name="OP_SCP_ITEM_COUNT" val="3"/>
</p:tagLst>
</file>

<file path=ppt/tags/tag21.xml><?xml version="1.0" encoding="utf-8"?>
<p:tagLst xmlns:p="http://schemas.openxmlformats.org/presentationml/2006/main">
  <p:tag name="OP_SCP_SHAPE_TYPE" val="Index"/>
  <p:tag name="OP_SCP_ITEM_INDEX" val="0"/>
  <p:tag name="OP_SCP_DEFAULT_TEXT" val="03"/>
</p:tagLst>
</file>

<file path=ppt/tags/tag22.xml><?xml version="1.0" encoding="utf-8"?>
<p:tagLst xmlns:p="http://schemas.openxmlformats.org/presentationml/2006/main">
  <p:tag name="OP_SCP_SHAPE_TYPE" val="Title"/>
  <p:tag name="OP_SCP_ITEM_INDEX" val="1"/>
  <p:tag name="OP_SCP_DEFAULT_TEXT" val="添加标题"/>
</p:tagLst>
</file>

<file path=ppt/tags/tag23.xml><?xml version="1.0" encoding="utf-8"?>
<p:tagLst xmlns:p="http://schemas.openxmlformats.org/presentationml/2006/main">
  <p:tag name="OP_SCP_SHAPE_TYPE" val="Body"/>
  <p:tag name="OP_SCP_ITEM_INDEX" val="1"/>
  <p:tag name="OP_SCP_DEFAULT_TEXT" val="单击此处添加文本"/>
</p:tagLst>
</file>

<file path=ppt/tags/tag24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25.xml><?xml version="1.0" encoding="utf-8"?>
<p:tagLst xmlns:p="http://schemas.openxmlformats.org/presentationml/2006/main">
  <p:tag name="OP_SCP_SHAPE_TYPE" val="Body"/>
  <p:tag name="OP_SCP_ITEM_INDEX" val="2"/>
  <p:tag name="OP_SCP_DEFAULT_TEXT" val="单击此处添加文本"/>
</p:tagLst>
</file>

<file path=ppt/tags/tag26.xml><?xml version="1.0" encoding="utf-8"?>
<p:tagLst xmlns:p="http://schemas.openxmlformats.org/presentationml/2006/main">
  <p:tag name="OP_SCP_SHAPE_TYPE" val="Title"/>
  <p:tag name="OP_SCP_ITEM_INDEX" val="3"/>
  <p:tag name="OP_SCP_DEFAULT_TEXT" val="添加标题"/>
</p:tagLst>
</file>

<file path=ppt/tags/tag27.xml><?xml version="1.0" encoding="utf-8"?>
<p:tagLst xmlns:p="http://schemas.openxmlformats.org/presentationml/2006/main">
  <p:tag name="OP_SCP_SHAPE_TYPE" val="Body"/>
  <p:tag name="OP_SCP_ITEM_INDEX" val="3"/>
  <p:tag name="OP_SCP_DEFAULT_TEXT" val="单击此处添加文本"/>
</p:tagLst>
</file>

<file path=ppt/tags/tag28.xml><?xml version="1.0" encoding="utf-8"?>
<p:tagLst xmlns:p="http://schemas.openxmlformats.org/presentationml/2006/main">
  <p:tag name="TYPE" val="icon"/>
</p:tagLst>
</file>

<file path=ppt/tags/tag29.xml><?xml version="1.0" encoding="utf-8"?>
<p:tagLst xmlns:p="http://schemas.openxmlformats.org/presentationml/2006/main">
  <p:tag name="TYPE" val="icon"/>
</p:tagLst>
</file>

<file path=ppt/tags/tag30.xml><?xml version="1.0" encoding="utf-8"?>
<p:tagLst xmlns:p="http://schemas.openxmlformats.org/presentationml/2006/main">
  <p:tag name="TYPE" val="icon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veerpa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1215</Words>
  <Application>WPS 演示</Application>
  <PresentationFormat>宽屏</PresentationFormat>
  <Paragraphs>79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5" baseType="lpstr">
      <vt:lpstr>Arial</vt:lpstr>
      <vt:lpstr>宋体</vt:lpstr>
      <vt:lpstr>Wingdings</vt:lpstr>
      <vt:lpstr>Arial Unicode MS</vt:lpstr>
      <vt:lpstr>Calibri</vt:lpstr>
      <vt:lpstr>微软雅黑</vt:lpstr>
      <vt:lpstr>Arial</vt:lpstr>
      <vt:lpstr>等线</vt:lpstr>
      <vt:lpstr>ui-sans-serif</vt:lpstr>
      <vt:lpstr>ui-sans-serif</vt:lpstr>
      <vt:lpstr>WPS</vt:lpstr>
      <vt:lpstr>3_Office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李锦瑶</dc:creator>
  <cp:lastModifiedBy>就这样</cp:lastModifiedBy>
  <cp:revision>6</cp:revision>
  <dcterms:created xsi:type="dcterms:W3CDTF">2023-08-09T12:44:00Z</dcterms:created>
  <dcterms:modified xsi:type="dcterms:W3CDTF">2026-07-25T12:02:22Z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BD44D4031F1F456B8D955E7223C8E619_12</vt:lpwstr>
  </property>
</Properties>
</file>