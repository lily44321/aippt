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09"/>
            <a:ext cx="12192000" cy="685669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4000" y="2349000"/>
            <a:ext cx="9144000" cy="756513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658" y="4466038"/>
            <a:ext cx="4310342" cy="47496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t="20128" b="20471"/>
          <a:stretch>
            <a:fillRect/>
          </a:stretch>
        </p:blipFill>
        <p:spPr>
          <a:xfrm>
            <a:off x="10488000" y="261000"/>
            <a:ext cx="1573675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000" y="600713"/>
            <a:ext cx="11520000" cy="543875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5036" y="1413000"/>
            <a:ext cx="11540964" cy="51840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0D4F-7AC1-496A-BD1C-0546BD489CF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www.credly.com/badges/ba02efeb-15ab-43db-99f5-176d134be388" TargetMode="External"/><Relationship Id="rId3" Type="http://schemas.openxmlformats.org/officeDocument/2006/relationships/hyperlink" Target="https://www.credly.com/organizations/nvidia/directory" TargetMode="External"/><Relationship Id="rId2" Type="http://schemas.openxmlformats.org/officeDocument/2006/relationships/hyperlink" Target="https://www.nvidia.cn/training/certification/" TargetMode="External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learn.nvidia.com/certificates?id=x__C-1JlSWe4r5NC5fXkVg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000" y="693000"/>
            <a:ext cx="11520000" cy="236287"/>
          </a:xfrm>
        </p:spPr>
        <p:txBody>
          <a:bodyPr>
            <a:noAutofit/>
          </a:bodyPr>
          <a:lstStyle/>
          <a:p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全球领先的具身智能底层技术及产品方案提供商</a:t>
            </a:r>
            <a:r>
              <a:rPr lang="en-US" altLang="zh-CN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——NVIDIA </a:t>
            </a:r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英伟达</a:t>
            </a:r>
            <a:endParaRPr lang="zh-CN" altLang="en-US" sz="2400" b="1" dirty="0">
              <a:solidFill>
                <a:srgbClr val="00285A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408476" y="1125000"/>
            <a:ext cx="9375048" cy="5373000"/>
          </a:xfrm>
          <a:prstGeom prst="roundRect">
            <a:avLst>
              <a:gd name="adj" fmla="val 355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5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000" y="564034"/>
            <a:ext cx="11520000" cy="54387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285A"/>
                </a:solidFill>
                <a:cs typeface="+mn-cs"/>
                <a:sym typeface="+mn-lt"/>
              </a:rPr>
              <a:t>更多课程及实验案例资源</a:t>
            </a:r>
            <a:r>
              <a:rPr lang="en-US" altLang="zh-CN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——NVIDIA DLI</a:t>
            </a:r>
            <a:r>
              <a:rPr lang="zh-CN" altLang="en-US" sz="2400" dirty="0">
                <a:solidFill>
                  <a:srgbClr val="00285A"/>
                </a:solidFill>
                <a:cs typeface="+mn-cs"/>
                <a:sym typeface="+mn-lt"/>
              </a:rPr>
              <a:t>平台及其实战课程资源</a:t>
            </a:r>
            <a:endParaRPr lang="zh-CN" altLang="en-US" dirty="0"/>
          </a:p>
        </p:txBody>
      </p:sp>
      <p:sp>
        <p:nvSpPr>
          <p:cNvPr id="28" name="Content Placeholder 3"/>
          <p:cNvSpPr>
            <a:spLocks noGrp="1"/>
          </p:cNvSpPr>
          <p:nvPr/>
        </p:nvSpPr>
        <p:spPr>
          <a:xfrm>
            <a:off x="143955" y="2979745"/>
            <a:ext cx="2701296" cy="11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0" marR="0" lvl="0" indent="-762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1600" b="0" i="0" u="none" strike="noStrike" cap="none">
                <a:solidFill>
                  <a:schemeClr val="dk2"/>
                </a:solidFill>
                <a:latin typeface="Noto Sans SC" panose="020B0200000000000000" charset="-122"/>
                <a:ea typeface="Noto Sans SC" panose="020B0200000000000000" charset="-122"/>
                <a:cs typeface="NVIDIA Sans"/>
                <a:sym typeface="NVIDIA Sans"/>
              </a:defRPr>
            </a:lvl1pPr>
            <a:lvl2pPr marL="304800" marR="0" lvl="1" indent="-762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1465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457200" marR="0" lvl="2" indent="-762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1465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609600" marR="0" lvl="3" indent="-762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1465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762000" marR="0" lvl="4" indent="-762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1465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914400" marR="0" lvl="5" indent="-190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1066800" marR="0" lvl="6" indent="-190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1219200" marR="0" lvl="7" indent="-190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1371600" marR="0" lvl="8" indent="-190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pPr marL="0" defTabSz="914400">
              <a:lnSpc>
                <a:spcPct val="100000"/>
              </a:lnSpc>
              <a:spcBef>
                <a:spcPts val="400"/>
              </a:spcBef>
              <a:buSzTx/>
            </a:pPr>
            <a:r>
              <a:rPr lang="zh-CN" altLang="en-US" sz="1465" kern="1200" dirty="0">
                <a:solidFill>
                  <a:schemeClr val="tx1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学习基于 NVIDIA </a:t>
            </a:r>
            <a:endParaRPr lang="zh-CN" altLang="en-US" sz="1465" kern="1200" dirty="0">
              <a:solidFill>
                <a:schemeClr val="tx1"/>
              </a:solidFill>
              <a:latin typeface="NVIDIA Sans" panose="020B0503020203020204" charset="0"/>
              <a:ea typeface="+mn-ea"/>
              <a:cs typeface="NVIDIA Sans" panose="020B0503020203020204" charset="0"/>
            </a:endParaRPr>
          </a:p>
          <a:p>
            <a:pPr marL="0" defTabSz="914400">
              <a:lnSpc>
                <a:spcPct val="100000"/>
              </a:lnSpc>
              <a:spcBef>
                <a:spcPts val="400"/>
              </a:spcBef>
              <a:buSzTx/>
            </a:pPr>
            <a:r>
              <a:rPr lang="zh-CN" altLang="en-US" sz="1465" kern="1200" dirty="0">
                <a:solidFill>
                  <a:schemeClr val="tx1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与行业专家经验的</a:t>
            </a:r>
            <a:endParaRPr lang="zh-CN" altLang="en-US" sz="1465" kern="1200" dirty="0">
              <a:solidFill>
                <a:schemeClr val="tx1"/>
              </a:solidFill>
              <a:latin typeface="NVIDIA Sans" panose="020B0503020203020204" charset="0"/>
              <a:ea typeface="+mn-ea"/>
              <a:cs typeface="NVIDIA Sans" panose="020B0503020203020204" charset="0"/>
            </a:endParaRPr>
          </a:p>
          <a:p>
            <a:pPr marL="0" defTabSz="914400">
              <a:lnSpc>
                <a:spcPct val="100000"/>
              </a:lnSpc>
              <a:spcBef>
                <a:spcPts val="400"/>
              </a:spcBef>
              <a:buSzTx/>
            </a:pPr>
            <a:r>
              <a:rPr lang="zh-CN" altLang="en-US" sz="1465" b="1" kern="1200" dirty="0">
                <a:solidFill>
                  <a:schemeClr val="tx1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专业系统化培训</a:t>
            </a:r>
            <a:endParaRPr lang="zh-CN" altLang="en-US" sz="1465" b="1" kern="1200" dirty="0">
              <a:solidFill>
                <a:schemeClr val="tx1"/>
              </a:solidFill>
              <a:latin typeface="NVIDIA Sans" panose="020B0503020203020204" charset="0"/>
              <a:ea typeface="+mn-ea"/>
              <a:cs typeface="NVIDIA Sans" panose="020B0503020203020204" charset="0"/>
            </a:endParaRPr>
          </a:p>
          <a:p>
            <a:pPr marL="0" defTabSz="914400">
              <a:lnSpc>
                <a:spcPct val="100000"/>
              </a:lnSpc>
              <a:spcBef>
                <a:spcPts val="400"/>
              </a:spcBef>
              <a:buSzTx/>
            </a:pPr>
            <a:r>
              <a:rPr lang="zh-CN" altLang="en-US" sz="1465" b="1" kern="1200" dirty="0">
                <a:solidFill>
                  <a:schemeClr val="tx1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掌握端到端开发技能</a:t>
            </a:r>
            <a:endParaRPr lang="zh-CN" altLang="en-US" sz="1465" b="1" kern="1200" dirty="0">
              <a:solidFill>
                <a:schemeClr val="tx1"/>
              </a:solidFill>
              <a:latin typeface="NVIDIA Sans" panose="020B0503020203020204" charset="0"/>
              <a:ea typeface="+mn-ea"/>
              <a:cs typeface="NVIDIA Sans" panose="020B0503020203020204" charset="0"/>
            </a:endParaRPr>
          </a:p>
        </p:txBody>
      </p:sp>
      <p:pic>
        <p:nvPicPr>
          <p:cNvPr id="29" name="Google Shape;477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840669" y="1727860"/>
            <a:ext cx="1152378" cy="105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479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980585" y="1759070"/>
            <a:ext cx="1121429" cy="980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482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4507" y="1727860"/>
            <a:ext cx="1152378" cy="1152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476;p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073851" y="1771402"/>
            <a:ext cx="1039858" cy="103985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Content Placeholder 3"/>
          <p:cNvSpPr txBox="1"/>
          <p:nvPr/>
        </p:nvSpPr>
        <p:spPr>
          <a:xfrm>
            <a:off x="2243132" y="2979745"/>
            <a:ext cx="2701296" cy="1152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掌握</a:t>
            </a: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行业真实</a:t>
            </a:r>
            <a:endParaRPr kumimoji="0" lang="en-US" altLang="zh-CN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案例与最佳实践</a:t>
            </a:r>
            <a:endParaRPr kumimoji="0" lang="zh-CN" altLang="en-US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获得可复用、可落地的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开发方法</a:t>
            </a:r>
            <a:endParaRPr kumimoji="0" lang="en-US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34" name="Content Placeholder 3"/>
          <p:cNvSpPr txBox="1"/>
          <p:nvPr/>
        </p:nvSpPr>
        <p:spPr>
          <a:xfrm>
            <a:off x="6190651" y="2969080"/>
            <a:ext cx="2701296" cy="1152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学用行业标准的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软件、工具与框架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提升标准化</a:t>
            </a:r>
            <a:endParaRPr kumimoji="0" lang="en-US" altLang="zh-CN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与通用适配能力</a:t>
            </a:r>
            <a:endParaRPr kumimoji="0" lang="en-US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35" name="Content Placeholder 3"/>
          <p:cNvSpPr txBox="1"/>
          <p:nvPr/>
        </p:nvSpPr>
        <p:spPr>
          <a:xfrm>
            <a:off x="8066210" y="2979745"/>
            <a:ext cx="2701296" cy="1152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获得 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en-US" altLang="zh-CN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NVIDIA </a:t>
            </a: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培训</a:t>
            </a:r>
            <a:endParaRPr kumimoji="0" lang="en-US" altLang="zh-CN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课程证书</a:t>
            </a:r>
            <a:endParaRPr kumimoji="0" lang="zh-CN" altLang="en-US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展示专业技能</a:t>
            </a: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36" name="Content Placeholder 3"/>
          <p:cNvSpPr txBox="1"/>
          <p:nvPr/>
        </p:nvSpPr>
        <p:spPr>
          <a:xfrm>
            <a:off x="9823902" y="2979745"/>
            <a:ext cx="2701296" cy="1152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考取 </a:t>
            </a:r>
            <a:endParaRPr kumimoji="0" lang="zh-CN" altLang="en-US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en-US" altLang="zh-CN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NVIDIA </a:t>
            </a: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认证</a:t>
            </a:r>
            <a:endParaRPr kumimoji="0" lang="zh-CN" altLang="en-US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提升技术实力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与职业竞争力</a:t>
            </a: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pic>
        <p:nvPicPr>
          <p:cNvPr id="37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45" y="4502714"/>
            <a:ext cx="11825760" cy="1950286"/>
          </a:xfrm>
          <a:prstGeom prst="rect">
            <a:avLst/>
          </a:prstGeom>
        </p:spPr>
      </p:pic>
      <p:sp>
        <p:nvSpPr>
          <p:cNvPr id="38" name="TextBox 19"/>
          <p:cNvSpPr txBox="1"/>
          <p:nvPr/>
        </p:nvSpPr>
        <p:spPr>
          <a:xfrm>
            <a:off x="412621" y="6071425"/>
            <a:ext cx="914400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生成式 </a:t>
            </a:r>
            <a:r>
              <a:rPr kumimoji="0" 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AI</a:t>
            </a:r>
            <a:endParaRPr kumimoji="0" 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&amp; </a:t>
            </a: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大语言模型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39" name="TextBox 20"/>
          <p:cNvSpPr txBox="1"/>
          <p:nvPr/>
        </p:nvSpPr>
        <p:spPr>
          <a:xfrm>
            <a:off x="1867678" y="6143239"/>
            <a:ext cx="91440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机器人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0" name="TextBox 21"/>
          <p:cNvSpPr txBox="1"/>
          <p:nvPr/>
        </p:nvSpPr>
        <p:spPr>
          <a:xfrm>
            <a:off x="3453363" y="6071425"/>
            <a:ext cx="914400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加速计算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开发工具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1" name="TextBox 22"/>
          <p:cNvSpPr txBox="1"/>
          <p:nvPr/>
        </p:nvSpPr>
        <p:spPr>
          <a:xfrm>
            <a:off x="4883021" y="6143239"/>
            <a:ext cx="91440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3D </a:t>
            </a: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设计协同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2" name="TextBox 23"/>
          <p:cNvSpPr txBox="1"/>
          <p:nvPr/>
        </p:nvSpPr>
        <p:spPr>
          <a:xfrm>
            <a:off x="6421230" y="6071425"/>
            <a:ext cx="914400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仿真 </a:t>
            </a:r>
            <a:r>
              <a:rPr kumimoji="0" lang="en-US" altLang="zh-CN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&amp;</a:t>
            </a:r>
            <a:endParaRPr kumimoji="0" lang="en-US" altLang="zh-CN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数字孪生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3" name="TextBox 24"/>
          <p:cNvSpPr txBox="1"/>
          <p:nvPr/>
        </p:nvSpPr>
        <p:spPr>
          <a:xfrm>
            <a:off x="7850888" y="6143239"/>
            <a:ext cx="91440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数据科学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4" name="TextBox 25"/>
          <p:cNvSpPr txBox="1"/>
          <p:nvPr/>
        </p:nvSpPr>
        <p:spPr>
          <a:xfrm>
            <a:off x="9379436" y="6143239"/>
            <a:ext cx="91440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加速计算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5" name="TextBox 26"/>
          <p:cNvSpPr txBox="1"/>
          <p:nvPr/>
        </p:nvSpPr>
        <p:spPr>
          <a:xfrm>
            <a:off x="10818755" y="6143239"/>
            <a:ext cx="91440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US" altLang="zh-CN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AI </a:t>
            </a:r>
            <a:r>
              <a:rPr kumimoji="0" lang="zh-CN" altLang="en-US" sz="93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智能体</a:t>
            </a:r>
            <a:endParaRPr kumimoji="0" lang="zh-CN" altLang="en-US" sz="93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46" name="Content Placeholder 3"/>
          <p:cNvSpPr txBox="1"/>
          <p:nvPr/>
        </p:nvSpPr>
        <p:spPr>
          <a:xfrm>
            <a:off x="4336405" y="2988019"/>
            <a:ext cx="2701296" cy="1152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使用零部署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即开即用的</a:t>
            </a:r>
            <a:endParaRPr kumimoji="0" lang="en-US" altLang="zh-CN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云端 </a:t>
            </a:r>
            <a:r>
              <a:rPr kumimoji="0" lang="en-US" altLang="zh-CN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GPU </a:t>
            </a:r>
            <a:r>
              <a: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实验环境</a:t>
            </a:r>
            <a:endParaRPr kumimoji="0" lang="en-US" altLang="zh-CN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DCDCD"/>
              </a:buClr>
              <a:buSzTx/>
              <a:buFont typeface="NVIDIA Sans" panose="020B0503020203020204" charset="0"/>
              <a:buNone/>
              <a:defRPr/>
            </a:pPr>
            <a:r>
              <a:rPr kumimoji="0" lang="zh-CN" altLang="en-US" sz="14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高效提升实战经验</a:t>
            </a: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pic>
        <p:nvPicPr>
          <p:cNvPr id="47" name="图片 46" descr="图标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785" y="1808551"/>
            <a:ext cx="859411" cy="857294"/>
          </a:xfrm>
          <a:prstGeom prst="rect">
            <a:avLst/>
          </a:prstGeom>
        </p:spPr>
      </p:pic>
      <p:pic>
        <p:nvPicPr>
          <p:cNvPr id="48" name="图片 47" descr="文字图案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526" y="1772201"/>
            <a:ext cx="902428" cy="893140"/>
          </a:xfrm>
          <a:prstGeom prst="rect">
            <a:avLst/>
          </a:prstGeom>
        </p:spPr>
      </p:pic>
      <p:sp>
        <p:nvSpPr>
          <p:cNvPr id="49" name="Google Shape;459;p46"/>
          <p:cNvSpPr txBox="1">
            <a:spLocks noGrp="1"/>
          </p:cNvSpPr>
          <p:nvPr/>
        </p:nvSpPr>
        <p:spPr>
          <a:xfrm>
            <a:off x="848623" y="1269000"/>
            <a:ext cx="10515600" cy="255767"/>
          </a:xfrm>
          <a:prstGeom prst="rect">
            <a:avLst/>
          </a:prstGeom>
          <a:noFill/>
          <a:ln>
            <a:noFill/>
          </a:ln>
        </p:spPr>
        <p:txBody>
          <a:bodyPr wrap="square" lIns="30475" tIns="15233" rIns="30475" bIns="15233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76200" algn="ctr" defTabSz="304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4800"/>
              <a:buFont typeface="NVIDIA Sans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VIDIA Sans"/>
                <a:sym typeface="NVIDIA Sans"/>
              </a:rPr>
              <a:t>NVIDIA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VIDIA Sans"/>
                <a:sym typeface="NVIDIA Sans"/>
              </a:rPr>
              <a:t>深度学习培训中心</a:t>
            </a:r>
            <a:r>
              <a:rPr lang="en-US" altLang="zh-CN" b="1" kern="0" dirty="0">
                <a:solidFill>
                  <a:srgbClr val="76B900"/>
                </a:solidFill>
                <a:latin typeface="Noto Sans SC" panose="020B0200000000000000" charset="-122"/>
                <a:ea typeface="Noto Sans SC" panose="020B0200000000000000" charset="-122"/>
                <a:cs typeface="NVIDIA Sans"/>
                <a:sym typeface="NVIDIA Sans"/>
              </a:rPr>
              <a:t>——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VIDIA Sans"/>
                <a:sym typeface="NVIDIA Sans"/>
              </a:rPr>
              <a:t>赋能新一代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VIDIA Sans"/>
                <a:sym typeface="NVIDIA Sans"/>
              </a:rPr>
              <a:t> AI 创新者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000" y="564034"/>
            <a:ext cx="11520000" cy="54387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285A"/>
                </a:solidFill>
                <a:cs typeface="+mn-cs"/>
                <a:sym typeface="+mn-lt"/>
              </a:rPr>
              <a:t>更多课程及实验案例资源</a:t>
            </a:r>
            <a:r>
              <a:rPr lang="en-US" altLang="zh-CN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——NVIDIA DLI</a:t>
            </a:r>
            <a:r>
              <a:rPr lang="zh-CN" altLang="en-US" sz="2400" dirty="0">
                <a:solidFill>
                  <a:srgbClr val="00285A"/>
                </a:solidFill>
                <a:cs typeface="+mn-cs"/>
                <a:sym typeface="+mn-lt"/>
              </a:rPr>
              <a:t>平台及其实战课程资源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52733" y="2853000"/>
          <a:ext cx="10599267" cy="3667456"/>
        </p:xfrm>
        <a:graphic>
          <a:graphicData uri="http://schemas.openxmlformats.org/drawingml/2006/table">
            <a:tbl>
              <a:tblPr/>
              <a:tblGrid>
                <a:gridCol w="2828546"/>
                <a:gridCol w="1392845"/>
                <a:gridCol w="557138"/>
                <a:gridCol w="557138"/>
                <a:gridCol w="557138"/>
                <a:gridCol w="4706462"/>
              </a:tblGrid>
              <a:tr h="2821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课程名称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课程类别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语言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时长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价格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核心内容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中模拟你的第一个机器人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仿真基础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入门，构建简单机器人，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ROS 2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集成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中导入机器人资产并模拟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仿真基础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URDF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模型导入，配置控制接口与传感器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中生成合成数据（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SDG）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+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数据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合成数据生成，领域随机化，感知模型训练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中使用软件在环（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SIL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）开发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+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开发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SIL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概念，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ROS 2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集成，机器人开发流程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中利用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ROS 2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和硬件在环（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HIL）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+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部署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HIL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技术，仿真到现实部署，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ROS 2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集成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机器人学习与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Lab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简介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机器人学习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2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机器人学习基础，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Lab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功能介绍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Lab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中训练第一个机器人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机器人学习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强化学习基础，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Cartpole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训练，策略评估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在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Lab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中训练第二个机器人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机器人学习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2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工业机器人任务训练，奖励函数设计优化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基于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ROS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的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AI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机器人开发入门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+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ROS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ROS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基础，感知与控制开发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使用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NVIDIA Isaac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加速机器人开发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仿真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+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开发（讲师指导）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8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付费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OpenUSD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资产构建，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ROS 2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集成，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SIL/HIL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，合成数据，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Lab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训练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自主机器人入门指南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机器人基础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中文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2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免费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自主机器人系统，传感、感知、导航等核心组件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2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医疗机器人从零开始训练（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for Healthcare）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行业应用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英文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4 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学时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付费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医疗机器人构建、训练与部署，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Isaac Sim 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应用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313" marR="5313" marT="5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752733" y="1107908"/>
            <a:ext cx="6508640" cy="1601091"/>
          </a:xfrm>
        </p:spPr>
        <p:txBody>
          <a:bodyPr>
            <a:no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400"/>
              </a:spcBef>
              <a:buSzTx/>
              <a:buNone/>
            </a:pPr>
            <a:r>
              <a:rPr lang="en-US" altLang="zh-CN" sz="1600" b="1" kern="1200" dirty="0">
                <a:solidFill>
                  <a:schemeClr val="accent6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NVIDIA </a:t>
            </a:r>
            <a:r>
              <a:rPr lang="zh-CN" altLang="en-US" sz="1600" b="1" kern="1200" dirty="0">
                <a:solidFill>
                  <a:schemeClr val="accent6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深度学习培训中心</a:t>
            </a:r>
            <a:r>
              <a:rPr lang="en-US" altLang="zh-CN" sz="1600" b="1" kern="1200" dirty="0">
                <a:solidFill>
                  <a:schemeClr val="accent6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 (DLI)</a:t>
            </a:r>
            <a:r>
              <a:rPr lang="zh-CN" altLang="en-US" sz="1600" kern="1200" dirty="0">
                <a:solidFill>
                  <a:schemeClr val="accent6"/>
                </a:solidFill>
                <a:latin typeface="NVIDIA Sans" panose="020B0503020203020204" charset="0"/>
                <a:ea typeface="宋体" panose="02010600030101010101" pitchFamily="2" charset="-122"/>
                <a:cs typeface="NVIDIA Sans" panose="020B0503020203020204" charset="0"/>
              </a:rPr>
              <a:t>，</a:t>
            </a:r>
            <a:r>
              <a:rPr lang="zh-CN" altLang="en-US" sz="1200" kern="1200" dirty="0">
                <a:latin typeface="NVIDIA Sans" panose="020B0503020203020204" charset="0"/>
                <a:ea typeface="宋体" panose="02010600030101010101" pitchFamily="2" charset="-122"/>
                <a:cs typeface="NVIDIA Sans" panose="020B0503020203020204" charset="0"/>
              </a:rPr>
              <a:t>是</a:t>
            </a:r>
            <a:r>
              <a:rPr lang="en-US" altLang="zh-CN" sz="1200" kern="1200" dirty="0">
                <a:latin typeface="NVIDIA Sans" panose="020B0503020203020204" charset="0"/>
                <a:ea typeface="宋体" panose="02010600030101010101" pitchFamily="2" charset="-122"/>
                <a:cs typeface="NVIDIA Sans" panose="020B0503020203020204" charset="0"/>
              </a:rPr>
              <a:t> NVIDIA </a:t>
            </a:r>
            <a:r>
              <a:rPr lang="zh-CN" altLang="en-US" sz="1200" kern="1200" dirty="0">
                <a:latin typeface="NVIDIA Sans" panose="020B0503020203020204" charset="0"/>
                <a:ea typeface="宋体" panose="02010600030101010101" pitchFamily="2" charset="-122"/>
                <a:cs typeface="NVIDIA Sans" panose="020B0503020203020204" charset="0"/>
              </a:rPr>
              <a:t>旗下</a:t>
            </a:r>
            <a:r>
              <a:rPr lang="en-US" altLang="zh-CN" sz="1200" kern="1200" dirty="0">
                <a:latin typeface="NVIDIA Sans" panose="020B0503020203020204" charset="0"/>
                <a:ea typeface="宋体" panose="02010600030101010101" pitchFamily="2" charset="-122"/>
                <a:cs typeface="NVIDIA Sans" panose="020B0503020203020204" charset="0"/>
              </a:rPr>
              <a:t>AI</a:t>
            </a:r>
            <a:r>
              <a:rPr lang="zh-CN" altLang="en-US" sz="1200" kern="1200" dirty="0">
                <a:latin typeface="NVIDIA Sans" panose="020B0503020203020204" charset="0"/>
                <a:ea typeface="宋体" panose="02010600030101010101" pitchFamily="2" charset="-122"/>
                <a:cs typeface="NVIDIA Sans" panose="020B0503020203020204" charset="0"/>
              </a:rPr>
              <a:t>培训和认证机构，</a:t>
            </a:r>
            <a:r>
              <a:rPr lang="en-US" altLang="zh-CN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 </a:t>
            </a:r>
            <a:r>
              <a:rPr lang="zh-CN" altLang="en-US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提供生成式</a:t>
            </a:r>
            <a:r>
              <a:rPr lang="en-US" altLang="zh-CN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 AI</a:t>
            </a:r>
            <a:r>
              <a:rPr lang="zh-CN" altLang="en-US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、深度学习、加速计算、</a:t>
            </a:r>
            <a:r>
              <a:rPr lang="zh-CN" altLang="en-US" sz="1400" b="1" kern="1200" dirty="0">
                <a:solidFill>
                  <a:schemeClr val="accent6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图形和仿真，机器人开发</a:t>
            </a:r>
            <a:r>
              <a:rPr lang="zh-CN" altLang="en-US" sz="1200" b="1" kern="1200" dirty="0">
                <a:solidFill>
                  <a:schemeClr val="accent6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，</a:t>
            </a:r>
            <a:r>
              <a:rPr lang="zh-CN" altLang="en-US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以及数据科学等前沿技术领域的应用开发实战培训。使用完全配置的云端实验环境，开发者、数据科学家、研究人员、院校师生和高科技领域的专业人士</a:t>
            </a:r>
            <a:r>
              <a:rPr lang="zh-CN" altLang="en-US" sz="1400" b="1" kern="1200" dirty="0">
                <a:solidFill>
                  <a:schemeClr val="accent6"/>
                </a:solidFill>
                <a:latin typeface="NVIDIA Sans" panose="020B0503020203020204" charset="0"/>
                <a:ea typeface="+mn-ea"/>
                <a:cs typeface="NVIDIA Sans" panose="020B0503020203020204" charset="0"/>
              </a:rPr>
              <a:t>可以快速获取端到端的应用开发经验，提升专业技能</a:t>
            </a:r>
            <a:r>
              <a:rPr lang="zh-CN" altLang="en-US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，获得</a:t>
            </a:r>
            <a:r>
              <a:rPr lang="en-US" altLang="zh-CN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 NVIDIA </a:t>
            </a:r>
            <a:r>
              <a:rPr lang="zh-CN" altLang="en-US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全球开发者培训证书，并可以进一步考取</a:t>
            </a:r>
            <a:r>
              <a:rPr lang="en-US" altLang="zh-CN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 NVIDIA </a:t>
            </a:r>
            <a:r>
              <a:rPr lang="zh-CN" altLang="en-US" sz="1200" kern="1200" dirty="0">
                <a:latin typeface="NVIDIA Sans" panose="020B0503020203020204" charset="0"/>
                <a:ea typeface="+mn-ea"/>
                <a:cs typeface="NVIDIA Sans" panose="020B0503020203020204" charset="0"/>
              </a:rPr>
              <a:t>认证，展示技能，推动职业生涯发展。</a:t>
            </a:r>
            <a:endParaRPr lang="zh-CN" altLang="en-US" sz="1200" kern="1200" dirty="0">
              <a:latin typeface="NVIDIA Sans" panose="020B0503020203020204" charset="0"/>
              <a:ea typeface="+mn-ea"/>
              <a:cs typeface="NVIDIA Sans" panose="020B0503020203020204" charset="0"/>
            </a:endParaRPr>
          </a:p>
        </p:txBody>
      </p:sp>
      <p:pic>
        <p:nvPicPr>
          <p:cNvPr id="7" name="图片 6" descr="NV Partner LOGO"/>
          <p:cNvPicPr>
            <a:picLocks noChangeAspect="1"/>
          </p:cNvPicPr>
          <p:nvPr/>
        </p:nvPicPr>
        <p:blipFill>
          <a:blip r:embed="rId1"/>
          <a:srcRect l="3489" t="7873" r="3633" b="6050"/>
          <a:stretch>
            <a:fillRect/>
          </a:stretch>
        </p:blipFill>
        <p:spPr>
          <a:xfrm>
            <a:off x="9680497" y="1341001"/>
            <a:ext cx="1495570" cy="601626"/>
          </a:xfrm>
          <a:prstGeom prst="rect">
            <a:avLst/>
          </a:prstGeom>
        </p:spPr>
      </p:pic>
      <p:pic>
        <p:nvPicPr>
          <p:cNvPr id="8" name="图片 7" descr="图灵LOGO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072" y="1341000"/>
            <a:ext cx="1694603" cy="67225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70195" y="2213147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r>
              <a:rPr lang="zh-CN" altLang="en-US" dirty="0"/>
              <a:t>全国三家之一，华南授权培训中心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000" y="564034"/>
            <a:ext cx="11520000" cy="54387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285A"/>
                </a:solidFill>
                <a:cs typeface="+mn-cs"/>
                <a:sym typeface="+mn-lt"/>
              </a:rPr>
              <a:t>更多课程及实验案例资源</a:t>
            </a:r>
            <a:r>
              <a:rPr lang="en-US" altLang="zh-CN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——NVIDIA DLI</a:t>
            </a:r>
            <a:r>
              <a:rPr lang="zh-CN" altLang="en-US" sz="2400" dirty="0">
                <a:solidFill>
                  <a:srgbClr val="00285A"/>
                </a:solidFill>
                <a:cs typeface="+mn-cs"/>
                <a:sym typeface="+mn-lt"/>
              </a:rPr>
              <a:t>平台及其实战课程资源</a:t>
            </a:r>
            <a:endParaRPr lang="zh-CN" altLang="en-US" dirty="0"/>
          </a:p>
        </p:txBody>
      </p:sp>
      <p:sp>
        <p:nvSpPr>
          <p:cNvPr id="3" name="Content Placeholder 3"/>
          <p:cNvSpPr txBox="1"/>
          <p:nvPr/>
        </p:nvSpPr>
        <p:spPr>
          <a:xfrm>
            <a:off x="467888" y="1485775"/>
            <a:ext cx="4699820" cy="10078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学时课程配有数字证书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通过课程中的测试评估，系统自动生成证书，学员在自己的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DLI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学习平台中可以查看和下载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证书具有唯一网络地址，可验证（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  <a:hlinkClick r:id="rId1"/>
              </a:rPr>
              <a:t>示例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sp>
        <p:nvSpPr>
          <p:cNvPr id="5" name="Content Placeholder 3"/>
          <p:cNvSpPr txBox="1"/>
          <p:nvPr/>
        </p:nvSpPr>
        <p:spPr>
          <a:xfrm>
            <a:off x="5574631" y="1179909"/>
            <a:ext cx="2566219" cy="22692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None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VIDIA Sans"/>
                <a:sym typeface="Arial" panose="020B0604020202020204"/>
              </a:rPr>
              <a:t>NVIDIA 认证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VIDIA Sans"/>
              <a:sym typeface="Arial" panose="020B0604020202020204"/>
            </a:endParaRPr>
          </a:p>
        </p:txBody>
      </p:sp>
      <p:sp>
        <p:nvSpPr>
          <p:cNvPr id="6" name="Content Placeholder 3"/>
          <p:cNvSpPr txBox="1"/>
          <p:nvPr/>
        </p:nvSpPr>
        <p:spPr>
          <a:xfrm>
            <a:off x="5574631" y="1477369"/>
            <a:ext cx="6617369" cy="13168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通过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  <a:hlinkClick r:id="rId2"/>
              </a:rPr>
              <a:t>认证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考试，获得数字证书和电子徽章（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Badge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收录于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  <a:hlinkClick r:id="rId3"/>
              </a:rPr>
              <a:t>NVIDIA Certification Directory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数字证书：具有在线验证唯一链接，可下载打印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152400" marR="0" lvl="0" indent="-152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电子徽章（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Badge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）：发布在全球知名的专业认证企业联合展示平台上，打造丰富且可信的个人技能档案，可一键实时验真，并易于在线分享（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  <a:hlinkClick r:id="rId4"/>
              </a:rPr>
              <a:t>示例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charset="0"/>
                <a:ea typeface="Noto Sans SC" panose="020B0200000000000000" charset="-122"/>
                <a:cs typeface="NVIDIA Sans" panose="020B0503020203020204" charset="0"/>
                <a:sym typeface="Arial" panose="020B0604020202020204"/>
              </a:rPr>
              <a:t>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 panose="020B0503020203020204" charset="0"/>
              <a:ea typeface="Noto Sans SC" panose="020B0200000000000000" charset="-122"/>
              <a:cs typeface="NVIDIA Sans" panose="020B0503020203020204" charset="0"/>
              <a:sym typeface="Arial" panose="020B0604020202020204"/>
            </a:endParaRPr>
          </a:p>
        </p:txBody>
      </p:sp>
      <p:pic>
        <p:nvPicPr>
          <p:cNvPr id="7" name="Google Shape;2107;p18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57038" y="4987565"/>
            <a:ext cx="2930962" cy="146543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2108;p189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751905" y="2928741"/>
            <a:ext cx="2936095" cy="194026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" name="Google Shape;2109;p189"/>
          <p:cNvGrpSpPr/>
          <p:nvPr/>
        </p:nvGrpSpPr>
        <p:grpSpPr>
          <a:xfrm>
            <a:off x="624000" y="2928741"/>
            <a:ext cx="3138319" cy="2427333"/>
            <a:chOff x="515101" y="2301125"/>
            <a:chExt cx="3408799" cy="2636536"/>
          </a:xfrm>
        </p:grpSpPr>
        <p:pic>
          <p:nvPicPr>
            <p:cNvPr id="11" name="Google Shape;2110;p189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515101" y="2301125"/>
              <a:ext cx="3408799" cy="2636536"/>
            </a:xfrm>
            <a:prstGeom prst="rect">
              <a:avLst/>
            </a:prstGeom>
            <a:noFill/>
            <a:ln w="68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" name="Google Shape;2111;p189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843000" y="3200800"/>
              <a:ext cx="1677901" cy="191900"/>
            </a:xfrm>
            <a:prstGeom prst="rect">
              <a:avLst/>
            </a:prstGeom>
            <a:noFill/>
            <a:ln w="6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0" name="Google Shape;2112;p189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897782" y="4732559"/>
            <a:ext cx="941042" cy="172044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" name="Content Placeholder 3"/>
          <p:cNvSpPr txBox="1"/>
          <p:nvPr/>
        </p:nvSpPr>
        <p:spPr>
          <a:xfrm>
            <a:off x="467888" y="1196080"/>
            <a:ext cx="2566219" cy="22692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B900"/>
              </a:buClr>
              <a:buSzTx/>
              <a:buFont typeface="NVIDIA Sans" panose="020B0503020203020204" charset="0"/>
              <a:buNone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VIDIA Sans"/>
                <a:sym typeface="Arial" panose="020B0604020202020204"/>
              </a:rPr>
              <a:t>NVIDIA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NVIDIA Sans"/>
                <a:sym typeface="Arial" panose="020B0604020202020204"/>
              </a:rPr>
              <a:t>培训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NVIDIA Sans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7372" y="1955171"/>
            <a:ext cx="2778674" cy="3034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2" y="2315171"/>
            <a:ext cx="860173" cy="2550941"/>
          </a:xfrm>
          <a:prstGeom prst="rect">
            <a:avLst/>
          </a:prstGeom>
        </p:spPr>
      </p:pic>
      <p:sp>
        <p:nvSpPr>
          <p:cNvPr id="7" name="文本框 21"/>
          <p:cNvSpPr txBox="1"/>
          <p:nvPr/>
        </p:nvSpPr>
        <p:spPr>
          <a:xfrm>
            <a:off x="3673372" y="4862044"/>
            <a:ext cx="182614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擎</a:t>
            </a:r>
            <a:r>
              <a:rPr lang="zh-CN" altLang="en-US" sz="1200" dirty="0">
                <a:solidFill>
                  <a:srgbClr val="00285A"/>
                </a:solidFill>
                <a:latin typeface="等线" panose="02010600030101010101" charset="-122"/>
                <a:ea typeface="等线" panose="02010600030101010101" charset="-122"/>
              </a:rPr>
              <a:t>岿</a:t>
            </a:r>
            <a:r>
              <a:rPr lang="en-US" altLang="zh-CN" sz="1200" dirty="0">
                <a:solidFill>
                  <a:srgbClr val="00285A"/>
                </a:solidFill>
                <a:latin typeface="等线" panose="02010600030101010101" charset="-122"/>
                <a:ea typeface="等线" panose="02010600030101010101" charset="-122"/>
              </a:rPr>
              <a:t>TORA 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DOUBLE ONE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文本框 22"/>
          <p:cNvSpPr txBox="1"/>
          <p:nvPr/>
        </p:nvSpPr>
        <p:spPr>
          <a:xfrm>
            <a:off x="10282096" y="4856601"/>
            <a:ext cx="11849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擎岿远征 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A2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文本框 23"/>
          <p:cNvSpPr txBox="1"/>
          <p:nvPr/>
        </p:nvSpPr>
        <p:spPr>
          <a:xfrm>
            <a:off x="7206903" y="4862044"/>
            <a:ext cx="11464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擎</a:t>
            </a:r>
            <a:r>
              <a:rPr lang="zh-CN" altLang="en-US" sz="1200" dirty="0">
                <a:solidFill>
                  <a:srgbClr val="00285A"/>
                </a:solidFill>
                <a:latin typeface="等线" panose="02010600030101010101" charset="-122"/>
                <a:ea typeface="等线" panose="02010600030101010101" charset="-122"/>
              </a:rPr>
              <a:t>岿 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G1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文本框 24"/>
          <p:cNvSpPr txBox="1"/>
          <p:nvPr/>
        </p:nvSpPr>
        <p:spPr>
          <a:xfrm>
            <a:off x="2017372" y="4845943"/>
            <a:ext cx="1234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擎岿</a:t>
            </a:r>
            <a:r>
              <a:rPr lang="en-US" altLang="zh-CN" sz="14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Bobak-x</a:t>
            </a:r>
            <a:endParaRPr lang="en-US" altLang="zh-CN" sz="14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000" y="2218461"/>
            <a:ext cx="1974043" cy="2747031"/>
          </a:xfrm>
          <a:prstGeom prst="rect">
            <a:avLst/>
          </a:prstGeom>
        </p:spPr>
      </p:pic>
      <p:sp>
        <p:nvSpPr>
          <p:cNvPr id="12" name="文本框 26"/>
          <p:cNvSpPr txBox="1"/>
          <p:nvPr/>
        </p:nvSpPr>
        <p:spPr>
          <a:xfrm>
            <a:off x="8675331" y="4856602"/>
            <a:ext cx="11464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灵犀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X2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372" y="2691818"/>
            <a:ext cx="1562192" cy="2136305"/>
          </a:xfrm>
          <a:prstGeom prst="rect">
            <a:avLst/>
          </a:prstGeom>
        </p:spPr>
      </p:pic>
      <p:pic>
        <p:nvPicPr>
          <p:cNvPr id="14" name="图片 13" descr="卡通人物&#10;&#10;中度可信度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372" y="1763278"/>
            <a:ext cx="1737550" cy="3119611"/>
          </a:xfrm>
          <a:prstGeom prst="rect">
            <a:avLst/>
          </a:prstGeom>
        </p:spPr>
      </p:pic>
      <p:sp>
        <p:nvSpPr>
          <p:cNvPr id="17" name="文本框 7"/>
          <p:cNvSpPr txBox="1"/>
          <p:nvPr/>
        </p:nvSpPr>
        <p:spPr>
          <a:xfrm>
            <a:off x="5905372" y="4875575"/>
            <a:ext cx="11464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擎</a:t>
            </a:r>
            <a:r>
              <a:rPr lang="zh-CN" altLang="en-US" sz="1200" dirty="0">
                <a:solidFill>
                  <a:srgbClr val="00285A"/>
                </a:solidFill>
                <a:latin typeface="等线" panose="02010600030101010101" charset="-122"/>
                <a:ea typeface="等线" panose="02010600030101010101" charset="-122"/>
              </a:rPr>
              <a:t>岿 精灵</a:t>
            </a:r>
            <a:r>
              <a:rPr lang="en-US" altLang="zh-CN" sz="12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G2</a:t>
            </a:r>
            <a:endParaRPr lang="zh-CN" altLang="en-US" sz="12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036" y="1592499"/>
            <a:ext cx="1756964" cy="3348567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00" y="3586841"/>
            <a:ext cx="1517836" cy="1191634"/>
          </a:xfrm>
          <a:prstGeom prst="rect">
            <a:avLst/>
          </a:prstGeom>
        </p:spPr>
      </p:pic>
      <p:sp>
        <p:nvSpPr>
          <p:cNvPr id="25" name="文本框 31"/>
          <p:cNvSpPr txBox="1"/>
          <p:nvPr/>
        </p:nvSpPr>
        <p:spPr>
          <a:xfrm>
            <a:off x="491952" y="4839658"/>
            <a:ext cx="1225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 err="1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TuringStack</a:t>
            </a:r>
            <a:endParaRPr lang="en-US" altLang="zh-CN" sz="1400" b="1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zh-CN" altLang="en-US" sz="14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擎岿</a:t>
            </a:r>
            <a:r>
              <a:rPr lang="en-US" altLang="zh-CN" sz="14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D1-MAX</a:t>
            </a:r>
            <a:endParaRPr lang="en-US" altLang="zh-CN" sz="140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6" name="文本框 32"/>
          <p:cNvSpPr txBox="1"/>
          <p:nvPr/>
        </p:nvSpPr>
        <p:spPr>
          <a:xfrm>
            <a:off x="617182" y="5860515"/>
            <a:ext cx="1097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7298D9"/>
                </a:solidFill>
              </a:rPr>
              <a:t>根据院校自身教学与科研任务的需求，选配不同的机器人（</a:t>
            </a:r>
            <a:r>
              <a:rPr lang="en-US" altLang="zh-CN" b="1" dirty="0">
                <a:solidFill>
                  <a:srgbClr val="7298D9"/>
                </a:solidFill>
              </a:rPr>
              <a:t> </a:t>
            </a:r>
            <a:r>
              <a:rPr lang="en-US" altLang="zh-CN" b="1" dirty="0" err="1">
                <a:solidFill>
                  <a:srgbClr val="7298D9"/>
                </a:solidFill>
              </a:rPr>
              <a:t>SimReady</a:t>
            </a:r>
            <a:r>
              <a:rPr lang="en-US" altLang="zh-CN" b="1" dirty="0">
                <a:solidFill>
                  <a:srgbClr val="7298D9"/>
                </a:solidFill>
              </a:rPr>
              <a:t> </a:t>
            </a:r>
            <a:r>
              <a:rPr lang="zh-CN" altLang="en-US" b="1" dirty="0">
                <a:solidFill>
                  <a:srgbClr val="7298D9"/>
                </a:solidFill>
              </a:rPr>
              <a:t>），支撑教学科研</a:t>
            </a:r>
            <a:r>
              <a:rPr lang="en-US" altLang="zh-CN" b="1" dirty="0">
                <a:solidFill>
                  <a:srgbClr val="7298D9"/>
                </a:solidFill>
              </a:rPr>
              <a:t>+</a:t>
            </a:r>
            <a:r>
              <a:rPr lang="zh-CN" altLang="en-US" b="1" dirty="0">
                <a:solidFill>
                  <a:srgbClr val="7298D9"/>
                </a:solidFill>
              </a:rPr>
              <a:t>场景的应用开发</a:t>
            </a:r>
            <a:endParaRPr lang="zh-CN" altLang="en-US" b="1" dirty="0">
              <a:solidFill>
                <a:srgbClr val="7298D9"/>
              </a:solidFill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350520" y="487567"/>
            <a:ext cx="11506200" cy="89282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800" b="1" i="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lvl="0">
              <a:lnSpc>
                <a:spcPct val="120000"/>
              </a:lnSpc>
              <a:defRPr/>
            </a:pPr>
            <a:r>
              <a:rPr lang="zh-CN" altLang="en-US" sz="2500" dirty="0">
                <a:solidFill>
                  <a:srgbClr val="00285A"/>
                </a:solidFill>
                <a:cs typeface="+mn-cs"/>
              </a:rPr>
              <a:t>图灵智新“</a:t>
            </a:r>
            <a:r>
              <a:rPr lang="zh-CN" altLang="en-US" sz="2500" dirty="0">
                <a:solidFill>
                  <a:srgbClr val="00285A"/>
                </a:solidFill>
              </a:rPr>
              <a:t>擎岿</a:t>
            </a:r>
            <a:r>
              <a:rPr lang="zh-CN" altLang="en-US" sz="2500" dirty="0">
                <a:solidFill>
                  <a:srgbClr val="00285A"/>
                </a:solidFill>
                <a:cs typeface="+mn-cs"/>
              </a:rPr>
              <a:t>”系列具身智能机器人</a:t>
            </a:r>
            <a:r>
              <a:rPr lang="zh-CN" altLang="en-US" sz="1800" dirty="0">
                <a:solidFill>
                  <a:srgbClr val="76B900"/>
                </a:solidFill>
                <a:cs typeface="+mn-cs"/>
              </a:rPr>
              <a:t>（</a:t>
            </a:r>
            <a:r>
              <a:rPr lang="zh-CN" altLang="en-US" sz="1800" dirty="0">
                <a:solidFill>
                  <a:srgbClr val="76B900"/>
                </a:solidFill>
              </a:rPr>
              <a:t>面向长程任务的具身智能体</a:t>
            </a:r>
            <a:r>
              <a:rPr lang="zh-CN" altLang="en-US" sz="1800" dirty="0">
                <a:solidFill>
                  <a:srgbClr val="76B900"/>
                </a:solidFill>
                <a:cs typeface="+mn-cs"/>
              </a:rPr>
              <a:t>）</a:t>
            </a:r>
            <a:endParaRPr lang="en-US" altLang="zh-CN" sz="1800" dirty="0">
              <a:solidFill>
                <a:srgbClr val="76B900"/>
              </a:solidFill>
              <a:cs typeface="+mn-cs"/>
            </a:endParaRPr>
          </a:p>
          <a:p>
            <a:pPr lvl="0">
              <a:lnSpc>
                <a:spcPct val="120000"/>
              </a:lnSpc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——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以确定性调度驱动长程实时决策，让具身智能推理“稳运行、高可靠”，机器人动作精准丝滑！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1917</Words>
  <Application>WPS 演示</Application>
  <PresentationFormat>宽屏</PresentationFormat>
  <Paragraphs>259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等线 Light</vt:lpstr>
      <vt:lpstr>等线</vt:lpstr>
      <vt:lpstr>NVIDIA Sans</vt:lpstr>
      <vt:lpstr>Noto Sans SC</vt:lpstr>
      <vt:lpstr>NVIDIA Sans</vt:lpstr>
      <vt:lpstr>Arial</vt:lpstr>
      <vt:lpstr>Office 主题​​</vt:lpstr>
      <vt:lpstr>全球领先的具身智能底层技术及产品方案提供商——NVIDIA 英伟达</vt:lpstr>
      <vt:lpstr>更多课程及实验案例资源——NVIDIA DLI平台及其实战课程资源</vt:lpstr>
      <vt:lpstr>更多课程及实验案例资源——NVIDIA DLI平台及其实战课程资源</vt:lpstr>
      <vt:lpstr>更多课程及实验案例资源——NVIDIA DLI平台及其实战课程资源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5</cp:revision>
  <dcterms:created xsi:type="dcterms:W3CDTF">2023-08-09T12:44:00Z</dcterms:created>
  <dcterms:modified xsi:type="dcterms:W3CDTF">2026-07-25T11:25:06Z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BDB286219C5148189A719D9A6A2ACA39_12</vt:lpwstr>
  </property>
</Properties>
</file>