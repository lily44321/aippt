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 id="2147483653" r:id="rId4"/>
  </p:sldMasterIdLst>
  <p:notesMasterIdLst>
    <p:notesMasterId r:id="rId7"/>
  </p:notesMasterIdLst>
  <p:sldIdLst>
    <p:sldId id="265" r:id="rId5"/>
    <p:sldId id="263" r:id="rId6"/>
    <p:sldId id="264" r:id="rId8"/>
    <p:sldId id="256" r:id="rId9"/>
    <p:sldId id="257" r:id="rId10"/>
    <p:sldId id="258" r:id="rId11"/>
    <p:sldId id="259" r:id="rId12"/>
    <p:sldId id="260" r:id="rId13"/>
    <p:sldId id="261" r:id="rId14"/>
    <p:sldId id="262"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49650" initials="4" lastIdx="0" clrIdx="0"/>
  <p:cmAuthor id="2" name="tonydong" initials="t"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2015</a:t>
            </a:r>
            <a:r>
              <a:rPr lang="zh-CN" altLang="en-US" dirty="0"/>
              <a:t>年深度学习算法突破</a:t>
            </a:r>
            <a:r>
              <a:rPr lang="en-US" altLang="zh-CN" dirty="0"/>
              <a:t>+</a:t>
            </a:r>
            <a:r>
              <a:rPr lang="zh-CN" altLang="en-US" dirty="0"/>
              <a:t>创业热潮，</a:t>
            </a:r>
            <a:r>
              <a:rPr lang="en-US" altLang="zh-CN" dirty="0"/>
              <a:t>2016</a:t>
            </a:r>
            <a:r>
              <a:rPr lang="zh-CN" altLang="en-US" dirty="0"/>
              <a:t>年</a:t>
            </a:r>
            <a:r>
              <a:rPr lang="en-US" altLang="zh-CN" sz="1200" b="0" i="0" kern="1200" dirty="0">
                <a:solidFill>
                  <a:schemeClr val="tx1"/>
                </a:solidFill>
                <a:effectLst/>
                <a:latin typeface="+mn-lt"/>
                <a:ea typeface="+mn-ea"/>
                <a:cs typeface="+mn-cs"/>
              </a:rPr>
              <a:t>Google AlphaGo </a:t>
            </a:r>
            <a:r>
              <a:rPr lang="zh-CN" altLang="en-US" sz="1200" b="0" i="0" kern="1200" dirty="0">
                <a:solidFill>
                  <a:schemeClr val="tx1"/>
                </a:solidFill>
                <a:effectLst/>
                <a:latin typeface="+mn-lt"/>
                <a:ea typeface="+mn-ea"/>
                <a:cs typeface="+mn-cs"/>
              </a:rPr>
              <a:t>击败围棋世界冠军李世石；</a:t>
            </a:r>
            <a:r>
              <a:rPr lang="en-US" altLang="zh-CN" sz="1200" b="0" i="0" kern="1200" dirty="0">
                <a:solidFill>
                  <a:schemeClr val="tx1"/>
                </a:solidFill>
                <a:effectLst/>
                <a:latin typeface="+mn-lt"/>
                <a:ea typeface="+mn-ea"/>
                <a:cs typeface="+mn-cs"/>
              </a:rPr>
              <a:t>2016</a:t>
            </a:r>
            <a:r>
              <a:rPr lang="zh-CN" altLang="en-US" sz="1200" b="0" i="0" kern="1200" dirty="0">
                <a:solidFill>
                  <a:schemeClr val="tx1"/>
                </a:solidFill>
                <a:effectLst/>
                <a:latin typeface="+mn-lt"/>
                <a:ea typeface="+mn-ea"/>
                <a:cs typeface="+mn-cs"/>
              </a:rPr>
              <a:t>年美国发布</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国家人工智能研究与发展战略计划</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标志 </a:t>
            </a:r>
            <a:r>
              <a:rPr lang="en-US" altLang="zh-CN"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从企业行为上升为国家战略，各国开始抢占技术与产业制高点；</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2017</a:t>
            </a:r>
            <a:r>
              <a:rPr lang="zh-CN" altLang="en-US" sz="1200" b="0" i="0" kern="1200" dirty="0">
                <a:solidFill>
                  <a:schemeClr val="tx1"/>
                </a:solidFill>
                <a:effectLst/>
                <a:latin typeface="+mn-lt"/>
                <a:ea typeface="+mn-ea"/>
                <a:cs typeface="+mn-cs"/>
              </a:rPr>
              <a:t>年 </a:t>
            </a:r>
            <a:r>
              <a:rPr lang="en-US" altLang="zh-CN" sz="1200" b="0" i="0" kern="1200" dirty="0">
                <a:solidFill>
                  <a:schemeClr val="tx1"/>
                </a:solidFill>
                <a:effectLst/>
                <a:latin typeface="+mn-lt"/>
                <a:ea typeface="+mn-ea"/>
                <a:cs typeface="+mn-cs"/>
              </a:rPr>
              <a:t>Transformer </a:t>
            </a:r>
            <a:r>
              <a:rPr lang="zh-CN" altLang="en-US" sz="1200" b="0" i="0" kern="1200" dirty="0">
                <a:solidFill>
                  <a:schemeClr val="tx1"/>
                </a:solidFill>
                <a:effectLst/>
                <a:latin typeface="+mn-lt"/>
                <a:ea typeface="+mn-ea"/>
                <a:cs typeface="+mn-cs"/>
              </a:rPr>
              <a:t>架构的推出不仅是一次技术创新，更是人工智能领域的 “范式革命！后面催生大模型！</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dirty="0"/>
              <a:t>2017</a:t>
            </a:r>
            <a:r>
              <a:rPr lang="zh-CN" altLang="en-US" dirty="0"/>
              <a:t>年</a:t>
            </a:r>
            <a:r>
              <a:rPr lang="en-US" altLang="zh-CN" dirty="0"/>
              <a:t>7</a:t>
            </a:r>
            <a:r>
              <a:rPr lang="zh-CN" altLang="en-US" dirty="0"/>
              <a:t>月，国家发布</a:t>
            </a:r>
            <a:r>
              <a:rPr lang="en-US" altLang="zh-CN" dirty="0"/>
              <a:t>《</a:t>
            </a:r>
            <a:r>
              <a:rPr lang="zh-CN" altLang="en-US" dirty="0"/>
              <a:t>新一代人工智能发展规划</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388362F-9F43-4429-AF5E-7A10B403247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effectLst/>
              </a:rPr>
              <a:t>西安：高校总量达</a:t>
            </a:r>
            <a:r>
              <a:rPr lang="en-US" altLang="zh-CN" dirty="0">
                <a:effectLst/>
              </a:rPr>
              <a:t>65</a:t>
            </a:r>
            <a:r>
              <a:rPr lang="zh-CN" altLang="en-US" dirty="0">
                <a:effectLst/>
              </a:rPr>
              <a:t>所，双一流、</a:t>
            </a:r>
            <a:r>
              <a:rPr lang="en-US" altLang="zh-CN" dirty="0">
                <a:effectLst/>
              </a:rPr>
              <a:t>985/211</a:t>
            </a:r>
            <a:r>
              <a:rPr lang="zh-CN" altLang="en-US" dirty="0">
                <a:effectLst/>
              </a:rPr>
              <a:t>高校集聚，核心重点高校包括西安交通大学、西北工业大学、西安电子科技大学等，理工科优势突出，尤其在电子信息、航空航天、人工智能领域实力强劲，产学研政策完善（如“四主体一联合”模式推广）</a:t>
            </a:r>
            <a:r>
              <a:rPr lang="en-US" altLang="zh-CN" dirty="0">
                <a:effectLst/>
              </a:rPr>
              <a:t>[superscript:2][superscript:3]</a:t>
            </a:r>
            <a:r>
              <a:rPr lang="zh-CN" altLang="en-US" dirty="0">
                <a:effectLst/>
              </a:rPr>
              <a:t>。 杭州：核心重点高校包括浙江大学、杭州电子科技大学、浙江工业大学等，其中浙江大学为全国顶尖双一流高校，杭州电子科技大学等聚焦电子信息、人工智能领域，且多所高校新增</a:t>
            </a:r>
            <a:r>
              <a:rPr lang="en-US" altLang="zh-CN" dirty="0">
                <a:effectLst/>
              </a:rPr>
              <a:t>AI</a:t>
            </a:r>
            <a:r>
              <a:rPr lang="zh-CN" altLang="en-US" dirty="0">
                <a:effectLst/>
              </a:rPr>
              <a:t>相关中外合作办学专业，互联网产业联动性强</a:t>
            </a:r>
            <a:endParaRPr lang="zh-CN" altLang="en-US" dirty="0">
              <a:effectLst/>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388362F-9F43-4429-AF5E-7A10B403247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人工智能的发展可以追溯到一九五六年的达特茅斯会议,但真正的转折点是二零一七年的 Transformer 架构,它让大规模预训练成为可能。二零二二年 ChatGPT 的发布引爆了生成式 AI,到二零二四年多模态和智能体开始兴起。进入二零二六年,具身智能让 AI 真正走进物理世界。我们看到大模型、智能体、具身智能三浪叠加,正在推动人工智能从会说走向会做,加速迈向通用智能。</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来看当前的产业现状。大模型作为语言智能基座,参数已经迈向万亿级,代表是 GPT 五、Claude 四和国内的 DeepSeek、通义千问。智能体让 AI 从对话走向办事,年增速超过百分之三百。具身智能则让 AI 走进物理世界,二零二五年全球人形机器人融资超过两百八十亿美元。整体来看,二零二五年全球 AI 市场规模约两千七百九十亿美元,中国核心产业约七千亿元。</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市场趋势方面,全球 AI 市场保持高速增长。二零二三年约一千九百六十亿美元,到二零二六年预计超过五千四百亿,复合年增长率约百分之三十七。更关键的是二零三零年的预测,市场规模将突破一万八千亿美元,五年增长近五倍。其中生成式 AI 二零二五年约六百七十亿美元,占比持续提升。这是一个确定性很高的长坡厚雪赛道。</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行业需求看,金融以百分之三十二领跑,主要用在风控、智能投顾和反欺诈。医疗占百分之二十四,集中在影像诊断和药物研发。制造占百分之十八,用于质检和预测性维护。教育、零售、政务也在快速放量。值得注意的变化是,企业不再只买模型,而是要端到端解决方案,行业大模型加智能体加数据治理的一体化需求成为主流。</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人才是最关键的瓶颈。全球 AI 人才缺口约四百万,中国超过五百万,大模型和算法岗位供需比约一比十。核心岗位薪资高位运行,解决方案架构师年薪中位数五十五万,算法工程师四十八万。全国五百多所高校开设了 AI 专业,但年毕业生仅四万,远不能满足需求。最稀缺的是既懂行业又懂模型落地的复合型人才,需要教育扩容、产业内训、政策引才三路并举。</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服务侧正在形成从算力到应用的全栈链条。算力、数据、模型、平台、应用五层环环相扣,分别对应智算中心、数据治理、基础模型、开发平台和行业解决方案。服务形态也在演进,从卖算力、卖模型,到卖智能体、卖结果,颗粒度从资源走向业务成果。行业大模型加算力加数据的一体化交付成为政企采购主流,MaaS 市场预计二零三零年超过五千亿美元。</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看场景应用开发。完整的开发链路是需求洞察、数据准备、模型选型、开发集成、部署运维,再到持续迭代,形成闭环。开发模式正在变革,低代码平台降低门槛,智能体开发框架成为主流,开发周期从月级压缩到天级。需求热点包括智能体员工、行业 Copilot 和端侧 AI。一句话总结,AI 应用开发正从写代码走向编排智能体,场景化、低代码化、闭环化是核心趋势。</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ai-industr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E5CC00A-26C1-4169-B235-F058450353E4}"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1</a:t>
            </a:r>
            <a:endParaRPr lang="zh-CN" altLang="en-US"/>
          </a:p>
        </p:txBody>
      </p:sp>
      <p:sp>
        <p:nvSpPr>
          <p:cNvPr id="6" name="灯片编号占位符 5"/>
          <p:cNvSpPr>
            <a:spLocks noGrp="1"/>
          </p:cNvSpPr>
          <p:nvPr>
            <p:ph type="sldNum" sz="quarter" idx="12"/>
          </p:nvPr>
        </p:nvSpPr>
        <p:spPr/>
        <p:txBody>
          <a:bodyPr/>
          <a:lstStyle/>
          <a:p>
            <a:fld id="{C54551FF-272A-4B62-AA4C-4A17E4F9482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0" y="189000"/>
            <a:ext cx="12192000" cy="6858000"/>
          </a:xfrm>
          <a:prstGeom prst="rect">
            <a:avLst/>
          </a:prstGeom>
        </p:spPr>
      </p:pic>
      <p:sp>
        <p:nvSpPr>
          <p:cNvPr id="4" name="灯片编号占位符 3"/>
          <p:cNvSpPr>
            <a:spLocks noGrp="1"/>
          </p:cNvSpPr>
          <p:nvPr>
            <p:ph type="sldNum" sz="quarter" idx="12"/>
          </p:nvPr>
        </p:nvSpPr>
        <p:spPr>
          <a:xfrm>
            <a:off x="10659867" y="6460608"/>
            <a:ext cx="1513800" cy="365125"/>
          </a:xfrm>
        </p:spPr>
        <p:txBody>
          <a:bodyPr/>
          <a:lstStyle>
            <a:lvl1pPr>
              <a:defRPr>
                <a:solidFill>
                  <a:srgbClr val="7030A0"/>
                </a:solidFill>
                <a:latin typeface="微软雅黑" panose="020B0503020204020204" charset="-122"/>
                <a:ea typeface="微软雅黑" panose="020B0503020204020204" charset="-122"/>
              </a:defRPr>
            </a:lvl1pPr>
          </a:lstStyle>
          <a:p>
            <a:fld id="{C54551FF-272A-4B62-AA4C-4A17E4F9482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2" Type="http://schemas.openxmlformats.org/officeDocument/2006/relationships/theme" Target="../theme/theme3.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1" latinLnBrk="0" hangingPunct="1">
        <a:spcBef>
          <a:spcPct val="0"/>
        </a:spcBef>
        <a:buNone/>
        <a:defRPr sz="2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105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10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9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85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8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050" kern="1200">
          <a:solidFill>
            <a:schemeClr val="tx1"/>
          </a:solidFill>
          <a:latin typeface="+mn-lt"/>
          <a:ea typeface="+mn-ea"/>
          <a:cs typeface="+mn-cs"/>
        </a:defRPr>
      </a:lvl1pPr>
      <a:lvl2pPr marL="457200" algn="l" defTabSz="457200" rtl="0" eaLnBrk="1" latinLnBrk="0" hangingPunct="1">
        <a:defRPr sz="1000" kern="1200">
          <a:solidFill>
            <a:schemeClr val="tx1"/>
          </a:solidFill>
          <a:latin typeface="+mn-lt"/>
          <a:ea typeface="+mn-ea"/>
          <a:cs typeface="+mn-cs"/>
        </a:defRPr>
      </a:lvl2pPr>
      <a:lvl3pPr marL="914400" algn="l" defTabSz="457200" rtl="0" eaLnBrk="1" latinLnBrk="0" hangingPunct="1">
        <a:defRPr sz="900" kern="1200">
          <a:solidFill>
            <a:schemeClr val="tx1"/>
          </a:solidFill>
          <a:latin typeface="+mn-lt"/>
          <a:ea typeface="+mn-ea"/>
          <a:cs typeface="+mn-cs"/>
        </a:defRPr>
      </a:lvl3pPr>
      <a:lvl4pPr marL="1371600" algn="l" defTabSz="457200" rtl="0" eaLnBrk="1" latinLnBrk="0" hangingPunct="1">
        <a:defRPr sz="850" kern="1200">
          <a:solidFill>
            <a:schemeClr val="tx1"/>
          </a:solidFill>
          <a:latin typeface="+mn-lt"/>
          <a:ea typeface="+mn-ea"/>
          <a:cs typeface="+mn-cs"/>
        </a:defRPr>
      </a:lvl4pPr>
      <a:lvl5pPr marL="1828800" algn="l" defTabSz="457200" rtl="0" eaLnBrk="1" latinLnBrk="0" hangingPunct="1">
        <a:defRPr sz="8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DC0D4F-7AC1-496A-BD1C-0546BD489CF6}"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1</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4551FF-272A-4B62-AA4C-4A17E4F9482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5" Type="http://schemas.openxmlformats.org/officeDocument/2006/relationships/notesSlide" Target="../notesSlides/notesSlide1.xml"/><Relationship Id="rId14" Type="http://schemas.openxmlformats.org/officeDocument/2006/relationships/slideLayout" Target="../slideLayouts/slideLayout1.xml"/><Relationship Id="rId13" Type="http://schemas.openxmlformats.org/officeDocument/2006/relationships/tags" Target="../tags/tag19.x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tags" Target="../tags/tag18.xml"/><Relationship Id="rId1" Type="http://schemas.openxmlformats.org/officeDocument/2006/relationships/tags" Target="../tags/tag9.xml"/></Relationships>
</file>

<file path=ppt/slides/_rels/slide3.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9" Type="http://schemas.openxmlformats.org/officeDocument/2006/relationships/notesSlide" Target="../notesSlides/notesSlide2.xml"/><Relationship Id="rId18" Type="http://schemas.openxmlformats.org/officeDocument/2006/relationships/slideLayout" Target="../slideLayouts/slideLayout3.xml"/><Relationship Id="rId17" Type="http://schemas.openxmlformats.org/officeDocument/2006/relationships/image" Target="../media/image10.svg"/><Relationship Id="rId16" Type="http://schemas.openxmlformats.org/officeDocument/2006/relationships/image" Target="../media/image9.png"/><Relationship Id="rId15" Type="http://schemas.openxmlformats.org/officeDocument/2006/relationships/tags" Target="../tags/tag30.xml"/><Relationship Id="rId14" Type="http://schemas.openxmlformats.org/officeDocument/2006/relationships/image" Target="../media/image8.svg"/><Relationship Id="rId13" Type="http://schemas.openxmlformats.org/officeDocument/2006/relationships/image" Target="../media/image7.png"/><Relationship Id="rId12" Type="http://schemas.openxmlformats.org/officeDocument/2006/relationships/tags" Target="../tags/tag29.xml"/><Relationship Id="rId11" Type="http://schemas.openxmlformats.org/officeDocument/2006/relationships/image" Target="../media/image6.svg"/><Relationship Id="rId10" Type="http://schemas.openxmlformats.org/officeDocument/2006/relationships/image" Target="../media/image5.png"/><Relationship Id="rId1" Type="http://schemas.openxmlformats.org/officeDocument/2006/relationships/tags" Target="../tags/tag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0647152" y="2500515"/>
            <a:ext cx="1513800" cy="365125"/>
          </a:xfrm>
        </p:spPr>
        <p:txBody>
          <a:bodyPr/>
          <a:lstStyle/>
          <a:p>
            <a:fld id="{C54551FF-272A-4B62-AA4C-4A17E4F94828}" type="slidenum">
              <a:rPr lang="zh-CN" altLang="en-US" smtClean="0"/>
            </a:fld>
            <a:endParaRPr lang="zh-CN" altLang="en-US"/>
          </a:p>
        </p:txBody>
      </p:sp>
      <p:sp>
        <p:nvSpPr>
          <p:cNvPr id="17" name="Watermark"/>
          <p:cNvSpPr txBox="1"/>
          <p:nvPr/>
        </p:nvSpPr>
        <p:spPr>
          <a:xfrm>
            <a:off x="9884000" y="6400000"/>
            <a:ext cx="2200000" cy="350000"/>
          </a:xfrm>
          <a:prstGeom prst="rect">
            <a:avLst/>
          </a:prstGeom>
          <a:noFill/>
          <a:ln>
            <a:noFill/>
          </a:ln>
        </p:spPr>
        <p:txBody>
          <a:bodyPr wrap="square" lIns="0" tIns="0" rIns="91440" bIns="45720" rtlCol="0" anchor="b"/>
          <a:lstStyle/>
          <a:p>
            <a:pPr algn="r" defTabSz="914400"/>
            <a:r>
              <a:rPr lang="zh-CN" sz="1600" dirty="0">
                <a:solidFill>
                  <a:srgbClr val="808080">
                    <a:alpha val="19999"/>
                  </a:srgbClr>
                </a:solidFill>
                <a:latin typeface="Arial" panose="020B0604020202020204"/>
                <a:ea typeface="宋体" panose="02010600030101010101" pitchFamily="2" charset="-122"/>
              </a:rPr>
              <a:t>AI 生成</a:t>
            </a:r>
            <a:endParaRPr lang="zh-CN" sz="1600" dirty="0">
              <a:solidFill>
                <a:srgbClr val="808080">
                  <a:alpha val="19999"/>
                </a:srgbClr>
              </a:solidFill>
              <a:latin typeface="Arial" panose="020B0604020202020204"/>
              <a:ea typeface="宋体" panose="02010600030101010101" pitchFamily="2" charset="-122"/>
            </a:endParaRPr>
          </a:p>
        </p:txBody>
      </p:sp>
      <p:sp>
        <p:nvSpPr>
          <p:cNvPr id="18" name="Rectangle 12"/>
          <p:cNvSpPr>
            <a:spLocks noChangeArrowheads="1"/>
          </p:cNvSpPr>
          <p:nvPr>
            <p:custDataLst>
              <p:tags r:id="rId1"/>
            </p:custDataLst>
          </p:nvPr>
        </p:nvSpPr>
        <p:spPr bwMode="auto">
          <a:xfrm>
            <a:off x="2271067" y="3501490"/>
            <a:ext cx="517283" cy="576000"/>
          </a:xfrm>
          <a:prstGeom prst="rect">
            <a:avLst/>
          </a:prstGeom>
          <a:solidFill>
            <a:schemeClr val="bg1"/>
          </a:solidFill>
          <a:ln w="38100">
            <a:solidFill>
              <a:srgbClr val="5B9BD5"/>
            </a:solidFill>
            <a:round/>
          </a:ln>
          <a:effectLst>
            <a:outerShdw dist="101600" dir="4080000" algn="ctr" rotWithShape="0">
              <a:schemeClr val="bg1">
                <a:lumMod val="75000"/>
                <a:alpha val="50000"/>
              </a:schemeClr>
            </a:outerShdw>
          </a:effectLst>
        </p:spPr>
        <p:txBody>
          <a:bodyPr wrap="none" anchor="ctr"/>
          <a:lstStyle/>
          <a:p>
            <a:pPr algn="ctr" defTabSz="914400"/>
            <a:r>
              <a:rPr lang="en-US" altLang="zh-CN" sz="2400" b="1" dirty="0">
                <a:latin typeface="微软雅黑" panose="020B0503020204020204" charset="-122"/>
                <a:ea typeface="微软雅黑" panose="020B0503020204020204" charset="-122"/>
              </a:rPr>
              <a:t>3</a:t>
            </a:r>
            <a:endParaRPr lang="en-US" altLang="zh-CN" sz="2400" b="1" dirty="0">
              <a:latin typeface="微软雅黑" panose="020B0503020204020204" charset="-122"/>
              <a:ea typeface="微软雅黑" panose="020B0503020204020204" charset="-122"/>
            </a:endParaRPr>
          </a:p>
        </p:txBody>
      </p:sp>
      <p:sp>
        <p:nvSpPr>
          <p:cNvPr id="19" name="Rectangle 11"/>
          <p:cNvSpPr>
            <a:spLocks noChangeArrowheads="1"/>
          </p:cNvSpPr>
          <p:nvPr>
            <p:custDataLst>
              <p:tags r:id="rId2"/>
            </p:custDataLst>
          </p:nvPr>
        </p:nvSpPr>
        <p:spPr bwMode="auto">
          <a:xfrm>
            <a:off x="3059285" y="3501490"/>
            <a:ext cx="7365995" cy="576000"/>
          </a:xfrm>
          <a:prstGeom prst="rect">
            <a:avLst/>
          </a:prstGeom>
          <a:solidFill>
            <a:schemeClr val="bg1"/>
          </a:solidFill>
          <a:ln w="38100">
            <a:solidFill>
              <a:srgbClr val="5B9BD5"/>
            </a:solidFill>
            <a:round/>
          </a:ln>
          <a:effectLst>
            <a:outerShdw dist="101600" dir="4080000" algn="ctr" rotWithShape="0">
              <a:schemeClr val="bg1">
                <a:lumMod val="75000"/>
                <a:alpha val="50000"/>
              </a:schemeClr>
            </a:outerShdw>
          </a:effectLst>
        </p:spPr>
        <p:txBody>
          <a:bodyPr wrap="none" anchor="ctr"/>
          <a:lstStyle/>
          <a:p>
            <a:pPr algn="l" defTabSz="914400"/>
            <a:r>
              <a:rPr kumimoji="1" lang="zh-CN" altLang="en-US" sz="2400" b="1" dirty="0">
                <a:latin typeface="微软雅黑" panose="020B0503020204020204" charset="-122"/>
                <a:ea typeface="微软雅黑" panose="020B0503020204020204" charset="-122"/>
                <a:sym typeface="+mn-ea"/>
              </a:rPr>
              <a:t>人工智能合作</a:t>
            </a:r>
            <a:r>
              <a:rPr kumimoji="1" lang="zh-CN" altLang="en-US" sz="2400" b="1" dirty="0">
                <a:latin typeface="微软雅黑" panose="020B0503020204020204" charset="-122"/>
                <a:ea typeface="微软雅黑" panose="020B0503020204020204" charset="-122"/>
                <a:sym typeface="+mn-ea"/>
              </a:rPr>
              <a:t>方案</a:t>
            </a:r>
            <a:endParaRPr kumimoji="1" lang="zh-CN" altLang="en-US" sz="2400" b="1" dirty="0">
              <a:latin typeface="微软雅黑" panose="020B0503020204020204" charset="-122"/>
              <a:ea typeface="微软雅黑" panose="020B0503020204020204" charset="-122"/>
              <a:sym typeface="+mn-ea"/>
            </a:endParaRPr>
          </a:p>
        </p:txBody>
      </p:sp>
      <p:sp>
        <p:nvSpPr>
          <p:cNvPr id="3" name="Rectangle 11"/>
          <p:cNvSpPr>
            <a:spLocks noChangeArrowheads="1"/>
          </p:cNvSpPr>
          <p:nvPr>
            <p:custDataLst>
              <p:tags r:id="rId3"/>
            </p:custDataLst>
          </p:nvPr>
        </p:nvSpPr>
        <p:spPr bwMode="auto">
          <a:xfrm>
            <a:off x="3059328" y="4390980"/>
            <a:ext cx="7365995" cy="576000"/>
          </a:xfrm>
          <a:prstGeom prst="rect">
            <a:avLst/>
          </a:prstGeom>
          <a:solidFill>
            <a:schemeClr val="bg1"/>
          </a:solidFill>
          <a:ln w="38100">
            <a:solidFill>
              <a:srgbClr val="5B9BD5"/>
            </a:solidFill>
            <a:round/>
          </a:ln>
          <a:effectLst>
            <a:outerShdw dist="101600" dir="4080000" algn="ctr" rotWithShape="0">
              <a:schemeClr val="bg1">
                <a:lumMod val="75000"/>
                <a:alpha val="50000"/>
              </a:schemeClr>
            </a:outerShdw>
          </a:effectLst>
        </p:spPr>
        <p:txBody>
          <a:bodyPr wrap="none" anchor="ctr"/>
          <a:lstStyle/>
          <a:p>
            <a:pPr defTabSz="914400"/>
            <a:r>
              <a:rPr kumimoji="1" lang="zh-CN" altLang="en-US" sz="2400" b="1" dirty="0">
                <a:latin typeface="微软雅黑" panose="020B0503020204020204" charset="-122"/>
                <a:ea typeface="微软雅黑" panose="020B0503020204020204" charset="-122"/>
                <a:sym typeface="+mn-ea"/>
              </a:rPr>
              <a:t>支撑“</a:t>
            </a:r>
            <a:r>
              <a:rPr kumimoji="1" lang="zh-CN" altLang="en-US" sz="2400" b="1" dirty="0">
                <a:latin typeface="微软雅黑" panose="020B0503020204020204" charset="-122"/>
                <a:ea typeface="微软雅黑" panose="020B0503020204020204" charset="-122"/>
                <a:sym typeface="+mn-ea"/>
              </a:rPr>
              <a:t>人工智能</a:t>
            </a:r>
            <a:r>
              <a:rPr kumimoji="1" lang="en-US" altLang="zh-CN" sz="2400" b="1" dirty="0">
                <a:latin typeface="微软雅黑" panose="020B0503020204020204" charset="-122"/>
                <a:ea typeface="微软雅黑" panose="020B0503020204020204" charset="-122"/>
                <a:sym typeface="+mn-ea"/>
              </a:rPr>
              <a:t>“</a:t>
            </a:r>
            <a:r>
              <a:rPr kumimoji="1" lang="zh-CN" altLang="en-US" sz="2400" b="1" dirty="0">
                <a:latin typeface="微软雅黑" panose="020B0503020204020204" charset="-122"/>
                <a:ea typeface="微软雅黑" panose="020B0503020204020204" charset="-122"/>
                <a:sym typeface="+mn-ea"/>
              </a:rPr>
              <a:t>建设的配套资源</a:t>
            </a:r>
            <a:endParaRPr kumimoji="1" lang="zh-CN" altLang="en-US" sz="2400" b="1" dirty="0">
              <a:latin typeface="微软雅黑" panose="020B0503020204020204" charset="-122"/>
              <a:ea typeface="微软雅黑" panose="020B0503020204020204" charset="-122"/>
              <a:sym typeface="+mn-ea"/>
            </a:endParaRPr>
          </a:p>
        </p:txBody>
      </p:sp>
      <p:sp>
        <p:nvSpPr>
          <p:cNvPr id="4" name="Rectangle 12"/>
          <p:cNvSpPr>
            <a:spLocks noChangeArrowheads="1"/>
          </p:cNvSpPr>
          <p:nvPr>
            <p:custDataLst>
              <p:tags r:id="rId4"/>
            </p:custDataLst>
          </p:nvPr>
        </p:nvSpPr>
        <p:spPr bwMode="auto">
          <a:xfrm>
            <a:off x="2271110" y="4390887"/>
            <a:ext cx="517283" cy="576000"/>
          </a:xfrm>
          <a:prstGeom prst="rect">
            <a:avLst/>
          </a:prstGeom>
          <a:solidFill>
            <a:schemeClr val="bg1"/>
          </a:solidFill>
          <a:ln w="38100">
            <a:solidFill>
              <a:srgbClr val="5B9BD5"/>
            </a:solidFill>
            <a:round/>
          </a:ln>
          <a:effectLst>
            <a:outerShdw dist="101600" dir="4080000" algn="ctr" rotWithShape="0">
              <a:schemeClr val="bg1">
                <a:lumMod val="75000"/>
                <a:alpha val="50000"/>
              </a:schemeClr>
            </a:outerShdw>
          </a:effectLst>
        </p:spPr>
        <p:txBody>
          <a:bodyPr wrap="none" anchor="ctr"/>
          <a:lstStyle/>
          <a:p>
            <a:pPr algn="ctr" defTabSz="914400"/>
            <a:r>
              <a:rPr lang="en-US" altLang="zh-CN" sz="2400" b="1" dirty="0">
                <a:latin typeface="微软雅黑" panose="020B0503020204020204" charset="-122"/>
                <a:ea typeface="微软雅黑" panose="020B0503020204020204" charset="-122"/>
              </a:rPr>
              <a:t>4</a:t>
            </a:r>
            <a:endParaRPr lang="en-US" altLang="zh-CN" sz="2400" b="1" dirty="0">
              <a:latin typeface="微软雅黑" panose="020B0503020204020204" charset="-122"/>
              <a:ea typeface="微软雅黑" panose="020B0503020204020204" charset="-122"/>
            </a:endParaRPr>
          </a:p>
        </p:txBody>
      </p:sp>
      <p:sp>
        <p:nvSpPr>
          <p:cNvPr id="10" name="Rectangle 11"/>
          <p:cNvSpPr>
            <a:spLocks noChangeArrowheads="1"/>
          </p:cNvSpPr>
          <p:nvPr>
            <p:custDataLst>
              <p:tags r:id="rId5"/>
            </p:custDataLst>
          </p:nvPr>
        </p:nvSpPr>
        <p:spPr bwMode="auto">
          <a:xfrm>
            <a:off x="3074935" y="2534877"/>
            <a:ext cx="7365995" cy="576000"/>
          </a:xfrm>
          <a:prstGeom prst="rect">
            <a:avLst/>
          </a:prstGeom>
          <a:solidFill>
            <a:srgbClr val="5DA0F9"/>
          </a:solidFill>
          <a:ln w="38100">
            <a:solidFill>
              <a:srgbClr val="5B9BD5"/>
            </a:solidFill>
            <a:round/>
          </a:ln>
          <a:effectLst>
            <a:outerShdw dist="101600" dir="4080000" algn="ctr" rotWithShape="0">
              <a:schemeClr val="bg1">
                <a:lumMod val="75000"/>
                <a:alpha val="50000"/>
              </a:schemeClr>
            </a:outerShdw>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400" b="1" dirty="0">
                <a:solidFill>
                  <a:schemeClr val="bg1"/>
                </a:solidFill>
                <a:latin typeface="微软雅黑" panose="020B0503020204020204" charset="-122"/>
                <a:ea typeface="微软雅黑" panose="020B0503020204020204" charset="-122"/>
                <a:sym typeface="+mn-ea"/>
              </a:rPr>
              <a:t>人工智能产业背景及国家政策</a:t>
            </a:r>
            <a:endParaRPr kumimoji="1" lang="zh-CN" altLang="en-US" sz="2400" b="1" dirty="0">
              <a:solidFill>
                <a:schemeClr val="bg1"/>
              </a:solidFill>
              <a:latin typeface="微软雅黑" panose="020B0503020204020204" charset="-122"/>
              <a:ea typeface="微软雅黑" panose="020B0503020204020204" charset="-122"/>
              <a:sym typeface="+mn-ea"/>
            </a:endParaRPr>
          </a:p>
        </p:txBody>
      </p:sp>
      <p:sp>
        <p:nvSpPr>
          <p:cNvPr id="11" name="Rectangle 12"/>
          <p:cNvSpPr>
            <a:spLocks noChangeArrowheads="1"/>
          </p:cNvSpPr>
          <p:nvPr>
            <p:custDataLst>
              <p:tags r:id="rId6"/>
            </p:custDataLst>
          </p:nvPr>
        </p:nvSpPr>
        <p:spPr bwMode="auto">
          <a:xfrm>
            <a:off x="2286717" y="2534784"/>
            <a:ext cx="517283" cy="576000"/>
          </a:xfrm>
          <a:prstGeom prst="rect">
            <a:avLst/>
          </a:prstGeom>
          <a:solidFill>
            <a:srgbClr val="5DA0F9"/>
          </a:solidFill>
          <a:ln w="38100">
            <a:solidFill>
              <a:srgbClr val="5B9BD5"/>
            </a:solidFill>
            <a:round/>
          </a:ln>
          <a:effectLst>
            <a:outerShdw dist="101600" dir="4080000" algn="ctr" rotWithShape="0">
              <a:schemeClr val="bg1">
                <a:lumMod val="75000"/>
                <a:alpha val="50000"/>
              </a:schemeClr>
            </a:outerShdw>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anose="020B0503020204020204" charset="-122"/>
                <a:ea typeface="微软雅黑" panose="020B0503020204020204" charset="-122"/>
              </a:rPr>
              <a:t>2</a:t>
            </a:r>
            <a:endParaRPr lang="en-US" altLang="zh-CN" sz="2400" b="1" dirty="0">
              <a:solidFill>
                <a:schemeClr val="bg1"/>
              </a:solidFill>
              <a:latin typeface="微软雅黑" panose="020B0503020204020204" charset="-122"/>
              <a:ea typeface="微软雅黑" panose="020B0503020204020204" charset="-122"/>
            </a:endParaRPr>
          </a:p>
        </p:txBody>
      </p:sp>
      <p:sp>
        <p:nvSpPr>
          <p:cNvPr id="12" name="Rectangle 11"/>
          <p:cNvSpPr>
            <a:spLocks noChangeArrowheads="1"/>
          </p:cNvSpPr>
          <p:nvPr>
            <p:custDataLst>
              <p:tags r:id="rId7"/>
            </p:custDataLst>
          </p:nvPr>
        </p:nvSpPr>
        <p:spPr bwMode="auto">
          <a:xfrm>
            <a:off x="3075160" y="1722745"/>
            <a:ext cx="7365995" cy="576000"/>
          </a:xfrm>
          <a:prstGeom prst="rect">
            <a:avLst/>
          </a:prstGeom>
          <a:solidFill>
            <a:schemeClr val="bg1"/>
          </a:solidFill>
          <a:ln w="38100">
            <a:solidFill>
              <a:srgbClr val="5B9BD5"/>
            </a:solidFill>
            <a:round/>
          </a:ln>
          <a:effectLst>
            <a:outerShdw dist="101600" dir="4080000" algn="ctr" rotWithShape="0">
              <a:schemeClr val="bg1">
                <a:lumMod val="75000"/>
                <a:alpha val="50000"/>
              </a:schemeClr>
            </a:outerShdw>
          </a:effectLst>
        </p:spPr>
        <p:txBody>
          <a:bodyPr wrap="none" anchor="ctr"/>
          <a:lstStyle/>
          <a:p>
            <a:pPr defTabSz="914400"/>
            <a:r>
              <a:rPr kumimoji="1" lang="zh-CN" altLang="en-US" sz="2400" b="1" dirty="0">
                <a:latin typeface="微软雅黑" panose="020B0503020204020204" charset="-122"/>
                <a:ea typeface="微软雅黑" panose="020B0503020204020204" charset="-122"/>
                <a:sym typeface="+mn-ea"/>
              </a:rPr>
              <a:t>图灵智新</a:t>
            </a:r>
            <a:r>
              <a:rPr kumimoji="1" lang="zh-CN" altLang="en-US" sz="2400" b="1" dirty="0">
                <a:latin typeface="微软雅黑" panose="020B0503020204020204" charset="-122"/>
                <a:ea typeface="微软雅黑" panose="020B0503020204020204" charset="-122"/>
                <a:sym typeface="+mn-ea"/>
              </a:rPr>
              <a:t>介绍</a:t>
            </a:r>
            <a:endParaRPr kumimoji="1" lang="zh-CN" altLang="en-US" sz="2400" b="1" dirty="0">
              <a:latin typeface="微软雅黑" panose="020B0503020204020204" charset="-122"/>
              <a:ea typeface="微软雅黑" panose="020B0503020204020204" charset="-122"/>
              <a:sym typeface="+mn-ea"/>
            </a:endParaRPr>
          </a:p>
        </p:txBody>
      </p:sp>
      <p:sp>
        <p:nvSpPr>
          <p:cNvPr id="13" name="Rectangle 12"/>
          <p:cNvSpPr>
            <a:spLocks noChangeArrowheads="1"/>
          </p:cNvSpPr>
          <p:nvPr>
            <p:custDataLst>
              <p:tags r:id="rId8"/>
            </p:custDataLst>
          </p:nvPr>
        </p:nvSpPr>
        <p:spPr bwMode="auto">
          <a:xfrm>
            <a:off x="2286942" y="1722652"/>
            <a:ext cx="517283" cy="576000"/>
          </a:xfrm>
          <a:prstGeom prst="rect">
            <a:avLst/>
          </a:prstGeom>
          <a:solidFill>
            <a:schemeClr val="bg1"/>
          </a:solidFill>
          <a:ln w="38100">
            <a:solidFill>
              <a:srgbClr val="5B9BD5"/>
            </a:solidFill>
            <a:round/>
          </a:ln>
          <a:effectLst>
            <a:outerShdw dist="101600" dir="4080000" algn="ctr" rotWithShape="0">
              <a:schemeClr val="bg1">
                <a:lumMod val="75000"/>
                <a:alpha val="50000"/>
              </a:schemeClr>
            </a:outerShdw>
          </a:effectLst>
        </p:spPr>
        <p:txBody>
          <a:bodyPr wrap="none" anchor="ctr"/>
          <a:lstStyle/>
          <a:p>
            <a:pPr algn="ctr" defTabSz="914400"/>
            <a:r>
              <a:rPr lang="en-US" altLang="zh-CN" sz="2400" b="1" dirty="0">
                <a:latin typeface="微软雅黑" panose="020B0503020204020204" charset="-122"/>
                <a:ea typeface="微软雅黑" panose="020B0503020204020204" charset="-122"/>
              </a:rPr>
              <a:t>1</a:t>
            </a:r>
            <a:endParaRPr lang="en-US" altLang="zh-CN" sz="2400" b="1" dirty="0">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1519020" y="4949300"/>
            <a:ext cx="6699073" cy="616585"/>
          </a:xfrm>
          <a:prstGeom prst="rect">
            <a:avLst/>
          </a:prstGeom>
          <a:noFill/>
        </p:spPr>
        <p:txBody>
          <a:bodyPr wrap="square" lIns="0" tIns="0" rIns="0" bIns="0" rtlCol="0" anchor="t" anchorCtr="0">
            <a:noAutofit/>
          </a:bodyPr>
          <a:lstStyle/>
          <a:p>
            <a:pPr marL="0" marR="0" lvl="0" indent="0" algn="just" defTabSz="914400" rtl="0" eaLnBrk="1" fontAlgn="auto" latinLnBrk="0" hangingPunct="1">
              <a:lnSpc>
                <a:spcPct val="150000"/>
              </a:lnSpc>
              <a:spcBef>
                <a:spcPct val="0"/>
              </a:spcBef>
              <a:spcAft>
                <a:spcPct val="0"/>
              </a:spcAft>
              <a:buClrTx/>
              <a:buSzTx/>
              <a:buFontTx/>
              <a:buNone/>
              <a:defRPr/>
            </a:pPr>
            <a:r>
              <a:rPr kumimoji="0" lang="zh-CN" altLang="en-US" sz="1200" b="0"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明确提出深化拓展 “人工智能 +”，以数智技术全方位赋能经济、产业、民生、治理，作为发展新质生产力核心抓手。建设国家人工智能创新高地，培育智能原生新业态新模式。</a:t>
            </a:r>
            <a:endParaRPr kumimoji="0" lang="zh-CN" altLang="en-US" sz="1200" b="0"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 name="矩形 4"/>
          <p:cNvSpPr/>
          <p:nvPr>
            <p:custDataLst>
              <p:tags r:id="rId2"/>
            </p:custDataLst>
          </p:nvPr>
        </p:nvSpPr>
        <p:spPr>
          <a:xfrm>
            <a:off x="1518385" y="4581000"/>
            <a:ext cx="6392830" cy="443230"/>
          </a:xfrm>
          <a:prstGeom prst="rect">
            <a:avLst/>
          </a:prstGeom>
          <a:noFill/>
        </p:spPr>
        <p:txBody>
          <a:bodyPr wrap="square" lIns="0" tIns="0" rIns="0" bIns="0" rtlCol="0" anchor="ctr" anchorCtr="0">
            <a:noAutofit/>
          </a:bodyPr>
          <a:lstStyle/>
          <a:p>
            <a:pPr marL="0" marR="0" lvl="0" indent="0" algn="just" defTabSz="914400" rtl="0" eaLnBrk="1" fontAlgn="auto" latinLnBrk="0" hangingPunct="1">
              <a:lnSpc>
                <a:spcPct val="100000"/>
              </a:lnSpc>
              <a:spcBef>
                <a:spcPct val="0"/>
              </a:spcBef>
              <a:spcAft>
                <a:spcPct val="0"/>
              </a:spcAft>
              <a:buClrTx/>
              <a:buSzTx/>
              <a:buFontTx/>
              <a:buNone/>
              <a:defRPr/>
            </a:pPr>
            <a:r>
              <a:rPr kumimoji="0" lang="zh-CN" altLang="en-US" sz="1400" b="1" i="0" u="none" strike="noStrike" kern="1200" cap="none" spc="40" normalizeH="0" baseline="0" noProof="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《中共中央关于制定国民经济和社会发展第十五个五年规划的建议》</a:t>
            </a:r>
            <a:endParaRPr kumimoji="0" lang="zh-CN" altLang="en-US" sz="1400" b="1" i="0" u="none" strike="noStrike" kern="1200" cap="none" spc="40" normalizeH="0" baseline="0" noProof="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 name="矩形 5"/>
          <p:cNvSpPr/>
          <p:nvPr>
            <p:custDataLst>
              <p:tags r:id="rId3"/>
            </p:custDataLst>
          </p:nvPr>
        </p:nvSpPr>
        <p:spPr>
          <a:xfrm>
            <a:off x="655322" y="4644254"/>
            <a:ext cx="556185" cy="556185"/>
          </a:xfrm>
          <a:prstGeom prst="rect">
            <a:avLst/>
          </a:prstGeom>
          <a:solidFill>
            <a:srgbClr val="376FFF"/>
          </a:solidFill>
          <a:ln>
            <a:noFill/>
          </a:ln>
          <a:effectLst/>
        </p:spPr>
        <p:style>
          <a:lnRef idx="2">
            <a:srgbClr val="376FFF">
              <a:shade val="50000"/>
            </a:srgbClr>
          </a:lnRef>
          <a:fillRef idx="1">
            <a:srgbClr val="376FFF"/>
          </a:fillRef>
          <a:effectRef idx="0">
            <a:srgbClr val="376FFF"/>
          </a:effectRef>
          <a:fontRef idx="minor">
            <a:srgbClr val="FFFFFF"/>
          </a:fontRef>
        </p:style>
        <p:txBody>
          <a:bodyPr wrap="square" lIns="0" tIns="0" rIns="0" bIns="0"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FFFF">
                    <a:lumMod val="100000"/>
                  </a:srgb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kumimoji="0" lang="zh-CN" altLang="en-US" sz="2400" b="0" i="0" u="none" strike="noStrike" kern="1200" cap="none" spc="0" normalizeH="0" baseline="0" noProof="0" dirty="0">
              <a:ln>
                <a:noFill/>
              </a:ln>
              <a:solidFill>
                <a:srgbClr val="FFFFFF">
                  <a:lumMod val="100000"/>
                </a:srgb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矩形 6"/>
          <p:cNvSpPr/>
          <p:nvPr>
            <p:custDataLst>
              <p:tags r:id="rId4"/>
            </p:custDataLst>
          </p:nvPr>
        </p:nvSpPr>
        <p:spPr>
          <a:xfrm>
            <a:off x="1526640" y="6338839"/>
            <a:ext cx="6698772" cy="616585"/>
          </a:xfrm>
          <a:prstGeom prst="rect">
            <a:avLst/>
          </a:prstGeom>
          <a:noFill/>
        </p:spPr>
        <p:txBody>
          <a:bodyPr wrap="square" lIns="0" tIns="0" rIns="0" bIns="0" rtlCol="0" anchor="t" anchorCtr="0">
            <a:noAutofit/>
          </a:bodyPr>
          <a:lstStyle/>
          <a:p>
            <a:pPr marL="0" marR="0" lvl="0" indent="0" algn="just" defTabSz="914400" rtl="0" eaLnBrk="1" fontAlgn="auto" latinLnBrk="0" hangingPunct="1">
              <a:lnSpc>
                <a:spcPct val="150000"/>
              </a:lnSpc>
              <a:spcBef>
                <a:spcPct val="0"/>
              </a:spcBef>
              <a:spcAft>
                <a:spcPct val="0"/>
              </a:spcAft>
              <a:buClrTx/>
              <a:buSzTx/>
              <a:buFontTx/>
              <a:buNone/>
              <a:defRPr/>
            </a:pPr>
            <a:r>
              <a:rPr kumimoji="0" lang="zh-CN" altLang="en-US" sz="1200" b="0"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对标国家 “人工智能 +” 行动与十五五规划部署，核心导向全域覆盖、全时响应、全行业渗透，围绕七大应用方向、63 个细分领域推进 </a:t>
            </a:r>
            <a:r>
              <a:rPr kumimoji="0" lang="en-US" altLang="zh-CN" sz="1200" b="0"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AI </a:t>
            </a:r>
            <a:r>
              <a:rPr kumimoji="0" lang="zh-CN" altLang="en-US" sz="1200" b="0"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落地。</a:t>
            </a:r>
            <a:endParaRPr kumimoji="0" lang="zh-CN" altLang="en-US" sz="1200" b="0"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 name="矩形 7"/>
          <p:cNvSpPr/>
          <p:nvPr>
            <p:custDataLst>
              <p:tags r:id="rId5"/>
            </p:custDataLst>
          </p:nvPr>
        </p:nvSpPr>
        <p:spPr>
          <a:xfrm>
            <a:off x="1525905" y="5893435"/>
            <a:ext cx="7077710" cy="443230"/>
          </a:xfrm>
          <a:prstGeom prst="rect">
            <a:avLst/>
          </a:prstGeom>
          <a:noFill/>
        </p:spPr>
        <p:txBody>
          <a:bodyPr wrap="square" lIns="0" tIns="0" rIns="0" bIns="0" rtlCol="0" anchor="ctr" anchorCtr="0">
            <a:noAutofit/>
          </a:bodyPr>
          <a:lstStyle/>
          <a:p>
            <a:pPr marL="0" marR="0" lvl="0" indent="0" algn="just" defTabSz="914400" rtl="0" eaLnBrk="1" fontAlgn="auto" latinLnBrk="0" hangingPunct="1">
              <a:lnSpc>
                <a:spcPct val="100000"/>
              </a:lnSpc>
              <a:spcBef>
                <a:spcPct val="0"/>
              </a:spcBef>
              <a:spcAft>
                <a:spcPct val="0"/>
              </a:spcAft>
              <a:buClrTx/>
              <a:buSzTx/>
              <a:buFontTx/>
              <a:buNone/>
              <a:defRPr/>
            </a:pPr>
            <a:r>
              <a:rPr kumimoji="0" lang="zh-CN" altLang="en-US" sz="1400" b="1" i="0" u="none" strike="noStrike" kern="1200" cap="none" spc="40" normalizeH="0" baseline="0" noProof="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《广东省加快推进人工智能全域全时全行业高水平应用行动方案》（2026 年 4 月出台）</a:t>
            </a:r>
            <a:endParaRPr kumimoji="0" lang="zh-CN" altLang="en-US" sz="1400" b="1" i="0" u="none" strike="noStrike" kern="1200" cap="none" spc="40" normalizeH="0" baseline="0" noProof="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 name="矩形 10"/>
          <p:cNvSpPr/>
          <p:nvPr>
            <p:custDataLst>
              <p:tags r:id="rId6"/>
            </p:custDataLst>
          </p:nvPr>
        </p:nvSpPr>
        <p:spPr>
          <a:xfrm>
            <a:off x="663243" y="5957477"/>
            <a:ext cx="556185" cy="556185"/>
          </a:xfrm>
          <a:prstGeom prst="rect">
            <a:avLst/>
          </a:prstGeom>
          <a:solidFill>
            <a:srgbClr val="376FFF"/>
          </a:solidFill>
          <a:ln>
            <a:noFill/>
          </a:ln>
          <a:effectLst/>
        </p:spPr>
        <p:style>
          <a:lnRef idx="2">
            <a:srgbClr val="376FFF">
              <a:shade val="50000"/>
            </a:srgbClr>
          </a:lnRef>
          <a:fillRef idx="1">
            <a:srgbClr val="376FFF"/>
          </a:fillRef>
          <a:effectRef idx="0">
            <a:srgbClr val="376FFF"/>
          </a:effectRef>
          <a:fontRef idx="minor">
            <a:srgbClr val="FFFFFF"/>
          </a:fontRef>
        </p:style>
        <p:txBody>
          <a:bodyPr wrap="square" lIns="0" tIns="0" rIns="0" bIns="0"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FFFF">
                    <a:lumMod val="100000"/>
                  </a:srgb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04</a:t>
            </a:r>
            <a:endParaRPr kumimoji="0" lang="zh-CN" altLang="en-US" sz="2400" b="0" i="0" u="none" strike="noStrike" kern="1200" cap="none" spc="0" normalizeH="0" baseline="0" noProof="0" dirty="0">
              <a:ln>
                <a:noFill/>
              </a:ln>
              <a:solidFill>
                <a:srgbClr val="FFFFFF">
                  <a:lumMod val="100000"/>
                </a:srgb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矩形 13"/>
          <p:cNvSpPr/>
          <p:nvPr>
            <p:custDataLst>
              <p:tags r:id="rId7"/>
            </p:custDataLst>
          </p:nvPr>
        </p:nvSpPr>
        <p:spPr>
          <a:xfrm>
            <a:off x="735984" y="937175"/>
            <a:ext cx="556185" cy="556185"/>
          </a:xfrm>
          <a:prstGeom prst="rect">
            <a:avLst/>
          </a:prstGeom>
          <a:solidFill>
            <a:srgbClr val="376FFF"/>
          </a:solidFill>
          <a:ln>
            <a:noFill/>
          </a:ln>
          <a:effectLst/>
        </p:spPr>
        <p:style>
          <a:lnRef idx="2">
            <a:srgbClr val="376FFF">
              <a:shade val="50000"/>
            </a:srgbClr>
          </a:lnRef>
          <a:fillRef idx="1">
            <a:srgbClr val="376FFF"/>
          </a:fillRef>
          <a:effectRef idx="0">
            <a:srgbClr val="376FFF"/>
          </a:effectRef>
          <a:fontRef idx="minor">
            <a:srgbClr val="FFFFFF"/>
          </a:fontRef>
        </p:style>
        <p:txBody>
          <a:bodyPr wrap="square" lIns="0" tIns="0" rIns="0" bIns="0"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FFFF">
                    <a:lumMod val="100000"/>
                  </a:srgb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kumimoji="0" lang="zh-CN" altLang="en-US" sz="2400" b="0" i="0" u="none" strike="noStrike" kern="1200" cap="none" spc="0" normalizeH="0" baseline="0" noProof="0" dirty="0">
              <a:ln>
                <a:noFill/>
              </a:ln>
              <a:solidFill>
                <a:srgbClr val="FFFFFF">
                  <a:lumMod val="100000"/>
                </a:srgb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矩形 17"/>
          <p:cNvSpPr/>
          <p:nvPr>
            <p:custDataLst>
              <p:tags r:id="rId8"/>
            </p:custDataLst>
          </p:nvPr>
        </p:nvSpPr>
        <p:spPr>
          <a:xfrm>
            <a:off x="1599379" y="1380435"/>
            <a:ext cx="6584619" cy="1760565"/>
          </a:xfrm>
          <a:prstGeom prst="rect">
            <a:avLst/>
          </a:prstGeom>
          <a:noFill/>
        </p:spPr>
        <p:txBody>
          <a:bodyPr wrap="square" lIns="0" tIns="0" rIns="0" bIns="0" rtlCol="0" anchor="t" anchorCtr="0">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中国首个 </a:t>
            </a:r>
            <a:r>
              <a:rPr kumimoji="0" lang="en-US" altLang="zh-CN"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AI </a:t>
            </a:r>
            <a:r>
              <a:rPr kumimoji="0" lang="zh-CN" altLang="en-US"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国家级顶层设计文件</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，提出 “三步走” 战略（</a:t>
            </a:r>
            <a:r>
              <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2020 </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年与世界同步、</a:t>
            </a:r>
            <a:r>
              <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2025 </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年部分领先、</a:t>
            </a:r>
            <a:r>
              <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2030 </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年成全球创新中心），明确</a:t>
            </a:r>
            <a:r>
              <a:rPr kumimoji="0" lang="zh-CN" altLang="en-US"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核心产业规模 </a:t>
            </a:r>
            <a:r>
              <a:rPr kumimoji="0" lang="en-US" altLang="zh-CN"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2030 </a:t>
            </a:r>
            <a:r>
              <a:rPr kumimoji="0" lang="zh-CN" altLang="en-US"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年超 </a:t>
            </a:r>
            <a:r>
              <a:rPr kumimoji="0" lang="en-US" altLang="zh-CN"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1 </a:t>
            </a:r>
            <a:r>
              <a:rPr kumimoji="0" lang="zh-CN" altLang="en-US"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万亿元</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a:t>
            </a:r>
            <a:endPar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1. </a:t>
            </a:r>
            <a:r>
              <a:rPr kumimoji="0" lang="zh-CN" altLang="en-US"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国内产业方向明确</a:t>
            </a:r>
            <a:r>
              <a:rPr kumimoji="0" lang="zh-CN" altLang="en-US" sz="1200" b="0"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为中国 </a:t>
            </a:r>
            <a:r>
              <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AI </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发展划定清晰路径，推动 </a:t>
            </a:r>
            <a:r>
              <a:rPr kumimoji="0" lang="zh-CN" altLang="en-US" sz="1200" b="1" i="0" u="none" strike="noStrike" kern="1200" cap="none" spc="0" normalizeH="0" baseline="0" noProof="0" dirty="0">
                <a:ln>
                  <a:noFill/>
                </a:ln>
                <a:solidFill>
                  <a:srgbClr val="0070C0"/>
                </a:solidFill>
                <a:effectLst/>
                <a:highlight>
                  <a:srgbClr val="FFFF00"/>
                </a:highlight>
                <a:uLnTx/>
                <a:uFillTx/>
                <a:latin typeface="Arial" panose="020B0604020202020204"/>
                <a:ea typeface="微软雅黑" panose="020B0503020204020204" charset="-122"/>
                <a:cs typeface="+mn-cs"/>
              </a:rPr>
              <a:t>“AI + 制造”“AI + 医疗”</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 等场景落地，激发企业（如百度、腾讯等）的技术投入与场景探索；</a:t>
            </a:r>
            <a:endPar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2. </a:t>
            </a:r>
            <a:r>
              <a:rPr kumimoji="0" lang="zh-CN" altLang="en-US"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产教融合加速</a:t>
            </a:r>
            <a:r>
              <a:rPr kumimoji="0" lang="zh-CN" altLang="en-US" sz="1200" b="0"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政策推动</a:t>
            </a:r>
            <a:r>
              <a:rPr kumimoji="0" lang="zh-CN" altLang="en-US" sz="1200" b="1" i="0" u="none" strike="noStrike" kern="1200" cap="none" spc="0" normalizeH="0" baseline="0" noProof="0" dirty="0">
                <a:ln>
                  <a:noFill/>
                </a:ln>
                <a:solidFill>
                  <a:srgbClr val="0070C0"/>
                </a:solidFill>
                <a:effectLst/>
                <a:highlight>
                  <a:srgbClr val="FFFF00"/>
                </a:highlight>
                <a:uLnTx/>
                <a:uFillTx/>
                <a:latin typeface="Arial" panose="020B0604020202020204"/>
                <a:ea typeface="微软雅黑" panose="020B0503020204020204" charset="-122"/>
                <a:cs typeface="+mn-cs"/>
              </a:rPr>
              <a:t>高校设立 </a:t>
            </a:r>
            <a:r>
              <a:rPr kumimoji="0" lang="en-US" altLang="zh-CN" sz="1200" b="1" i="0" u="none" strike="noStrike" kern="1200" cap="none" spc="0" normalizeH="0" baseline="0" noProof="0" dirty="0">
                <a:ln>
                  <a:noFill/>
                </a:ln>
                <a:solidFill>
                  <a:srgbClr val="0070C0"/>
                </a:solidFill>
                <a:effectLst/>
                <a:highlight>
                  <a:srgbClr val="FFFF00"/>
                </a:highlight>
                <a:uLnTx/>
                <a:uFillTx/>
                <a:latin typeface="Arial" panose="020B0604020202020204"/>
                <a:ea typeface="微软雅黑" panose="020B0503020204020204" charset="-122"/>
                <a:cs typeface="+mn-cs"/>
              </a:rPr>
              <a:t>AI </a:t>
            </a:r>
            <a:r>
              <a:rPr kumimoji="0" lang="zh-CN" altLang="en-US" sz="1200" b="1" i="0" u="none" strike="noStrike" kern="1200" cap="none" spc="0" normalizeH="0" baseline="0" noProof="0" dirty="0">
                <a:ln>
                  <a:noFill/>
                </a:ln>
                <a:solidFill>
                  <a:srgbClr val="0070C0"/>
                </a:solidFill>
                <a:effectLst/>
                <a:highlight>
                  <a:srgbClr val="FFFF00"/>
                </a:highlight>
                <a:uLnTx/>
                <a:uFillTx/>
                <a:latin typeface="Arial" panose="020B0604020202020204"/>
                <a:ea typeface="微软雅黑" panose="020B0503020204020204" charset="-122"/>
                <a:cs typeface="+mn-cs"/>
              </a:rPr>
              <a:t>学科</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、建设创新基地，</a:t>
            </a:r>
            <a:r>
              <a:rPr kumimoji="0" lang="zh-CN" altLang="en-US" sz="1200" b="1" i="0" u="none" strike="noStrike" kern="1200" cap="none" spc="0" normalizeH="0" baseline="0" noProof="0" dirty="0">
                <a:ln>
                  <a:noFill/>
                </a:ln>
                <a:solidFill>
                  <a:srgbClr val="0070C0"/>
                </a:solidFill>
                <a:effectLst/>
                <a:highlight>
                  <a:srgbClr val="FFFF00"/>
                </a:highlight>
                <a:uLnTx/>
                <a:uFillTx/>
                <a:latin typeface="Arial" panose="020B0604020202020204"/>
                <a:ea typeface="微软雅黑" panose="020B0503020204020204" charset="-122"/>
                <a:cs typeface="+mn-cs"/>
              </a:rPr>
              <a:t>解决 </a:t>
            </a:r>
            <a:r>
              <a:rPr kumimoji="0" lang="en-US" altLang="zh-CN" sz="1200" b="1" i="0" u="none" strike="noStrike" kern="1200" cap="none" spc="0" normalizeH="0" baseline="0" noProof="0" dirty="0">
                <a:ln>
                  <a:noFill/>
                </a:ln>
                <a:solidFill>
                  <a:srgbClr val="0070C0"/>
                </a:solidFill>
                <a:effectLst/>
                <a:highlight>
                  <a:srgbClr val="FFFF00"/>
                </a:highlight>
                <a:uLnTx/>
                <a:uFillTx/>
                <a:latin typeface="Arial" panose="020B0604020202020204"/>
                <a:ea typeface="微软雅黑" panose="020B0503020204020204" charset="-122"/>
                <a:cs typeface="+mn-cs"/>
              </a:rPr>
              <a:t>AI </a:t>
            </a:r>
            <a:r>
              <a:rPr kumimoji="0" lang="zh-CN" altLang="en-US" sz="1200" b="1" i="0" u="none" strike="noStrike" kern="1200" cap="none" spc="0" normalizeH="0" baseline="0" noProof="0" dirty="0">
                <a:ln>
                  <a:noFill/>
                </a:ln>
                <a:solidFill>
                  <a:srgbClr val="0070C0"/>
                </a:solidFill>
                <a:effectLst/>
                <a:highlight>
                  <a:srgbClr val="FFFF00"/>
                </a:highlight>
                <a:uLnTx/>
                <a:uFillTx/>
                <a:latin typeface="Arial" panose="020B0604020202020204"/>
                <a:ea typeface="微软雅黑" panose="020B0503020204020204" charset="-122"/>
                <a:cs typeface="+mn-cs"/>
              </a:rPr>
              <a:t>人才短缺问题</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，为产业爆发储备核心资源</a:t>
            </a:r>
            <a:r>
              <a:rPr kumimoji="0" lang="zh-CN" altLang="en-US"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a:t>
            </a:r>
            <a:endParaRPr kumimoji="0" lang="en-US" altLang="zh-CN" sz="12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9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a:t>
            </a:r>
            <a:r>
              <a:rPr kumimoji="0" lang="zh-CN" altLang="en-US" sz="9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广东：华师大</a:t>
            </a:r>
            <a:r>
              <a:rPr kumimoji="0" lang="en-US" altLang="zh-CN" sz="9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2018</a:t>
            </a:r>
            <a:r>
              <a:rPr kumimoji="0" lang="zh-CN" altLang="en-US" sz="9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年；广工大、华农大</a:t>
            </a:r>
            <a:r>
              <a:rPr kumimoji="0" lang="en-US" altLang="zh-CN" sz="9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2019</a:t>
            </a:r>
            <a:r>
              <a:rPr kumimoji="0" lang="zh-CN" altLang="en-US" sz="9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年；中大、华工大</a:t>
            </a:r>
            <a:r>
              <a:rPr kumimoji="0" lang="en-US" altLang="zh-CN" sz="9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2020</a:t>
            </a:r>
            <a:r>
              <a:rPr kumimoji="0" lang="zh-CN" altLang="en-US" sz="9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年；还有大量学校今年汕大、嘉应学院，珠江学院等</a:t>
            </a:r>
            <a:r>
              <a:rPr kumimoji="0" lang="en-US" altLang="zh-CN" sz="900" b="1" i="0" u="none" strike="noStrike" kern="1200" cap="none" spc="0" normalizeH="0" baseline="0" noProof="0" dirty="0">
                <a:ln>
                  <a:noFill/>
                </a:ln>
                <a:solidFill>
                  <a:srgbClr val="0070C0"/>
                </a:solidFill>
                <a:effectLst/>
                <a:uLnTx/>
                <a:uFillTx/>
                <a:latin typeface="Arial" panose="020B0604020202020204"/>
                <a:ea typeface="微软雅黑" panose="020B0503020204020204" charset="-122"/>
                <a:cs typeface="+mn-cs"/>
              </a:rPr>
              <a:t>…..】</a:t>
            </a:r>
            <a:endParaRPr kumimoji="0" lang="en-US" altLang="zh-CN" sz="9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p:txBody>
      </p:sp>
      <p:sp>
        <p:nvSpPr>
          <p:cNvPr id="19" name="矩形 18"/>
          <p:cNvSpPr/>
          <p:nvPr>
            <p:custDataLst>
              <p:tags r:id="rId9"/>
            </p:custDataLst>
          </p:nvPr>
        </p:nvSpPr>
        <p:spPr>
          <a:xfrm>
            <a:off x="1598744" y="935300"/>
            <a:ext cx="6385210" cy="443230"/>
          </a:xfrm>
          <a:prstGeom prst="rect">
            <a:avLst/>
          </a:prstGeom>
          <a:noFill/>
        </p:spPr>
        <p:txBody>
          <a:bodyPr wrap="square" lIns="0" tIns="0" rIns="0" bIns="0" rtlCol="0" anchor="ctr" anchorCtr="0">
            <a:noAutofit/>
          </a:bodyPr>
          <a:lstStyle/>
          <a:p>
            <a:pPr marL="0" marR="0" lvl="0" indent="0" algn="just" defTabSz="914400" rtl="0" eaLnBrk="1" fontAlgn="auto"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核心战略文件：</a:t>
            </a:r>
            <a:r>
              <a:rPr kumimoji="0" lang="zh-CN" altLang="en-US" sz="1400" b="1"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a:t>
            </a:r>
            <a:r>
              <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新一代人工智能发展规划</a:t>
            </a:r>
            <a:r>
              <a:rPr kumimoji="0" lang="zh-CN" altLang="en-US" sz="1400" b="1"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a:t>
            </a:r>
            <a:r>
              <a:rPr kumimoji="0" lang="en-US" altLang="zh-CN" sz="1400" b="1"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2017</a:t>
            </a:r>
            <a:r>
              <a:rPr kumimoji="0" lang="zh-CN" altLang="en-US" sz="1400" b="1"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rPr>
              <a:t>年</a:t>
            </a:r>
            <a:endParaRPr kumimoji="0" lang="zh-CN" altLang="en-US" sz="1400" b="1" i="0" u="none" strike="noStrike" kern="1200" cap="none" spc="40" normalizeH="0" baseline="0" noProof="0" dirty="0">
              <a:ln w="3175">
                <a:noFill/>
                <a:prstDash val="dash"/>
              </a:ln>
              <a:solidFill>
                <a:prstClr val="black">
                  <a:lumMod val="75000"/>
                  <a:lumOff val="25000"/>
                </a:prst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pic>
        <p:nvPicPr>
          <p:cNvPr id="21" name="图片 20" descr="placingpictureplaceholder"/>
          <p:cNvPicPr>
            <a:picLocks noChangeAspect="1"/>
          </p:cNvPicPr>
          <p:nvPr>
            <p:custDataLst>
              <p:tags r:id="rId10"/>
            </p:custDataLst>
          </p:nvPr>
        </p:nvPicPr>
        <p:blipFill>
          <a:blip r:embed="rId11"/>
          <a:srcRect t="1234" b="1234"/>
          <a:stretch>
            <a:fillRect/>
          </a:stretch>
        </p:blipFill>
        <p:spPr>
          <a:xfrm>
            <a:off x="8642142" y="822864"/>
            <a:ext cx="2866858" cy="1565811"/>
          </a:xfrm>
          <a:prstGeom prst="rect">
            <a:avLst/>
          </a:prstGeom>
        </p:spPr>
      </p:pic>
      <p:pic>
        <p:nvPicPr>
          <p:cNvPr id="22" name="图片 21"/>
          <p:cNvPicPr>
            <a:picLocks noChangeAspect="1"/>
          </p:cNvPicPr>
          <p:nvPr/>
        </p:nvPicPr>
        <p:blipFill>
          <a:blip r:embed="rId12">
            <a:extLst>
              <a:ext uri="{28A0092B-C50C-407E-A947-70E740481C1C}">
                <a14:useLocalDpi xmlns:a14="http://schemas.microsoft.com/office/drawing/2010/main" val="0"/>
              </a:ext>
            </a:extLst>
          </a:blip>
          <a:srcRect l="7440" t="25837" r="7788" b="13919"/>
          <a:stretch>
            <a:fillRect/>
          </a:stretch>
        </p:blipFill>
        <p:spPr>
          <a:xfrm>
            <a:off x="8603458" y="2508665"/>
            <a:ext cx="2905542" cy="4015211"/>
          </a:xfrm>
          <a:prstGeom prst="rect">
            <a:avLst/>
          </a:prstGeom>
        </p:spPr>
      </p:pic>
      <p:sp>
        <p:nvSpPr>
          <p:cNvPr id="23" name="矩形 22"/>
          <p:cNvSpPr/>
          <p:nvPr/>
        </p:nvSpPr>
        <p:spPr>
          <a:xfrm>
            <a:off x="10035778" y="5836019"/>
            <a:ext cx="719666" cy="2047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4" name="矩形 23"/>
          <p:cNvSpPr/>
          <p:nvPr/>
        </p:nvSpPr>
        <p:spPr>
          <a:xfrm>
            <a:off x="683000" y="856878"/>
            <a:ext cx="7717000" cy="2572122"/>
          </a:xfrm>
          <a:prstGeom prst="rect">
            <a:avLst/>
          </a:prstGeom>
          <a:noFill/>
          <a:ln w="25400">
            <a:solidFill>
              <a:srgbClr val="76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5" name="文本框 24"/>
          <p:cNvSpPr txBox="1"/>
          <p:nvPr/>
        </p:nvSpPr>
        <p:spPr>
          <a:xfrm>
            <a:off x="1526005" y="3566139"/>
            <a:ext cx="6657993" cy="97719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2021 </a:t>
            </a:r>
            <a:r>
              <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年 “十四五” 规划</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：将 “新一代人工智能” </a:t>
            </a: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列为科技前沿攻关的七大领域之一，明确 “加强原创性引领性科技攻关”，推动人工智能与实体经济深度融合；</a:t>
            </a:r>
            <a:endPar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2025</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年</a:t>
            </a:r>
            <a:r>
              <a:rPr kumimoji="0" lang="en-US" altLang="zh-CN" sz="14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8</a:t>
            </a:r>
            <a:r>
              <a:rPr kumimoji="0" lang="zh-CN" altLang="en-US" sz="14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月份国务院发布</a:t>
            </a:r>
            <a:r>
              <a:rPr kumimoji="0" lang="en-US" altLang="zh-CN"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a:t>
            </a:r>
            <a:r>
              <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关于深入实施 </a:t>
            </a:r>
            <a:r>
              <a:rPr kumimoji="0" lang="zh-CN" altLang="en-US" sz="1400" b="1" i="0" u="none" strike="noStrike" kern="1200" cap="none" spc="0" normalizeH="0" baseline="0" noProof="0" dirty="0">
                <a:ln>
                  <a:noFill/>
                </a:ln>
                <a:solidFill>
                  <a:prstClr val="black"/>
                </a:solidFill>
                <a:effectLst/>
                <a:highlight>
                  <a:srgbClr val="FFFF00"/>
                </a:highlight>
                <a:uLnTx/>
                <a:uFillTx/>
                <a:latin typeface="Arial" panose="020B0604020202020204"/>
                <a:ea typeface="微软雅黑" panose="020B0503020204020204" charset="-122"/>
                <a:cs typeface="+mn-cs"/>
              </a:rPr>
              <a:t>“人工智能 </a:t>
            </a:r>
            <a:r>
              <a:rPr kumimoji="0" lang="en-US" altLang="zh-CN" sz="1400" b="1" i="0" u="none" strike="noStrike" kern="1200" cap="none" spc="0" normalizeH="0" baseline="0" noProof="0" dirty="0">
                <a:ln>
                  <a:noFill/>
                </a:ln>
                <a:solidFill>
                  <a:prstClr val="black"/>
                </a:solidFill>
                <a:effectLst/>
                <a:highlight>
                  <a:srgbClr val="FFFF00"/>
                </a:highlight>
                <a:uLnTx/>
                <a:uFillTx/>
                <a:latin typeface="Arial" panose="020B0604020202020204"/>
                <a:ea typeface="微软雅黑" panose="020B0503020204020204" charset="-122"/>
                <a:cs typeface="+mn-cs"/>
              </a:rPr>
              <a:t>+” </a:t>
            </a:r>
            <a:r>
              <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行动的意见</a:t>
            </a:r>
            <a:r>
              <a:rPr kumimoji="0" lang="en-US" altLang="zh-CN"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a:t>
            </a:r>
            <a:endPar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p:txBody>
      </p:sp>
      <p:sp>
        <p:nvSpPr>
          <p:cNvPr id="26" name="矩形 25"/>
          <p:cNvSpPr/>
          <p:nvPr>
            <p:custDataLst>
              <p:tags r:id="rId13"/>
            </p:custDataLst>
          </p:nvPr>
        </p:nvSpPr>
        <p:spPr>
          <a:xfrm>
            <a:off x="697072" y="3609123"/>
            <a:ext cx="556185" cy="556185"/>
          </a:xfrm>
          <a:prstGeom prst="rect">
            <a:avLst/>
          </a:prstGeom>
          <a:solidFill>
            <a:srgbClr val="376FFF"/>
          </a:solidFill>
          <a:ln>
            <a:noFill/>
          </a:ln>
          <a:effectLst/>
        </p:spPr>
        <p:style>
          <a:lnRef idx="2">
            <a:srgbClr val="376FFF">
              <a:shade val="50000"/>
            </a:srgbClr>
          </a:lnRef>
          <a:fillRef idx="1">
            <a:srgbClr val="376FFF"/>
          </a:fillRef>
          <a:effectRef idx="0">
            <a:srgbClr val="376FFF"/>
          </a:effectRef>
          <a:fontRef idx="minor">
            <a:srgbClr val="FFFFFF"/>
          </a:fontRef>
        </p:style>
        <p:txBody>
          <a:bodyPr wrap="square" lIns="0" tIns="0" rIns="0" bIns="0"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FFFF">
                    <a:lumMod val="100000"/>
                  </a:srgb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kumimoji="0" lang="zh-CN" altLang="en-US" sz="2400" b="0" i="0" u="none" strike="noStrike" kern="1200" cap="none" spc="0" normalizeH="0" baseline="0" noProof="0" dirty="0">
              <a:ln>
                <a:noFill/>
              </a:ln>
              <a:solidFill>
                <a:srgbClr val="FFFFFF">
                  <a:lumMod val="100000"/>
                </a:srgb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灯片编号占位符 1"/>
          <p:cNvSpPr>
            <a:spLocks noGrp="1"/>
          </p:cNvSpPr>
          <p:nvPr>
            <p:ph type="sldNum" sz="quarter" idx="12"/>
          </p:nvPr>
        </p:nvSpPr>
        <p:spPr>
          <a:xfrm>
            <a:off x="10659867" y="6460608"/>
            <a:ext cx="1513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54551FF-272A-4B62-AA4C-4A17E4F94828}" type="slidenum">
              <a:rPr kumimoji="0" lang="zh-CN" altLang="en-US" sz="1200" b="0" i="0" u="none" strike="noStrike" kern="1200" cap="none" spc="0" normalizeH="0" baseline="0" noProof="0" smtClean="0">
                <a:ln>
                  <a:noFill/>
                </a:ln>
                <a:solidFill>
                  <a:srgbClr val="7030A0"/>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7030A0"/>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52000" y="663335"/>
            <a:ext cx="3570208" cy="461665"/>
          </a:xfrm>
          <a:prstGeom prst="rect">
            <a:avLst/>
          </a:prstGeom>
          <a:noFill/>
        </p:spPr>
        <p:txBody>
          <a:bodyPr wrap="none" rtlCol="0">
            <a:spAutoFit/>
          </a:bodyPr>
          <a:lstStyle/>
          <a:p>
            <a:pPr defTabSz="914400"/>
            <a:r>
              <a:rPr lang="zh-CN" altLang="en-US" sz="2400" b="1" dirty="0">
                <a:solidFill>
                  <a:srgbClr val="00285A"/>
                </a:solidFill>
                <a:latin typeface="微软雅黑" panose="020B0503020204020204" charset="-122"/>
                <a:ea typeface="微软雅黑" panose="020B0503020204020204" charset="-122"/>
              </a:rPr>
              <a:t>国家政策及行业发展背景</a:t>
            </a:r>
            <a:endParaRPr lang="en-US" altLang="zh-CN" sz="2400" b="1" dirty="0">
              <a:solidFill>
                <a:srgbClr val="00285A"/>
              </a:solidFill>
              <a:latin typeface="微软雅黑" panose="020B0503020204020204" charset="-122"/>
              <a:ea typeface="微软雅黑" panose="020B0503020204020204" charset="-122"/>
            </a:endParaRPr>
          </a:p>
        </p:txBody>
      </p:sp>
      <p:grpSp>
        <p:nvGrpSpPr>
          <p:cNvPr id="9" name="组合 4"/>
          <p:cNvGrpSpPr>
            <a:grpSpLocks noChangeAspect="1"/>
          </p:cNvGrpSpPr>
          <p:nvPr>
            <p:custDataLst>
              <p:tags r:id="rId1"/>
            </p:custDataLst>
          </p:nvPr>
        </p:nvGrpSpPr>
        <p:grpSpPr>
          <a:xfrm>
            <a:off x="909836" y="1125000"/>
            <a:ext cx="10730164" cy="5307887"/>
            <a:chOff x="1024292" y="1216201"/>
            <a:chExt cx="10730164" cy="5620553"/>
          </a:xfrm>
        </p:grpSpPr>
        <p:grpSp>
          <p:nvGrpSpPr>
            <p:cNvPr id="10" name="组合 0"/>
            <p:cNvGrpSpPr/>
            <p:nvPr/>
          </p:nvGrpSpPr>
          <p:grpSpPr>
            <a:xfrm>
              <a:off x="1867123" y="1216201"/>
              <a:ext cx="8457754" cy="3509295"/>
              <a:chOff x="1867123" y="1216201"/>
              <a:chExt cx="8457754" cy="3509295"/>
            </a:xfrm>
          </p:grpSpPr>
          <p:sp>
            <p:nvSpPr>
              <p:cNvPr id="39" name="0"/>
              <p:cNvSpPr/>
              <p:nvPr/>
            </p:nvSpPr>
            <p:spPr>
              <a:xfrm>
                <a:off x="1867123" y="2565799"/>
                <a:ext cx="8457754" cy="2159697"/>
              </a:xfrm>
              <a:prstGeom prst="ellipse">
                <a:avLst/>
              </a:prstGeom>
              <a:gradFill flip="none" rotWithShape="1">
                <a:gsLst>
                  <a:gs pos="28000">
                    <a:srgbClr val="4CD2FF"/>
                  </a:gs>
                  <a:gs pos="80000">
                    <a:schemeClr val="accent5"/>
                  </a:gs>
                  <a:gs pos="0">
                    <a:srgbClr val="BAE9F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a:latin typeface="+mj-ea"/>
                  <a:ea typeface="+mj-ea"/>
                </a:endParaRPr>
              </a:p>
            </p:txBody>
          </p:sp>
          <p:sp>
            <p:nvSpPr>
              <p:cNvPr id="40" name="0"/>
              <p:cNvSpPr/>
              <p:nvPr/>
            </p:nvSpPr>
            <p:spPr>
              <a:xfrm>
                <a:off x="2165037" y="2477669"/>
                <a:ext cx="7861926" cy="1994779"/>
              </a:xfrm>
              <a:prstGeom prst="ellipse">
                <a:avLst/>
              </a:prstGeom>
              <a:gradFill>
                <a:gsLst>
                  <a:gs pos="0">
                    <a:schemeClr val="accent1">
                      <a:lumMod val="20000"/>
                      <a:lumOff val="80000"/>
                    </a:schemeClr>
                  </a:gs>
                  <a:gs pos="100000">
                    <a:schemeClr val="bg1"/>
                  </a:gs>
                  <a:gs pos="38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r>
                  <a:rPr lang="zh-CN" altLang="en-US" dirty="0">
                    <a:latin typeface="+mj-ea"/>
                    <a:ea typeface="+mj-ea"/>
                  </a:rPr>
                  <a:t>产教深度融合</a:t>
                </a:r>
                <a:endParaRPr lang="zh-CN" altLang="en-US" dirty="0">
                  <a:latin typeface="+mj-ea"/>
                  <a:ea typeface="+mj-ea"/>
                </a:endParaRPr>
              </a:p>
            </p:txBody>
          </p:sp>
          <p:sp>
            <p:nvSpPr>
              <p:cNvPr id="41" name="0"/>
              <p:cNvSpPr/>
              <p:nvPr/>
            </p:nvSpPr>
            <p:spPr>
              <a:xfrm>
                <a:off x="3263854" y="2667396"/>
                <a:ext cx="5664292" cy="1199482"/>
              </a:xfrm>
              <a:prstGeom prst="ellipse">
                <a:avLst/>
              </a:prstGeom>
              <a:noFill/>
              <a:ln w="38100" cap="rnd" cmpd="sng">
                <a:gradFill>
                  <a:gsLst>
                    <a:gs pos="50000">
                      <a:schemeClr val="accent5"/>
                    </a:gs>
                    <a:gs pos="84000">
                      <a:schemeClr val="accent1">
                        <a:lumMod val="20000"/>
                        <a:lumOff val="80000"/>
                      </a:schemeClr>
                    </a:gs>
                    <a:gs pos="1000">
                      <a:srgbClr val="4CD2FF"/>
                    </a:gs>
                    <a:gs pos="100000">
                      <a:schemeClr val="bg1">
                        <a:lumMod val="95000"/>
                        <a:alpha val="0"/>
                      </a:schemeClr>
                    </a:gs>
                  </a:gsLst>
                  <a:lin ang="16200000" scaled="0"/>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dirty="0">
                  <a:latin typeface="+mj-ea"/>
                  <a:ea typeface="+mj-ea"/>
                </a:endParaRPr>
              </a:p>
            </p:txBody>
          </p:sp>
          <p:sp>
            <p:nvSpPr>
              <p:cNvPr id="42" name="0"/>
              <p:cNvSpPr/>
              <p:nvPr/>
            </p:nvSpPr>
            <p:spPr>
              <a:xfrm>
                <a:off x="5120071" y="1344269"/>
                <a:ext cx="1988663" cy="1988663"/>
              </a:xfrm>
              <a:prstGeom prst="ellipse">
                <a:avLst/>
              </a:prstGeom>
              <a:gradFill>
                <a:gsLst>
                  <a:gs pos="75000">
                    <a:srgbClr val="75A3FD"/>
                  </a:gs>
                  <a:gs pos="0">
                    <a:schemeClr val="accent1">
                      <a:lumMod val="75000"/>
                    </a:schemeClr>
                  </a:gs>
                  <a:gs pos="100000">
                    <a:schemeClr val="accent2"/>
                  </a:gs>
                </a:gsLst>
                <a:lin ang="3600000" scaled="0"/>
              </a:gradFill>
              <a:ln>
                <a:noFill/>
              </a:ln>
              <a:effectLst>
                <a:outerShdw blurRad="38100" algn="ctr" rotWithShape="0">
                  <a:schemeClr val="accent1">
                    <a:alpha val="4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dirty="0">
                  <a:latin typeface="+mj-ea"/>
                  <a:ea typeface="+mj-ea"/>
                </a:endParaRPr>
              </a:p>
            </p:txBody>
          </p:sp>
          <p:sp>
            <p:nvSpPr>
              <p:cNvPr id="43" name="0"/>
              <p:cNvSpPr/>
              <p:nvPr/>
            </p:nvSpPr>
            <p:spPr>
              <a:xfrm rot="16200000">
                <a:off x="4974922" y="1216201"/>
                <a:ext cx="1136191" cy="1136191"/>
              </a:xfrm>
              <a:custGeom>
                <a:avLst/>
                <a:gdLst>
                  <a:gd name="connsiteX0" fmla="*/ 1136191 w 2272382"/>
                  <a:gd name="connsiteY0" fmla="*/ 0 h 2272382"/>
                  <a:gd name="connsiteX1" fmla="*/ 2272382 w 2272382"/>
                  <a:gd name="connsiteY1" fmla="*/ 1136191 h 2272382"/>
                  <a:gd name="connsiteX2" fmla="*/ 1136191 w 2272382"/>
                  <a:gd name="connsiteY2" fmla="*/ 1136191 h 2272382"/>
                  <a:gd name="connsiteX3" fmla="*/ 1136191 w 2272382"/>
                  <a:gd name="connsiteY3" fmla="*/ 0 h 2272382"/>
                  <a:gd name="connsiteX0-1" fmla="*/ 1136191 w 2272382"/>
                  <a:gd name="connsiteY0-2" fmla="*/ 0 h 2272382"/>
                  <a:gd name="connsiteX1-3" fmla="*/ 2272382 w 2272382"/>
                  <a:gd name="connsiteY1-4" fmla="*/ 1136191 h 2272382"/>
                  <a:gd name="connsiteX0-5" fmla="*/ 0 w 1136191"/>
                  <a:gd name="connsiteY0-6" fmla="*/ 0 h 1136191"/>
                  <a:gd name="connsiteX1-7" fmla="*/ 1136191 w 1136191"/>
                  <a:gd name="connsiteY1-8" fmla="*/ 1136191 h 1136191"/>
                  <a:gd name="connsiteX2-9" fmla="*/ 0 w 1136191"/>
                  <a:gd name="connsiteY2-10" fmla="*/ 0 h 1136191"/>
                  <a:gd name="connsiteX0-11" fmla="*/ 0 w 1136191"/>
                  <a:gd name="connsiteY0-12" fmla="*/ 0 h 1136191"/>
                  <a:gd name="connsiteX1-13" fmla="*/ 1136191 w 1136191"/>
                  <a:gd name="connsiteY1-14" fmla="*/ 1136191 h 1136191"/>
                </a:gdLst>
                <a:ahLst/>
                <a:cxnLst>
                  <a:cxn ang="0">
                    <a:pos x="connsiteX0-1" y="connsiteY0-2"/>
                  </a:cxn>
                  <a:cxn ang="0">
                    <a:pos x="connsiteX1-3" y="connsiteY1-4"/>
                  </a:cxn>
                </a:cxnLst>
                <a:rect l="l" t="t" r="r" b="b"/>
                <a:pathLst>
                  <a:path w="1136191" h="1136191" stroke="0" extrusionOk="0">
                    <a:moveTo>
                      <a:pt x="0" y="0"/>
                    </a:moveTo>
                    <a:cubicBezTo>
                      <a:pt x="627501" y="0"/>
                      <a:pt x="1136191" y="508690"/>
                      <a:pt x="1136191" y="1136191"/>
                    </a:cubicBezTo>
                    <a:lnTo>
                      <a:pt x="0" y="0"/>
                    </a:lnTo>
                    <a:close/>
                  </a:path>
                  <a:path w="1136191" h="1136191" fill="none">
                    <a:moveTo>
                      <a:pt x="0" y="0"/>
                    </a:moveTo>
                    <a:cubicBezTo>
                      <a:pt x="627501" y="0"/>
                      <a:pt x="1136191" y="508690"/>
                      <a:pt x="1136191" y="1136191"/>
                    </a:cubicBezTo>
                  </a:path>
                </a:pathLst>
              </a:custGeom>
              <a:noFill/>
              <a:ln w="19050">
                <a:gradFill>
                  <a:gsLst>
                    <a:gs pos="100000">
                      <a:schemeClr val="accent1">
                        <a:alpha val="0"/>
                      </a:schemeClr>
                    </a:gs>
                    <a:gs pos="0">
                      <a:schemeClr val="accent1"/>
                    </a:gs>
                  </a:gsLst>
                  <a:lin ang="5400000" scaled="1"/>
                </a:gradFill>
                <a:headEnd type="oval" w="sm" len="sm"/>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defTabSz="914400"/>
                <a:endParaRPr lang="zh-CN" altLang="en-US">
                  <a:latin typeface="+mj-ea"/>
                  <a:ea typeface="+mj-ea"/>
                </a:endParaRPr>
              </a:p>
            </p:txBody>
          </p:sp>
          <p:sp>
            <p:nvSpPr>
              <p:cNvPr id="44" name="0"/>
              <p:cNvSpPr/>
              <p:nvPr/>
            </p:nvSpPr>
            <p:spPr>
              <a:xfrm rot="5400000">
                <a:off x="6080887" y="2335191"/>
                <a:ext cx="1136191" cy="1136191"/>
              </a:xfrm>
              <a:custGeom>
                <a:avLst/>
                <a:gdLst>
                  <a:gd name="connsiteX0" fmla="*/ 1136191 w 2272382"/>
                  <a:gd name="connsiteY0" fmla="*/ 0 h 2272382"/>
                  <a:gd name="connsiteX1" fmla="*/ 2272382 w 2272382"/>
                  <a:gd name="connsiteY1" fmla="*/ 1136191 h 2272382"/>
                  <a:gd name="connsiteX2" fmla="*/ 1136191 w 2272382"/>
                  <a:gd name="connsiteY2" fmla="*/ 1136191 h 2272382"/>
                  <a:gd name="connsiteX3" fmla="*/ 1136191 w 2272382"/>
                  <a:gd name="connsiteY3" fmla="*/ 0 h 2272382"/>
                  <a:gd name="connsiteX0-1" fmla="*/ 1136191 w 2272382"/>
                  <a:gd name="connsiteY0-2" fmla="*/ 0 h 2272382"/>
                  <a:gd name="connsiteX1-3" fmla="*/ 2272382 w 2272382"/>
                  <a:gd name="connsiteY1-4" fmla="*/ 1136191 h 2272382"/>
                  <a:gd name="connsiteX0-5" fmla="*/ 0 w 1136191"/>
                  <a:gd name="connsiteY0-6" fmla="*/ 0 h 1136191"/>
                  <a:gd name="connsiteX1-7" fmla="*/ 1136191 w 1136191"/>
                  <a:gd name="connsiteY1-8" fmla="*/ 1136191 h 1136191"/>
                  <a:gd name="connsiteX2-9" fmla="*/ 0 w 1136191"/>
                  <a:gd name="connsiteY2-10" fmla="*/ 0 h 1136191"/>
                  <a:gd name="connsiteX0-11" fmla="*/ 0 w 1136191"/>
                  <a:gd name="connsiteY0-12" fmla="*/ 0 h 1136191"/>
                  <a:gd name="connsiteX1-13" fmla="*/ 1136191 w 1136191"/>
                  <a:gd name="connsiteY1-14" fmla="*/ 1136191 h 1136191"/>
                </a:gdLst>
                <a:ahLst/>
                <a:cxnLst>
                  <a:cxn ang="0">
                    <a:pos x="connsiteX0-1" y="connsiteY0-2"/>
                  </a:cxn>
                  <a:cxn ang="0">
                    <a:pos x="connsiteX1-3" y="connsiteY1-4"/>
                  </a:cxn>
                </a:cxnLst>
                <a:rect l="l" t="t" r="r" b="b"/>
                <a:pathLst>
                  <a:path w="1136191" h="1136191" stroke="0" extrusionOk="0">
                    <a:moveTo>
                      <a:pt x="0" y="0"/>
                    </a:moveTo>
                    <a:cubicBezTo>
                      <a:pt x="627501" y="0"/>
                      <a:pt x="1136191" y="508690"/>
                      <a:pt x="1136191" y="1136191"/>
                    </a:cubicBezTo>
                    <a:lnTo>
                      <a:pt x="0" y="0"/>
                    </a:lnTo>
                    <a:close/>
                  </a:path>
                  <a:path w="1136191" h="1136191" fill="none">
                    <a:moveTo>
                      <a:pt x="0" y="0"/>
                    </a:moveTo>
                    <a:cubicBezTo>
                      <a:pt x="627501" y="0"/>
                      <a:pt x="1136191" y="508690"/>
                      <a:pt x="1136191" y="1136191"/>
                    </a:cubicBezTo>
                  </a:path>
                </a:pathLst>
              </a:custGeom>
              <a:noFill/>
              <a:ln w="19050">
                <a:gradFill>
                  <a:gsLst>
                    <a:gs pos="100000">
                      <a:schemeClr val="accent1">
                        <a:alpha val="0"/>
                      </a:schemeClr>
                    </a:gs>
                    <a:gs pos="0">
                      <a:schemeClr val="accent1"/>
                    </a:gs>
                  </a:gsLst>
                  <a:lin ang="5400000" scaled="1"/>
                </a:gradFill>
                <a:headEnd type="oval" w="sm" len="sm"/>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defTabSz="914400"/>
                <a:endParaRPr lang="zh-CN" altLang="en-US">
                  <a:latin typeface="+mj-ea"/>
                  <a:ea typeface="+mj-ea"/>
                </a:endParaRPr>
              </a:p>
            </p:txBody>
          </p:sp>
          <p:sp>
            <p:nvSpPr>
              <p:cNvPr id="45" name="0"/>
              <p:cNvSpPr/>
              <p:nvPr/>
            </p:nvSpPr>
            <p:spPr>
              <a:xfrm>
                <a:off x="5445415" y="1669612"/>
                <a:ext cx="1337974" cy="1337976"/>
              </a:xfrm>
              <a:prstGeom prst="ellipse">
                <a:avLst/>
              </a:prstGeom>
              <a:gradFill flip="none" rotWithShape="1">
                <a:gsLst>
                  <a:gs pos="64000">
                    <a:schemeClr val="accent1">
                      <a:lumMod val="5000"/>
                      <a:lumOff val="95000"/>
                    </a:schemeClr>
                  </a:gs>
                  <a:gs pos="100000">
                    <a:schemeClr val="accent2">
                      <a:lumMod val="20000"/>
                      <a:lumOff val="80000"/>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a:latin typeface="+mj-ea"/>
                  <a:ea typeface="+mj-ea"/>
                </a:endParaRPr>
              </a:p>
            </p:txBody>
          </p:sp>
          <p:sp>
            <p:nvSpPr>
              <p:cNvPr id="46" name="0"/>
              <p:cNvSpPr/>
              <p:nvPr/>
            </p:nvSpPr>
            <p:spPr>
              <a:xfrm>
                <a:off x="5261157" y="1485354"/>
                <a:ext cx="1706490" cy="1706492"/>
              </a:xfrm>
              <a:prstGeom prst="ellipse">
                <a:avLst/>
              </a:prstGeom>
              <a:noFill/>
              <a:ln w="12700">
                <a:gradFill>
                  <a:gsLst>
                    <a:gs pos="0">
                      <a:schemeClr val="bg1"/>
                    </a:gs>
                    <a:gs pos="100000">
                      <a:schemeClr val="accent2">
                        <a:lumMod val="20000"/>
                        <a:lumOff val="80000"/>
                      </a:schemeClr>
                    </a:gs>
                  </a:gsLst>
                  <a:lin ang="8400000" scaled="0"/>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a:latin typeface="+mj-ea"/>
                  <a:ea typeface="+mj-ea"/>
                </a:endParaRPr>
              </a:p>
            </p:txBody>
          </p:sp>
          <p:sp>
            <p:nvSpPr>
              <p:cNvPr id="47" name="Index-0"/>
              <p:cNvSpPr txBox="1"/>
              <p:nvPr>
                <p:custDataLst>
                  <p:tags r:id="rId2"/>
                </p:custDataLst>
              </p:nvPr>
            </p:nvSpPr>
            <p:spPr>
              <a:xfrm>
                <a:off x="5380215" y="1892749"/>
                <a:ext cx="1431569" cy="513182"/>
              </a:xfrm>
              <a:prstGeom prst="rect">
                <a:avLst/>
              </a:prstGeom>
              <a:noFill/>
            </p:spPr>
            <p:txBody>
              <a:bodyPr wrap="square" rtlCol="0">
                <a:noAutofit/>
              </a:bodyPr>
              <a:lstStyle/>
              <a:p>
                <a:pPr algn="ctr" defTabSz="914400"/>
                <a:r>
                  <a:rPr lang="zh-CN" altLang="en-US" sz="2500" b="1" dirty="0">
                    <a:gradFill flip="none" rotWithShape="1">
                      <a:gsLst>
                        <a:gs pos="41000">
                          <a:schemeClr val="accent1"/>
                        </a:gs>
                        <a:gs pos="96000">
                          <a:schemeClr val="accent2"/>
                        </a:gs>
                      </a:gsLst>
                      <a:lin ang="2700000" scaled="1"/>
                      <a:tileRect/>
                    </a:gradFill>
                    <a:latin typeface="+mj-ea"/>
                    <a:ea typeface="+mj-ea"/>
                  </a:rPr>
                  <a:t>人工</a:t>
                </a:r>
                <a:endParaRPr lang="en-US" altLang="zh-CN" sz="2500" b="1" dirty="0">
                  <a:gradFill flip="none" rotWithShape="1">
                    <a:gsLst>
                      <a:gs pos="41000">
                        <a:schemeClr val="accent1"/>
                      </a:gs>
                      <a:gs pos="96000">
                        <a:schemeClr val="accent2"/>
                      </a:gs>
                    </a:gsLst>
                    <a:lin ang="2700000" scaled="1"/>
                    <a:tileRect/>
                  </a:gradFill>
                  <a:latin typeface="+mj-ea"/>
                  <a:ea typeface="+mj-ea"/>
                </a:endParaRPr>
              </a:p>
              <a:p>
                <a:pPr algn="ctr" defTabSz="914400"/>
                <a:r>
                  <a:rPr lang="zh-CN" altLang="en-US" sz="2500" b="1" dirty="0">
                    <a:gradFill flip="none" rotWithShape="1">
                      <a:gsLst>
                        <a:gs pos="41000">
                          <a:schemeClr val="accent1"/>
                        </a:gs>
                        <a:gs pos="96000">
                          <a:schemeClr val="accent2"/>
                        </a:gs>
                      </a:gsLst>
                      <a:lin ang="2700000" scaled="1"/>
                      <a:tileRect/>
                    </a:gradFill>
                    <a:latin typeface="+mj-ea"/>
                    <a:ea typeface="+mj-ea"/>
                  </a:rPr>
                  <a:t>智能</a:t>
                </a:r>
                <a:endParaRPr lang="zh-CN" altLang="en-US" sz="2500" b="1" dirty="0">
                  <a:gradFill flip="none" rotWithShape="1">
                    <a:gsLst>
                      <a:gs pos="41000">
                        <a:schemeClr val="accent1"/>
                      </a:gs>
                      <a:gs pos="96000">
                        <a:schemeClr val="accent2"/>
                      </a:gs>
                    </a:gsLst>
                    <a:lin ang="2700000" scaled="1"/>
                    <a:tileRect/>
                  </a:gradFill>
                  <a:latin typeface="+mj-ea"/>
                  <a:ea typeface="+mj-ea"/>
                </a:endParaRPr>
              </a:p>
            </p:txBody>
          </p:sp>
        </p:grpSp>
        <p:grpSp>
          <p:nvGrpSpPr>
            <p:cNvPr id="12" name="组合 1"/>
            <p:cNvGrpSpPr/>
            <p:nvPr/>
          </p:nvGrpSpPr>
          <p:grpSpPr>
            <a:xfrm>
              <a:off x="1024292" y="3620025"/>
              <a:ext cx="3023870" cy="2631122"/>
              <a:chOff x="254754" y="3108949"/>
              <a:chExt cx="3023870" cy="2631122"/>
            </a:xfrm>
          </p:grpSpPr>
          <p:sp>
            <p:nvSpPr>
              <p:cNvPr id="34" name="Title-1"/>
              <p:cNvSpPr txBox="1"/>
              <p:nvPr>
                <p:custDataLst>
                  <p:tags r:id="rId3"/>
                </p:custDataLst>
              </p:nvPr>
            </p:nvSpPr>
            <p:spPr>
              <a:xfrm flipH="1">
                <a:off x="795987" y="4103408"/>
                <a:ext cx="2103291" cy="369332"/>
              </a:xfrm>
              <a:prstGeom prst="rect">
                <a:avLst/>
              </a:prstGeom>
              <a:noFill/>
            </p:spPr>
            <p:txBody>
              <a:bodyPr wrap="square" rtlCol="0">
                <a:noAutofit/>
              </a:bodyPr>
              <a:lstStyle/>
              <a:p>
                <a:pPr algn="just" defTabSz="914400"/>
                <a:r>
                  <a:rPr lang="zh-CN" altLang="en-US" b="1" dirty="0">
                    <a:gradFill flip="none" rotWithShape="1">
                      <a:gsLst>
                        <a:gs pos="41000">
                          <a:schemeClr val="accent1"/>
                        </a:gs>
                        <a:gs pos="96000">
                          <a:schemeClr val="accent2"/>
                        </a:gs>
                      </a:gsLst>
                      <a:lin ang="2700000" scaled="1"/>
                      <a:tileRect/>
                    </a:gradFill>
                    <a:latin typeface="+mj-ea"/>
                    <a:ea typeface="+mj-ea"/>
                  </a:rPr>
                  <a:t>国家战略高度定位</a:t>
                </a:r>
                <a:endParaRPr lang="zh-CN" altLang="en-US" b="1" dirty="0">
                  <a:gradFill flip="none" rotWithShape="1">
                    <a:gsLst>
                      <a:gs pos="41000">
                        <a:schemeClr val="accent1"/>
                      </a:gs>
                      <a:gs pos="96000">
                        <a:schemeClr val="accent2"/>
                      </a:gs>
                    </a:gsLst>
                    <a:lin ang="2700000" scaled="1"/>
                    <a:tileRect/>
                  </a:gradFill>
                  <a:latin typeface="+mj-ea"/>
                  <a:ea typeface="+mj-ea"/>
                </a:endParaRPr>
              </a:p>
            </p:txBody>
          </p:sp>
          <p:sp>
            <p:nvSpPr>
              <p:cNvPr id="35" name="Body-1"/>
              <p:cNvSpPr txBox="1"/>
              <p:nvPr>
                <p:custDataLst>
                  <p:tags r:id="rId4"/>
                </p:custDataLst>
              </p:nvPr>
            </p:nvSpPr>
            <p:spPr>
              <a:xfrm flipH="1">
                <a:off x="254754" y="4472587"/>
                <a:ext cx="3023870" cy="1267484"/>
              </a:xfrm>
              <a:prstGeom prst="rect">
                <a:avLst/>
              </a:prstGeom>
              <a:noFill/>
            </p:spPr>
            <p:txBody>
              <a:bodyPr wrap="square" rtlCol="0">
                <a:noAutofit/>
              </a:bodyPr>
              <a:lstStyle/>
              <a:p>
                <a:pPr marL="0" marR="0" lvl="0" indent="0" algn="l" defTabSz="914400" rtl="0" eaLnBrk="0" fontAlgn="base" latinLnBrk="0" hangingPunct="0">
                  <a:lnSpc>
                    <a:spcPct val="120000"/>
                  </a:lnSpc>
                  <a:spcBef>
                    <a:spcPct val="0"/>
                  </a:spcBef>
                  <a:spcAft>
                    <a:spcPct val="0"/>
                  </a:spcAft>
                  <a:buClrTx/>
                  <a:buSzTx/>
                  <a:buFontTx/>
                  <a:buNone/>
                </a:pPr>
                <a:r>
                  <a:rPr lang="zh-CN" altLang="en-US" sz="1000" dirty="0">
                    <a:effectLst/>
                    <a:latin typeface="+mj-ea"/>
                    <a:ea typeface="+mj-ea"/>
                  </a:rPr>
                  <a:t>2017 年 “人工智能” 首次写入政府工作报告，2024 年 “人工智能 +” 专项行动首次纳入报告，2025、2026 年连续加码推进；十五五规划将人工智能定位为经济新增长点与全球科技竞争核心赛道，政策明确 2030 年人工智能关联产业规模突破 10 万亿元，2035 年全面形成成熟智能经济发展格局。</a:t>
                </a:r>
                <a:endParaRPr lang="zh-CN" altLang="en-US" sz="1000" dirty="0">
                  <a:effectLst/>
                  <a:latin typeface="+mj-ea"/>
                  <a:ea typeface="+mj-ea"/>
                </a:endParaRPr>
              </a:p>
            </p:txBody>
          </p:sp>
          <p:sp>
            <p:nvSpPr>
              <p:cNvPr id="36" name="1"/>
              <p:cNvSpPr/>
              <p:nvPr/>
            </p:nvSpPr>
            <p:spPr>
              <a:xfrm flipH="1">
                <a:off x="1458934" y="3108949"/>
                <a:ext cx="868960" cy="868960"/>
              </a:xfrm>
              <a:prstGeom prst="ellipse">
                <a:avLst/>
              </a:prstGeom>
              <a:gradFill flip="none" rotWithShape="1">
                <a:gsLst>
                  <a:gs pos="0">
                    <a:schemeClr val="accent2">
                      <a:lumMod val="60000"/>
                      <a:lumOff val="40000"/>
                    </a:schemeClr>
                  </a:gs>
                  <a:gs pos="100000">
                    <a:schemeClr val="accent1"/>
                  </a:gs>
                </a:gsLst>
                <a:lin ang="5400000" scaled="1"/>
                <a:tileRect/>
              </a:gradFill>
              <a:ln>
                <a:noFill/>
              </a:ln>
              <a:effectLst>
                <a:outerShdw blurRad="203200" dir="5400000" sx="90000" sy="-19000" rotWithShape="0">
                  <a:schemeClr val="accent1">
                    <a:lumMod val="60000"/>
                    <a:lumOff val="40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dirty="0">
                  <a:latin typeface="+mj-ea"/>
                  <a:ea typeface="+mj-ea"/>
                </a:endParaRPr>
              </a:p>
            </p:txBody>
          </p:sp>
          <p:sp>
            <p:nvSpPr>
              <p:cNvPr id="37" name="1"/>
              <p:cNvSpPr/>
              <p:nvPr/>
            </p:nvSpPr>
            <p:spPr>
              <a:xfrm flipH="1">
                <a:off x="1497024" y="3147039"/>
                <a:ext cx="792780" cy="7927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dirty="0">
                  <a:latin typeface="+mj-ea"/>
                  <a:ea typeface="+mj-ea"/>
                </a:endParaRPr>
              </a:p>
            </p:txBody>
          </p:sp>
        </p:grpSp>
        <p:grpSp>
          <p:nvGrpSpPr>
            <p:cNvPr id="13" name="组合 2"/>
            <p:cNvGrpSpPr/>
            <p:nvPr/>
          </p:nvGrpSpPr>
          <p:grpSpPr>
            <a:xfrm>
              <a:off x="4770453" y="4238580"/>
              <a:ext cx="3672840" cy="2598174"/>
              <a:chOff x="567866" y="3108949"/>
              <a:chExt cx="3672840" cy="2598174"/>
            </a:xfrm>
          </p:grpSpPr>
          <p:sp>
            <p:nvSpPr>
              <p:cNvPr id="29" name="Title-2"/>
              <p:cNvSpPr txBox="1"/>
              <p:nvPr>
                <p:custDataLst>
                  <p:tags r:id="rId5"/>
                </p:custDataLst>
              </p:nvPr>
            </p:nvSpPr>
            <p:spPr>
              <a:xfrm flipH="1">
                <a:off x="639868" y="4032668"/>
                <a:ext cx="2736000" cy="369332"/>
              </a:xfrm>
              <a:prstGeom prst="rect">
                <a:avLst/>
              </a:prstGeom>
              <a:noFill/>
            </p:spPr>
            <p:txBody>
              <a:bodyPr wrap="square" rtlCol="0">
                <a:noAutofit/>
              </a:bodyPr>
              <a:lstStyle/>
              <a:p>
                <a:pPr algn="just" defTabSz="914400"/>
                <a:r>
                  <a:rPr lang="zh-CN" altLang="en-US" b="1" dirty="0">
                    <a:gradFill flip="none" rotWithShape="1">
                      <a:gsLst>
                        <a:gs pos="41000">
                          <a:schemeClr val="accent1"/>
                        </a:gs>
                        <a:gs pos="96000">
                          <a:schemeClr val="accent2"/>
                        </a:gs>
                      </a:gsLst>
                      <a:lin ang="2700000" scaled="1"/>
                      <a:tileRect/>
                    </a:gradFill>
                    <a:latin typeface="+mj-ea"/>
                    <a:ea typeface="+mj-ea"/>
                  </a:rPr>
                  <a:t>技术成熟度：快速迭代</a:t>
                </a:r>
                <a:endParaRPr lang="zh-CN" altLang="en-US" b="1" dirty="0">
                  <a:gradFill flip="none" rotWithShape="1">
                    <a:gsLst>
                      <a:gs pos="41000">
                        <a:schemeClr val="accent1"/>
                      </a:gs>
                      <a:gs pos="96000">
                        <a:schemeClr val="accent2"/>
                      </a:gs>
                    </a:gsLst>
                    <a:lin ang="2700000" scaled="1"/>
                    <a:tileRect/>
                  </a:gradFill>
                  <a:latin typeface="+mj-ea"/>
                  <a:ea typeface="+mj-ea"/>
                </a:endParaRPr>
              </a:p>
            </p:txBody>
          </p:sp>
          <p:sp>
            <p:nvSpPr>
              <p:cNvPr id="30" name="Body-2"/>
              <p:cNvSpPr txBox="1"/>
              <p:nvPr>
                <p:custDataLst>
                  <p:tags r:id="rId6"/>
                </p:custDataLst>
              </p:nvPr>
            </p:nvSpPr>
            <p:spPr>
              <a:xfrm flipH="1">
                <a:off x="567866" y="4459139"/>
                <a:ext cx="3672840" cy="1247984"/>
              </a:xfrm>
              <a:prstGeom prst="rect">
                <a:avLst/>
              </a:prstGeom>
              <a:noFill/>
            </p:spPr>
            <p:txBody>
              <a:bodyPr wrap="square" rtlCol="0">
                <a:noAutofit/>
              </a:bodyPr>
              <a:lstStyle/>
              <a:p>
                <a:pPr marL="0" marR="0" lvl="0" indent="0" algn="l" defTabSz="914400" rtl="0" eaLnBrk="0" fontAlgn="base" latinLnBrk="0" hangingPunct="0">
                  <a:lnSpc>
                    <a:spcPct val="120000"/>
                  </a:lnSpc>
                  <a:spcBef>
                    <a:spcPct val="0"/>
                  </a:spcBef>
                  <a:spcAft>
                    <a:spcPct val="0"/>
                  </a:spcAft>
                  <a:buClrTx/>
                  <a:buSzTx/>
                  <a:buFontTx/>
                  <a:buChar char="•"/>
                </a:pPr>
                <a:r>
                  <a:rPr kumimoji="0" lang="zh-CN" altLang="en-US" sz="1000" b="0" i="0" u="none" strike="noStrike" cap="none" normalizeH="0" baseline="0" dirty="0">
                    <a:solidFill>
                      <a:schemeClr val="tx1"/>
                    </a:solidFill>
                    <a:effectLst/>
                    <a:latin typeface="+mj-ea"/>
                    <a:ea typeface="+mj-ea"/>
                  </a:rPr>
                  <a:t>核心突破：算力底座 + 通用大模型 + 多模态感知深度融合，实现 “感知 - 决策 - 交互” 闭环。</a:t>
                </a:r>
                <a:endParaRPr kumimoji="0" lang="zh-CN" altLang="en-US" sz="1000" b="0" i="0" u="none" strike="noStrike" cap="none" normalizeH="0" baseline="0" dirty="0">
                  <a:solidFill>
                    <a:schemeClr val="tx1"/>
                  </a:solidFill>
                  <a:effectLst/>
                  <a:latin typeface="+mj-ea"/>
                  <a:ea typeface="+mj-ea"/>
                </a:endParaRPr>
              </a:p>
              <a:p>
                <a:pPr marL="0" marR="0" lvl="0" indent="0" algn="l" defTabSz="914400" rtl="0" eaLnBrk="0" fontAlgn="base" latinLnBrk="0" hangingPunct="0">
                  <a:lnSpc>
                    <a:spcPct val="120000"/>
                  </a:lnSpc>
                  <a:spcBef>
                    <a:spcPct val="0"/>
                  </a:spcBef>
                  <a:spcAft>
                    <a:spcPct val="0"/>
                  </a:spcAft>
                  <a:buClrTx/>
                  <a:buSzTx/>
                  <a:buFontTx/>
                  <a:buChar char="•"/>
                </a:pPr>
                <a:r>
                  <a:rPr kumimoji="0" lang="zh-CN" altLang="en-US" sz="1000" b="0" i="0" u="none" strike="noStrike" cap="none" normalizeH="0" baseline="0" dirty="0">
                    <a:solidFill>
                      <a:schemeClr val="tx1"/>
                    </a:solidFill>
                    <a:effectLst/>
                    <a:latin typeface="+mj-ea"/>
                    <a:ea typeface="+mj-ea"/>
                  </a:rPr>
                  <a:t>硬件：云端智算、端侧 AI 芯片等载体成熟，存算一体、高灵敏传感等关键部件快速迭代。</a:t>
                </a:r>
                <a:endParaRPr kumimoji="0" lang="zh-CN" altLang="en-US" sz="1000" b="0" i="0" u="none" strike="noStrike" cap="none" normalizeH="0" baseline="0" dirty="0">
                  <a:solidFill>
                    <a:schemeClr val="tx1"/>
                  </a:solidFill>
                  <a:effectLst/>
                  <a:latin typeface="+mj-ea"/>
                  <a:ea typeface="+mj-ea"/>
                </a:endParaRPr>
              </a:p>
              <a:p>
                <a:pPr marL="0" marR="0" lvl="0" indent="0" algn="l" defTabSz="914400" rtl="0" eaLnBrk="0" fontAlgn="base" latinLnBrk="0" hangingPunct="0">
                  <a:lnSpc>
                    <a:spcPct val="120000"/>
                  </a:lnSpc>
                  <a:spcBef>
                    <a:spcPct val="0"/>
                  </a:spcBef>
                  <a:spcAft>
                    <a:spcPct val="0"/>
                  </a:spcAft>
                  <a:buClrTx/>
                  <a:buSzTx/>
                  <a:buFontTx/>
                  <a:buChar char="•"/>
                </a:pPr>
                <a:r>
                  <a:rPr kumimoji="0" lang="zh-CN" altLang="en-US" sz="1000" b="0" i="0" u="none" strike="noStrike" cap="none" normalizeH="0" baseline="0" dirty="0">
                    <a:solidFill>
                      <a:schemeClr val="tx1"/>
                    </a:solidFill>
                    <a:effectLst/>
                    <a:latin typeface="+mj-ea"/>
                    <a:ea typeface="+mj-ea"/>
                  </a:rPr>
                  <a:t>软件：通用多模态大模型、分层算力架构、数字孪生仿真训练体系完善，配套工具链完备，大幅降低行业落地门槛。</a:t>
                </a:r>
                <a:endParaRPr kumimoji="0" lang="zh-CN" altLang="en-US" sz="1000" b="0" i="0" u="none" strike="noStrike" cap="none" normalizeH="0" baseline="0" dirty="0">
                  <a:solidFill>
                    <a:schemeClr val="tx1"/>
                  </a:solidFill>
                  <a:effectLst/>
                  <a:latin typeface="+mj-ea"/>
                  <a:ea typeface="+mj-ea"/>
                </a:endParaRPr>
              </a:p>
            </p:txBody>
          </p:sp>
          <p:sp>
            <p:nvSpPr>
              <p:cNvPr id="31" name="2"/>
              <p:cNvSpPr/>
              <p:nvPr/>
            </p:nvSpPr>
            <p:spPr>
              <a:xfrm flipH="1">
                <a:off x="1458934" y="3108949"/>
                <a:ext cx="868960" cy="868960"/>
              </a:xfrm>
              <a:prstGeom prst="ellipse">
                <a:avLst/>
              </a:prstGeom>
              <a:gradFill flip="none" rotWithShape="1">
                <a:gsLst>
                  <a:gs pos="0">
                    <a:schemeClr val="accent2">
                      <a:lumMod val="60000"/>
                      <a:lumOff val="40000"/>
                    </a:schemeClr>
                  </a:gs>
                  <a:gs pos="100000">
                    <a:schemeClr val="accent1"/>
                  </a:gs>
                </a:gsLst>
                <a:lin ang="5400000" scaled="1"/>
                <a:tileRect/>
              </a:gradFill>
              <a:ln>
                <a:noFill/>
              </a:ln>
              <a:effectLst>
                <a:outerShdw blurRad="203200" dir="5400000" sx="90000" sy="-19000" rotWithShape="0">
                  <a:schemeClr val="accent1">
                    <a:lumMod val="60000"/>
                    <a:lumOff val="40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dirty="0">
                  <a:latin typeface="+mj-ea"/>
                  <a:ea typeface="+mj-ea"/>
                </a:endParaRPr>
              </a:p>
            </p:txBody>
          </p:sp>
          <p:sp>
            <p:nvSpPr>
              <p:cNvPr id="32" name="2"/>
              <p:cNvSpPr/>
              <p:nvPr/>
            </p:nvSpPr>
            <p:spPr>
              <a:xfrm flipH="1">
                <a:off x="1497024" y="3147039"/>
                <a:ext cx="792780" cy="7927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dirty="0">
                  <a:latin typeface="+mj-ea"/>
                  <a:ea typeface="+mj-ea"/>
                </a:endParaRPr>
              </a:p>
            </p:txBody>
          </p:sp>
        </p:grpSp>
        <p:grpSp>
          <p:nvGrpSpPr>
            <p:cNvPr id="15" name="组合 3"/>
            <p:cNvGrpSpPr/>
            <p:nvPr/>
          </p:nvGrpSpPr>
          <p:grpSpPr>
            <a:xfrm flipH="1">
              <a:off x="8730456" y="3581935"/>
              <a:ext cx="3024000" cy="2649848"/>
              <a:chOff x="-15856" y="3108949"/>
              <a:chExt cx="3024000" cy="2649848"/>
            </a:xfrm>
          </p:grpSpPr>
          <p:sp>
            <p:nvSpPr>
              <p:cNvPr id="16" name="Title-3"/>
              <p:cNvSpPr txBox="1"/>
              <p:nvPr>
                <p:custDataLst>
                  <p:tags r:id="rId7"/>
                </p:custDataLst>
              </p:nvPr>
            </p:nvSpPr>
            <p:spPr>
              <a:xfrm flipH="1">
                <a:off x="560144" y="4055155"/>
                <a:ext cx="2448000" cy="369332"/>
              </a:xfrm>
              <a:prstGeom prst="rect">
                <a:avLst/>
              </a:prstGeom>
              <a:noFill/>
            </p:spPr>
            <p:txBody>
              <a:bodyPr wrap="square" rtlCol="0">
                <a:noAutofit/>
              </a:bodyPr>
              <a:lstStyle/>
              <a:p>
                <a:pPr algn="just" defTabSz="914400"/>
                <a:r>
                  <a:rPr lang="zh-CN" altLang="en-US" b="1" dirty="0">
                    <a:gradFill flip="none" rotWithShape="1">
                      <a:gsLst>
                        <a:gs pos="41000">
                          <a:schemeClr val="accent1"/>
                        </a:gs>
                        <a:gs pos="96000">
                          <a:schemeClr val="accent2"/>
                        </a:gs>
                      </a:gsLst>
                      <a:lin ang="2700000" scaled="1"/>
                      <a:tileRect/>
                    </a:gradFill>
                    <a:latin typeface="+mj-ea"/>
                    <a:ea typeface="+mj-ea"/>
                  </a:rPr>
                  <a:t>产业生态与资本热度</a:t>
                </a:r>
                <a:endParaRPr lang="zh-CN" altLang="en-US" b="1" dirty="0">
                  <a:gradFill flip="none" rotWithShape="1">
                    <a:gsLst>
                      <a:gs pos="41000">
                        <a:schemeClr val="accent1"/>
                      </a:gs>
                      <a:gs pos="96000">
                        <a:schemeClr val="accent2"/>
                      </a:gs>
                    </a:gsLst>
                    <a:lin ang="2700000" scaled="1"/>
                    <a:tileRect/>
                  </a:gradFill>
                  <a:latin typeface="+mj-ea"/>
                  <a:ea typeface="+mj-ea"/>
                </a:endParaRPr>
              </a:p>
            </p:txBody>
          </p:sp>
          <p:sp>
            <p:nvSpPr>
              <p:cNvPr id="17" name="Body-3"/>
              <p:cNvSpPr txBox="1"/>
              <p:nvPr>
                <p:custDataLst>
                  <p:tags r:id="rId8"/>
                </p:custDataLst>
              </p:nvPr>
            </p:nvSpPr>
            <p:spPr>
              <a:xfrm flipH="1">
                <a:off x="-15856" y="4472739"/>
                <a:ext cx="3024000" cy="1286058"/>
              </a:xfrm>
              <a:prstGeom prst="rect">
                <a:avLst/>
              </a:prstGeom>
              <a:noFill/>
            </p:spPr>
            <p:txBody>
              <a:bodyPr wrap="square" rtlCol="0">
                <a:noAutofit/>
              </a:bodyPr>
              <a:lstStyle/>
              <a:p>
                <a:pPr marL="0" marR="0" lvl="0" indent="0" algn="l" defTabSz="914400" rtl="0" eaLnBrk="0" fontAlgn="base" latinLnBrk="0" hangingPunct="0">
                  <a:lnSpc>
                    <a:spcPct val="120000"/>
                  </a:lnSpc>
                  <a:spcBef>
                    <a:spcPct val="0"/>
                  </a:spcBef>
                  <a:spcAft>
                    <a:spcPct val="0"/>
                  </a:spcAft>
                  <a:buClrTx/>
                  <a:buSzTx/>
                  <a:buFontTx/>
                  <a:buChar char="•"/>
                </a:pPr>
                <a:r>
                  <a:rPr kumimoji="0" lang="zh-CN" altLang="en-US" sz="1000" b="0" i="0" u="none" strike="noStrike" cap="none" normalizeH="0" baseline="0" dirty="0">
                    <a:solidFill>
                      <a:schemeClr val="tx1"/>
                    </a:solidFill>
                    <a:effectLst/>
                    <a:latin typeface="+mj-ea"/>
                    <a:ea typeface="+mj-ea"/>
                  </a:rPr>
                  <a:t>国内超 18 万家人工智能相关市场主体，产业链覆盖基础算力、核心模型、行业应用全环节，产业生态体系成熟成型。</a:t>
                </a:r>
                <a:endParaRPr kumimoji="0" lang="zh-CN" altLang="en-US" sz="1000" b="0" i="0" u="none" strike="noStrike" cap="none" normalizeH="0" baseline="0" dirty="0">
                  <a:solidFill>
                    <a:schemeClr val="tx1"/>
                  </a:solidFill>
                  <a:effectLst/>
                  <a:latin typeface="+mj-ea"/>
                  <a:ea typeface="+mj-ea"/>
                </a:endParaRPr>
              </a:p>
              <a:p>
                <a:pPr marL="0" marR="0" lvl="0" indent="0" algn="l" defTabSz="914400" rtl="0" eaLnBrk="0" fontAlgn="base" latinLnBrk="0" hangingPunct="0">
                  <a:lnSpc>
                    <a:spcPct val="120000"/>
                  </a:lnSpc>
                  <a:spcBef>
                    <a:spcPct val="0"/>
                  </a:spcBef>
                  <a:spcAft>
                    <a:spcPct val="0"/>
                  </a:spcAft>
                  <a:buClrTx/>
                  <a:buSzTx/>
                  <a:buFontTx/>
                  <a:buChar char="•"/>
                </a:pPr>
                <a:r>
                  <a:rPr kumimoji="0" lang="zh-CN" altLang="en-US" sz="1000" b="0" i="0" u="none" strike="noStrike" cap="none" normalizeH="0" baseline="0" dirty="0">
                    <a:solidFill>
                      <a:schemeClr val="tx1"/>
                    </a:solidFill>
                    <a:effectLst/>
                    <a:latin typeface="+mj-ea"/>
                    <a:ea typeface="+mj-ea"/>
                  </a:rPr>
                  <a:t>投融资活跃：天使轮、Pre-A 轮初创项目融资持续火热，产业资本与地方政府产业基金加速布局算力、大模型、垂直行业 AI 解决方案赛道。</a:t>
                </a:r>
                <a:endParaRPr kumimoji="0" lang="zh-CN" altLang="en-US" sz="1000" b="0" i="0" u="none" strike="noStrike" cap="none" normalizeH="0" baseline="0" dirty="0">
                  <a:solidFill>
                    <a:schemeClr val="tx1"/>
                  </a:solidFill>
                  <a:effectLst/>
                  <a:latin typeface="+mj-ea"/>
                  <a:ea typeface="+mj-ea"/>
                </a:endParaRPr>
              </a:p>
              <a:p>
                <a:pPr marL="0" marR="0" lvl="0" indent="0" algn="l" defTabSz="914400" rtl="0" eaLnBrk="0" fontAlgn="base" latinLnBrk="0" hangingPunct="0">
                  <a:lnSpc>
                    <a:spcPct val="120000"/>
                  </a:lnSpc>
                  <a:spcBef>
                    <a:spcPct val="0"/>
                  </a:spcBef>
                  <a:spcAft>
                    <a:spcPct val="0"/>
                  </a:spcAft>
                  <a:buClrTx/>
                  <a:buSzTx/>
                  <a:buFontTx/>
                  <a:buChar char="•"/>
                </a:pPr>
                <a:r>
                  <a:rPr kumimoji="0" lang="zh-CN" altLang="en-US" sz="1000" b="0" i="0" u="none" strike="noStrike" cap="none" normalizeH="0" baseline="0" dirty="0">
                    <a:solidFill>
                      <a:schemeClr val="tx1"/>
                    </a:solidFill>
                    <a:effectLst/>
                    <a:latin typeface="+mj-ea"/>
                    <a:ea typeface="+mj-ea"/>
                  </a:rPr>
                  <a:t>阶段判断：2026-2027 年工业、政务、交通等领域 AI 实现规模化商用落地，2027 年后消费、低空、医疗等民生场景逐步大范围渗透。</a:t>
                </a:r>
                <a:endParaRPr kumimoji="0" lang="zh-CN" altLang="en-US" sz="1000" b="0" i="0" u="none" strike="noStrike" cap="none" normalizeH="0" baseline="0" dirty="0">
                  <a:solidFill>
                    <a:schemeClr val="tx1"/>
                  </a:solidFill>
                  <a:effectLst/>
                  <a:latin typeface="+mj-ea"/>
                  <a:ea typeface="+mj-ea"/>
                </a:endParaRPr>
              </a:p>
            </p:txBody>
          </p:sp>
          <p:sp>
            <p:nvSpPr>
              <p:cNvPr id="20" name="3"/>
              <p:cNvSpPr/>
              <p:nvPr/>
            </p:nvSpPr>
            <p:spPr>
              <a:xfrm flipH="1">
                <a:off x="1458934" y="3108949"/>
                <a:ext cx="868960" cy="868960"/>
              </a:xfrm>
              <a:prstGeom prst="ellipse">
                <a:avLst/>
              </a:prstGeom>
              <a:gradFill flip="none" rotWithShape="1">
                <a:gsLst>
                  <a:gs pos="0">
                    <a:schemeClr val="accent2">
                      <a:lumMod val="60000"/>
                      <a:lumOff val="40000"/>
                    </a:schemeClr>
                  </a:gs>
                  <a:gs pos="100000">
                    <a:schemeClr val="accent1"/>
                  </a:gs>
                </a:gsLst>
                <a:lin ang="5400000" scaled="1"/>
                <a:tileRect/>
              </a:gradFill>
              <a:ln>
                <a:noFill/>
              </a:ln>
              <a:effectLst>
                <a:outerShdw blurRad="203200" dir="5400000" sx="90000" sy="-19000" rotWithShape="0">
                  <a:schemeClr val="accent1">
                    <a:lumMod val="60000"/>
                    <a:lumOff val="40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dirty="0">
                  <a:latin typeface="+mj-ea"/>
                  <a:ea typeface="+mj-ea"/>
                </a:endParaRPr>
              </a:p>
            </p:txBody>
          </p:sp>
          <p:sp>
            <p:nvSpPr>
              <p:cNvPr id="27" name="3"/>
              <p:cNvSpPr/>
              <p:nvPr/>
            </p:nvSpPr>
            <p:spPr>
              <a:xfrm flipH="1">
                <a:off x="1497024" y="3147039"/>
                <a:ext cx="792780" cy="7927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a:endParaRPr lang="zh-CN" altLang="en-US" dirty="0">
                  <a:latin typeface="+mj-ea"/>
                  <a:ea typeface="+mj-ea"/>
                </a:endParaRPr>
              </a:p>
            </p:txBody>
          </p:sp>
        </p:grpSp>
      </p:grpSp>
      <p:pic>
        <p:nvPicPr>
          <p:cNvPr id="52" name="图形 51"/>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5688079" y="4141165"/>
            <a:ext cx="558278" cy="558278"/>
          </a:xfrm>
          <a:prstGeom prst="rect">
            <a:avLst/>
          </a:prstGeom>
        </p:spPr>
      </p:pic>
      <p:sp>
        <p:nvSpPr>
          <p:cNvPr id="55" name="文本框 54"/>
          <p:cNvSpPr txBox="1"/>
          <p:nvPr/>
        </p:nvSpPr>
        <p:spPr>
          <a:xfrm>
            <a:off x="2215798" y="6535756"/>
            <a:ext cx="7760401" cy="27559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pPr>
            <a:r>
              <a:rPr kumimoji="0" lang="zh-CN" altLang="en-US" sz="1200" b="1" i="0" u="none" strike="noStrike" cap="none" normalizeH="0" baseline="0" dirty="0">
                <a:ln>
                  <a:noFill/>
                </a:ln>
                <a:solidFill>
                  <a:srgbClr val="1F2329"/>
                </a:solidFill>
                <a:effectLst/>
                <a:latin typeface="Arial" panose="020B0604020202020204" pitchFamily="34" charset="0"/>
                <a:ea typeface="ui-sans-serif"/>
              </a:rPr>
              <a:t>资本与智力都快速聚集到该领域，硬件、软件、模型快速迭代，在</a:t>
            </a:r>
            <a:r>
              <a:rPr kumimoji="0" lang="en-US" altLang="zh-CN" sz="1200" b="1" i="0" u="none" strike="noStrike" cap="none" normalizeH="0" baseline="0" dirty="0">
                <a:ln>
                  <a:noFill/>
                </a:ln>
                <a:solidFill>
                  <a:srgbClr val="1F2329"/>
                </a:solidFill>
                <a:effectLst/>
                <a:latin typeface="Arial" panose="020B0604020202020204" pitchFamily="34" charset="0"/>
                <a:ea typeface="ui-sans-serif"/>
              </a:rPr>
              <a:t>3-5</a:t>
            </a:r>
            <a:r>
              <a:rPr kumimoji="0" lang="zh-CN" altLang="en-US" sz="1200" b="1" i="0" u="none" strike="noStrike" cap="none" normalizeH="0" baseline="0" dirty="0">
                <a:ln>
                  <a:noFill/>
                </a:ln>
                <a:solidFill>
                  <a:srgbClr val="1F2329"/>
                </a:solidFill>
                <a:effectLst/>
                <a:latin typeface="Arial" panose="020B0604020202020204" pitchFamily="34" charset="0"/>
                <a:ea typeface="ui-sans-serif"/>
              </a:rPr>
              <a:t>年内即将迎来全民</a:t>
            </a:r>
            <a:r>
              <a:rPr kumimoji="0" lang="en-US" altLang="zh-CN" sz="1200" b="1" i="0" u="none" strike="noStrike" cap="none" normalizeH="0" baseline="0" dirty="0">
                <a:ln>
                  <a:noFill/>
                </a:ln>
                <a:solidFill>
                  <a:srgbClr val="1F2329"/>
                </a:solidFill>
                <a:effectLst/>
                <a:latin typeface="Arial" panose="020B0604020202020204" pitchFamily="34" charset="0"/>
                <a:ea typeface="ui-sans-serif"/>
              </a:rPr>
              <a:t>ai</a:t>
            </a:r>
            <a:r>
              <a:rPr kumimoji="0" lang="zh-CN" altLang="en-US" sz="1200" b="1" i="0" u="none" strike="noStrike" cap="none" normalizeH="0" baseline="0" dirty="0">
                <a:ln>
                  <a:noFill/>
                </a:ln>
                <a:solidFill>
                  <a:srgbClr val="1F2329"/>
                </a:solidFill>
                <a:effectLst/>
                <a:latin typeface="Arial" panose="020B0604020202020204" pitchFamily="34" charset="0"/>
                <a:ea typeface="ui-sans-serif"/>
              </a:rPr>
              <a:t>时代！</a:t>
            </a:r>
            <a:endParaRPr kumimoji="0" lang="zh-CN" altLang="zh-CN" sz="1200" b="1" i="0" u="none" strike="noStrike" cap="none" normalizeH="0" baseline="0" dirty="0">
              <a:ln>
                <a:noFill/>
              </a:ln>
              <a:solidFill>
                <a:schemeClr val="tx1"/>
              </a:solidFill>
              <a:effectLst/>
              <a:latin typeface="Arial" panose="020B0604020202020204" pitchFamily="34" charset="0"/>
            </a:endParaRPr>
          </a:p>
        </p:txBody>
      </p:sp>
      <p:sp>
        <p:nvSpPr>
          <p:cNvPr id="4" name="文本框 3"/>
          <p:cNvSpPr txBox="1"/>
          <p:nvPr/>
        </p:nvSpPr>
        <p:spPr>
          <a:xfrm>
            <a:off x="5701370" y="3157375"/>
            <a:ext cx="544830" cy="368300"/>
          </a:xfrm>
          <a:prstGeom prst="rect">
            <a:avLst/>
          </a:prstGeom>
          <a:noFill/>
        </p:spPr>
        <p:txBody>
          <a:bodyPr wrap="none" rtlCol="0">
            <a:spAutoFit/>
          </a:bodyPr>
          <a:lstStyle/>
          <a:p>
            <a:pPr defTabSz="914400"/>
            <a:r>
              <a:rPr lang="en-US" altLang="zh-CN" b="1" dirty="0"/>
              <a:t>AI+</a:t>
            </a:r>
            <a:endParaRPr lang="zh-CN" altLang="en-US" b="1" dirty="0"/>
          </a:p>
        </p:txBody>
      </p:sp>
      <p:pic>
        <p:nvPicPr>
          <p:cNvPr id="14" name="图形 13"/>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2272067" y="3502166"/>
            <a:ext cx="622065" cy="622065"/>
          </a:xfrm>
          <a:prstGeom prst="rect">
            <a:avLst/>
          </a:prstGeom>
        </p:spPr>
      </p:pic>
      <p:pic>
        <p:nvPicPr>
          <p:cNvPr id="22" name="图形 21"/>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9453900" y="3459831"/>
            <a:ext cx="575252" cy="5752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solidFill>
            <a:schemeClr val="accent1"/>
          </a:solidFill>
          <a:ln>
            <a:noFill/>
          </a:ln>
        </p:spPr>
      </p:sp>
      <p:sp>
        <p:nvSpPr>
          <p:cNvPr id="3" name="Rectangle 3"/>
          <p:cNvSpPr/>
          <p:nvPr/>
        </p:nvSpPr>
        <p:spPr>
          <a:xfrm>
            <a:off x="571500" y="476250"/>
            <a:ext cx="57150" cy="361950"/>
          </a:xfrm>
          <a:prstGeom prst="roundRect">
            <a:avLst>
              <a:gd name="adj" fmla="val 50000"/>
            </a:avLst>
          </a:prstGeom>
          <a:solidFill>
            <a:schemeClr val="accent1"/>
          </a:solidFill>
          <a:ln>
            <a:noFill/>
          </a:ln>
        </p:spPr>
      </p:sp>
      <p:sp>
        <p:nvSpPr>
          <p:cNvPr id="4" name="TextBox 4"/>
          <p:cNvSpPr txBox="1"/>
          <p:nvPr/>
        </p:nvSpPr>
        <p:spPr>
          <a:xfrm>
            <a:off x="750570" y="519112"/>
            <a:ext cx="1753476"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微软雅黑" panose="020B0503020204020204" charset="-122"/>
                <a:ea typeface="微软雅黑" panose="020B0503020204020204" charset="-122"/>
                <a:cs typeface="微软雅黑" panose="020B0503020204020204" charset="-122"/>
              </a:rPr>
              <a:t>AI 发展趋势</a:t>
            </a:r>
            <a:endParaRPr lang="zh-CN" sz="22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nvSpPr>
        <p:spPr>
          <a:xfrm>
            <a:off x="756666" y="896302"/>
            <a:ext cx="6313322" cy="205359"/>
          </a:xfrm>
          <a:prstGeom prst="rect">
            <a:avLst/>
          </a:prstGeom>
          <a:noFill/>
          <a:ln>
            <a:noFill/>
          </a:ln>
        </p:spPr>
        <p:txBody>
          <a:bodyPr wrap="none" lIns="0" tIns="0" rIns="0" bIns="0" anchor="t" anchorCtr="0">
            <a:spAutoFit/>
          </a:bodyPr>
          <a:lstStyle/>
          <a:p>
            <a:pPr algn="l"/>
            <a:r>
              <a:rPr lang="zh-CN" sz="1050" dirty="0">
                <a:solidFill>
                  <a:schemeClr val="dk2"/>
                </a:solidFill>
                <a:latin typeface="微软雅黑" panose="020B0503020204020204" charset="-122"/>
                <a:ea typeface="微软雅黑" panose="020B0503020204020204" charset="-122"/>
                <a:cs typeface="微软雅黑" panose="020B0503020204020204" charset="-122"/>
              </a:rPr>
              <a:t>算法 / 数据 / 算力三线并进,大模型 / 智能体 / 具身智能三浪叠加,加速迈向通用人工智能(AGI)</a:t>
            </a:r>
            <a:endParaRPr lang="zh-CN" sz="1050" dirty="0">
              <a:solidFill>
                <a:schemeClr val="dk2"/>
              </a:solidFill>
              <a:latin typeface="微软雅黑" panose="020B0503020204020204" charset="-122"/>
              <a:ea typeface="微软雅黑" panose="020B0503020204020204" charset="-122"/>
              <a:cs typeface="微软雅黑" panose="020B0503020204020204" charset="-122"/>
            </a:endParaRPr>
          </a:p>
        </p:txBody>
      </p:sp>
      <p:grpSp>
        <p:nvGrpSpPr>
          <p:cNvPr id="62" name="Group 62"/>
          <p:cNvGrpSpPr/>
          <p:nvPr/>
        </p:nvGrpSpPr>
        <p:grpSpPr>
          <a:xfrm>
            <a:off x="876300" y="1405255"/>
            <a:ext cx="10248900" cy="3281678"/>
            <a:chOff x="876300" y="1866900"/>
            <a:chExt cx="10248900" cy="2800350"/>
          </a:xfrm>
        </p:grpSpPr>
        <p:sp>
          <p:nvSpPr>
            <p:cNvPr id="6" name="Line 6"/>
            <p:cNvSpPr/>
            <p:nvPr/>
          </p:nvSpPr>
          <p:spPr>
            <a:xfrm>
              <a:off x="1143000" y="3219450"/>
              <a:ext cx="9715500" cy="9525"/>
            </a:xfrm>
            <a:custGeom>
              <a:avLst/>
              <a:gdLst/>
              <a:ahLst/>
              <a:cxnLst/>
              <a:rect l="l" t="t" r="r" b="b"/>
              <a:pathLst>
                <a:path w="9715500" h="9525">
                  <a:moveTo>
                    <a:pt x="0" y="0"/>
                  </a:moveTo>
                  <a:lnTo>
                    <a:pt x="9715500" y="0"/>
                  </a:lnTo>
                </a:path>
              </a:pathLst>
            </a:custGeom>
            <a:noFill/>
            <a:ln w="57150" cap="rnd">
              <a:solidFill>
                <a:schemeClr val="accent4"/>
              </a:solidFill>
            </a:ln>
          </p:spPr>
        </p:sp>
        <p:sp>
          <p:nvSpPr>
            <p:cNvPr id="7" name="Polygon 7"/>
            <p:cNvSpPr/>
            <p:nvPr/>
          </p:nvSpPr>
          <p:spPr>
            <a:xfrm>
              <a:off x="10820400" y="3124200"/>
              <a:ext cx="190500" cy="190500"/>
            </a:xfrm>
            <a:custGeom>
              <a:avLst/>
              <a:gdLst/>
              <a:ahLst/>
              <a:cxnLst/>
              <a:rect l="l" t="t" r="r" b="b"/>
              <a:pathLst>
                <a:path w="190500" h="190500">
                  <a:moveTo>
                    <a:pt x="190500" y="95250"/>
                  </a:moveTo>
                  <a:lnTo>
                    <a:pt x="0" y="0"/>
                  </a:lnTo>
                  <a:lnTo>
                    <a:pt x="0" y="190500"/>
                  </a:lnTo>
                  <a:close/>
                </a:path>
              </a:pathLst>
            </a:custGeom>
            <a:solidFill>
              <a:schemeClr val="accent1"/>
            </a:solidFill>
            <a:ln>
              <a:noFill/>
            </a:ln>
          </p:spPr>
        </p:sp>
        <p:sp>
          <p:nvSpPr>
            <p:cNvPr id="8" name="Ellipse 8"/>
            <p:cNvSpPr/>
            <p:nvPr/>
          </p:nvSpPr>
          <p:spPr>
            <a:xfrm>
              <a:off x="1485900" y="3086100"/>
              <a:ext cx="266700" cy="266700"/>
            </a:xfrm>
            <a:prstGeom prst="ellipse">
              <a:avLst/>
            </a:prstGeom>
            <a:solidFill>
              <a:schemeClr val="lt1"/>
            </a:solidFill>
            <a:ln w="38100">
              <a:solidFill>
                <a:schemeClr val="accent1"/>
              </a:solidFill>
            </a:ln>
          </p:spPr>
        </p:sp>
        <p:sp>
          <p:nvSpPr>
            <p:cNvPr id="9" name="TextBox 9"/>
            <p:cNvSpPr txBox="1"/>
            <p:nvPr/>
          </p:nvSpPr>
          <p:spPr>
            <a:xfrm>
              <a:off x="1378401" y="2790825"/>
              <a:ext cx="481698" cy="196697"/>
            </a:xfrm>
            <a:prstGeom prst="rect">
              <a:avLst/>
            </a:prstGeom>
            <a:noFill/>
            <a:ln>
              <a:noFill/>
            </a:ln>
          </p:spPr>
          <p:txBody>
            <a:bodyPr wrap="square" lIns="0" tIns="0" rIns="0" bIns="0" anchor="t" anchorCtr="0">
              <a:spAutoFit/>
            </a:bodyPr>
            <a:lstStyle/>
            <a:p>
              <a:pPr algn="ctr"/>
              <a:r>
                <a:rPr lang="en-US" sz="1500" b="1" dirty="0">
                  <a:solidFill>
                    <a:schemeClr val="accent1"/>
                  </a:solidFill>
                  <a:latin typeface="+mn-lt"/>
                  <a:ea typeface="+mn-ea"/>
                  <a:cs typeface="+mn-cs"/>
                </a:rPr>
                <a:t>1956</a:t>
              </a:r>
              <a:endParaRPr lang="en-US" sz="1500" b="1" dirty="0">
                <a:solidFill>
                  <a:schemeClr val="accent1"/>
                </a:solidFill>
                <a:latin typeface="+mn-lt"/>
                <a:ea typeface="+mn-ea"/>
                <a:cs typeface="+mn-cs"/>
              </a:endParaRPr>
            </a:p>
          </p:txBody>
        </p:sp>
        <p:sp>
          <p:nvSpPr>
            <p:cNvPr id="10" name="Rectangle 10"/>
            <p:cNvSpPr/>
            <p:nvPr/>
          </p:nvSpPr>
          <p:spPr>
            <a:xfrm>
              <a:off x="876300" y="1866900"/>
              <a:ext cx="1485900" cy="950971"/>
            </a:xfrm>
            <a:prstGeom prst="roundRect">
              <a:avLst>
                <a:gd name="adj" fmla="val 9615"/>
              </a:avLst>
            </a:prstGeom>
            <a:solidFill>
              <a:schemeClr val="lt2"/>
            </a:solidFill>
            <a:ln>
              <a:noFill/>
            </a:ln>
          </p:spPr>
        </p:sp>
        <p:sp>
          <p:nvSpPr>
            <p:cNvPr id="11" name="TextBox 11"/>
            <p:cNvSpPr txBox="1"/>
            <p:nvPr/>
          </p:nvSpPr>
          <p:spPr>
            <a:xfrm>
              <a:off x="1200845" y="1971199"/>
              <a:ext cx="836809" cy="128422"/>
            </a:xfrm>
            <a:prstGeom prst="rect">
              <a:avLst/>
            </a:prstGeom>
            <a:noFill/>
            <a:ln>
              <a:noFill/>
            </a:ln>
          </p:spPr>
          <p:txBody>
            <a:bodyPr wrap="square" lIns="0" tIns="0" rIns="0" bIns="0" anchor="t" anchorCtr="0">
              <a:spAutoFit/>
            </a:bodyPr>
            <a:lstStyle/>
            <a:p>
              <a:pPr algn="ctr"/>
              <a:r>
                <a:rPr lang="zh-CN" sz="980" b="1" dirty="0">
                  <a:solidFill>
                    <a:schemeClr val="dk1"/>
                  </a:solidFill>
                  <a:latin typeface="微软雅黑" panose="020B0503020204020204" charset="-122"/>
                  <a:ea typeface="微软雅黑" panose="020B0503020204020204" charset="-122"/>
                  <a:cs typeface="微软雅黑" panose="020B0503020204020204" charset="-122"/>
                </a:rPr>
                <a:t>达特茅斯会议</a:t>
              </a:r>
              <a:endParaRPr lang="zh-CN" sz="98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nvSpPr>
          <p:spPr>
            <a:xfrm>
              <a:off x="1312316" y="2196941"/>
              <a:ext cx="613867"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AI 概念诞生</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3" name="TextBox 13"/>
            <p:cNvSpPr txBox="1"/>
            <p:nvPr/>
          </p:nvSpPr>
          <p:spPr>
            <a:xfrm>
              <a:off x="1281303" y="2368391"/>
              <a:ext cx="675894"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符号主义启航</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4" name="TextBox 14"/>
            <p:cNvSpPr txBox="1"/>
            <p:nvPr/>
          </p:nvSpPr>
          <p:spPr>
            <a:xfrm>
              <a:off x="1253642" y="2539841"/>
              <a:ext cx="731215"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麦卡锡命名 AI</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5" name="TextBox 15"/>
            <p:cNvSpPr txBox="1"/>
            <p:nvPr/>
          </p:nvSpPr>
          <p:spPr>
            <a:xfrm>
              <a:off x="1281303" y="2711291"/>
              <a:ext cx="675894"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专家系统萌芽</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6" name="Line 16"/>
            <p:cNvSpPr/>
            <p:nvPr/>
          </p:nvSpPr>
          <p:spPr>
            <a:xfrm>
              <a:off x="1619250" y="2857500"/>
              <a:ext cx="9525" cy="228600"/>
            </a:xfrm>
            <a:custGeom>
              <a:avLst/>
              <a:gdLst/>
              <a:ahLst/>
              <a:cxnLst/>
              <a:rect l="l" t="t" r="r" b="b"/>
              <a:pathLst>
                <a:path w="9525" h="228600">
                  <a:moveTo>
                    <a:pt x="0" y="0"/>
                  </a:moveTo>
                  <a:lnTo>
                    <a:pt x="0" y="228600"/>
                  </a:lnTo>
                </a:path>
              </a:pathLst>
            </a:custGeom>
            <a:noFill/>
            <a:ln w="19050">
              <a:solidFill>
                <a:schemeClr val="accent4"/>
              </a:solidFill>
            </a:ln>
          </p:spPr>
        </p:sp>
        <p:sp>
          <p:nvSpPr>
            <p:cNvPr id="17" name="Ellipse 17"/>
            <p:cNvSpPr/>
            <p:nvPr/>
          </p:nvSpPr>
          <p:spPr>
            <a:xfrm>
              <a:off x="3238500" y="3086100"/>
              <a:ext cx="266700" cy="266700"/>
            </a:xfrm>
            <a:prstGeom prst="ellipse">
              <a:avLst/>
            </a:prstGeom>
            <a:solidFill>
              <a:schemeClr val="lt1"/>
            </a:solidFill>
            <a:ln w="38100">
              <a:solidFill>
                <a:schemeClr val="accent1"/>
              </a:solidFill>
            </a:ln>
          </p:spPr>
        </p:sp>
        <p:sp>
          <p:nvSpPr>
            <p:cNvPr id="18" name="TextBox 18"/>
            <p:cNvSpPr txBox="1"/>
            <p:nvPr/>
          </p:nvSpPr>
          <p:spPr>
            <a:xfrm>
              <a:off x="3131001" y="3419475"/>
              <a:ext cx="481698" cy="196697"/>
            </a:xfrm>
            <a:prstGeom prst="rect">
              <a:avLst/>
            </a:prstGeom>
            <a:noFill/>
            <a:ln>
              <a:noFill/>
            </a:ln>
          </p:spPr>
          <p:txBody>
            <a:bodyPr wrap="square" lIns="0" tIns="0" rIns="0" bIns="0" anchor="t" anchorCtr="0">
              <a:spAutoFit/>
            </a:bodyPr>
            <a:lstStyle/>
            <a:p>
              <a:pPr algn="ctr"/>
              <a:r>
                <a:rPr lang="en-US" sz="1500" b="1" dirty="0">
                  <a:solidFill>
                    <a:schemeClr val="accent1"/>
                  </a:solidFill>
                  <a:latin typeface="+mn-lt"/>
                  <a:ea typeface="+mn-ea"/>
                  <a:cs typeface="+mn-cs"/>
                </a:rPr>
                <a:t>2017</a:t>
              </a:r>
              <a:endParaRPr lang="en-US" sz="1500" b="1" dirty="0">
                <a:solidFill>
                  <a:schemeClr val="accent1"/>
                </a:solidFill>
                <a:latin typeface="+mn-lt"/>
                <a:ea typeface="+mn-ea"/>
                <a:cs typeface="+mn-cs"/>
              </a:endParaRPr>
            </a:p>
          </p:txBody>
        </p:sp>
        <p:sp>
          <p:nvSpPr>
            <p:cNvPr id="19" name="Rectangle 19"/>
            <p:cNvSpPr/>
            <p:nvPr/>
          </p:nvSpPr>
          <p:spPr>
            <a:xfrm>
              <a:off x="2628900" y="3676650"/>
              <a:ext cx="1485900" cy="990600"/>
            </a:xfrm>
            <a:prstGeom prst="roundRect">
              <a:avLst>
                <a:gd name="adj" fmla="val 9615"/>
              </a:avLst>
            </a:prstGeom>
            <a:solidFill>
              <a:schemeClr val="lt2"/>
            </a:solidFill>
            <a:ln>
              <a:noFill/>
            </a:ln>
          </p:spPr>
        </p:sp>
        <p:sp>
          <p:nvSpPr>
            <p:cNvPr id="20" name="TextBox 20"/>
            <p:cNvSpPr txBox="1"/>
            <p:nvPr/>
          </p:nvSpPr>
          <p:spPr>
            <a:xfrm>
              <a:off x="2934002" y="3780949"/>
              <a:ext cx="875696" cy="128422"/>
            </a:xfrm>
            <a:prstGeom prst="rect">
              <a:avLst/>
            </a:prstGeom>
            <a:noFill/>
            <a:ln>
              <a:noFill/>
            </a:ln>
          </p:spPr>
          <p:txBody>
            <a:bodyPr wrap="square" lIns="0" tIns="0" rIns="0" bIns="0" anchor="t" anchorCtr="0">
              <a:spAutoFit/>
            </a:bodyPr>
            <a:lstStyle/>
            <a:p>
              <a:pPr algn="ctr"/>
              <a:r>
                <a:rPr lang="en-US" sz="980" b="1" dirty="0">
                  <a:solidFill>
                    <a:schemeClr val="dk1"/>
                  </a:solidFill>
                  <a:latin typeface="微软雅黑" panose="020B0503020204020204" charset="-122"/>
                  <a:ea typeface="微软雅黑" panose="020B0503020204020204" charset="-122"/>
                  <a:cs typeface="微软雅黑" panose="020B0503020204020204" charset="-122"/>
                </a:rPr>
                <a:t>Transformer</a:t>
              </a:r>
              <a:endParaRPr lang="en-US" sz="98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1" name="TextBox 21"/>
            <p:cNvSpPr txBox="1"/>
            <p:nvPr/>
          </p:nvSpPr>
          <p:spPr>
            <a:xfrm>
              <a:off x="2705808" y="4006691"/>
              <a:ext cx="1332085" cy="106747"/>
            </a:xfrm>
            <a:prstGeom prst="rect">
              <a:avLst/>
            </a:prstGeom>
            <a:noFill/>
            <a:ln>
              <a:noFill/>
            </a:ln>
          </p:spPr>
          <p:txBody>
            <a:bodyPr wrap="square" lIns="0" tIns="0" rIns="0" bIns="0" anchor="t" anchorCtr="0">
              <a:spAutoFit/>
            </a:bodyPr>
            <a:lstStyle/>
            <a:p>
              <a:pPr algn="ctr"/>
              <a:r>
                <a:rPr lang="en-US" sz="820" dirty="0">
                  <a:solidFill>
                    <a:schemeClr val="dk2"/>
                  </a:solidFill>
                  <a:latin typeface="微软雅黑" panose="020B0503020204020204" charset="-122"/>
                  <a:ea typeface="微软雅黑" panose="020B0503020204020204" charset="-122"/>
                  <a:cs typeface="微软雅黑" panose="020B0503020204020204" charset="-122"/>
                </a:rPr>
                <a:t>Attention Is All You Need</a:t>
              </a:r>
              <a:endParaRPr lang="en-US"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2" name="TextBox 22"/>
            <p:cNvSpPr txBox="1"/>
            <p:nvPr/>
          </p:nvSpPr>
          <p:spPr>
            <a:xfrm>
              <a:off x="3033903" y="4178141"/>
              <a:ext cx="675894"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并行训练突破</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3" name="TextBox 23"/>
            <p:cNvSpPr txBox="1"/>
            <p:nvPr/>
          </p:nvSpPr>
          <p:spPr>
            <a:xfrm>
              <a:off x="2880093" y="4349591"/>
              <a:ext cx="983513"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BERT / GPT 双路线</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4" name="TextBox 24"/>
            <p:cNvSpPr txBox="1"/>
            <p:nvPr/>
          </p:nvSpPr>
          <p:spPr>
            <a:xfrm>
              <a:off x="2978372" y="4521041"/>
              <a:ext cx="786956"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预训练范式确立</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5" name="Line 25"/>
            <p:cNvSpPr/>
            <p:nvPr/>
          </p:nvSpPr>
          <p:spPr>
            <a:xfrm>
              <a:off x="3371850" y="3352800"/>
              <a:ext cx="9525" cy="323850"/>
            </a:xfrm>
            <a:custGeom>
              <a:avLst/>
              <a:gdLst/>
              <a:ahLst/>
              <a:cxnLst/>
              <a:rect l="l" t="t" r="r" b="b"/>
              <a:pathLst>
                <a:path w="9525" h="323850">
                  <a:moveTo>
                    <a:pt x="0" y="0"/>
                  </a:moveTo>
                  <a:lnTo>
                    <a:pt x="0" y="323850"/>
                  </a:lnTo>
                </a:path>
              </a:pathLst>
            </a:custGeom>
            <a:noFill/>
            <a:ln w="19050">
              <a:solidFill>
                <a:schemeClr val="accent4"/>
              </a:solidFill>
            </a:ln>
          </p:spPr>
        </p:sp>
        <p:sp>
          <p:nvSpPr>
            <p:cNvPr id="26" name="Ellipse 26"/>
            <p:cNvSpPr/>
            <p:nvPr/>
          </p:nvSpPr>
          <p:spPr>
            <a:xfrm>
              <a:off x="4991100" y="3086100"/>
              <a:ext cx="266700" cy="266700"/>
            </a:xfrm>
            <a:prstGeom prst="ellipse">
              <a:avLst/>
            </a:prstGeom>
            <a:solidFill>
              <a:schemeClr val="lt1"/>
            </a:solidFill>
            <a:ln w="38100">
              <a:solidFill>
                <a:schemeClr val="accent1"/>
              </a:solidFill>
            </a:ln>
          </p:spPr>
        </p:sp>
        <p:sp>
          <p:nvSpPr>
            <p:cNvPr id="27" name="TextBox 27"/>
            <p:cNvSpPr txBox="1"/>
            <p:nvPr/>
          </p:nvSpPr>
          <p:spPr>
            <a:xfrm>
              <a:off x="4883601" y="2790825"/>
              <a:ext cx="481698" cy="196697"/>
            </a:xfrm>
            <a:prstGeom prst="rect">
              <a:avLst/>
            </a:prstGeom>
            <a:noFill/>
            <a:ln>
              <a:noFill/>
            </a:ln>
          </p:spPr>
          <p:txBody>
            <a:bodyPr wrap="square" lIns="0" tIns="0" rIns="0" bIns="0" anchor="t" anchorCtr="0">
              <a:spAutoFit/>
            </a:bodyPr>
            <a:lstStyle/>
            <a:p>
              <a:pPr algn="ctr"/>
              <a:r>
                <a:rPr lang="en-US" sz="1500" b="1" dirty="0">
                  <a:solidFill>
                    <a:schemeClr val="accent1"/>
                  </a:solidFill>
                  <a:latin typeface="+mn-lt"/>
                  <a:ea typeface="+mn-ea"/>
                  <a:cs typeface="+mn-cs"/>
                </a:rPr>
                <a:t>2022</a:t>
              </a:r>
              <a:endParaRPr lang="en-US" sz="1500" b="1" dirty="0">
                <a:solidFill>
                  <a:schemeClr val="accent1"/>
                </a:solidFill>
                <a:latin typeface="+mn-lt"/>
                <a:ea typeface="+mn-ea"/>
                <a:cs typeface="+mn-cs"/>
              </a:endParaRPr>
            </a:p>
          </p:txBody>
        </p:sp>
        <p:sp>
          <p:nvSpPr>
            <p:cNvPr id="28" name="Rectangle 28"/>
            <p:cNvSpPr/>
            <p:nvPr/>
          </p:nvSpPr>
          <p:spPr>
            <a:xfrm>
              <a:off x="4381500" y="1866900"/>
              <a:ext cx="1485900" cy="950971"/>
            </a:xfrm>
            <a:prstGeom prst="roundRect">
              <a:avLst>
                <a:gd name="adj" fmla="val 9615"/>
              </a:avLst>
            </a:prstGeom>
            <a:solidFill>
              <a:schemeClr val="lt2"/>
            </a:solidFill>
            <a:ln>
              <a:noFill/>
            </a:ln>
          </p:spPr>
        </p:sp>
        <p:sp>
          <p:nvSpPr>
            <p:cNvPr id="29" name="TextBox 29"/>
            <p:cNvSpPr txBox="1"/>
            <p:nvPr/>
          </p:nvSpPr>
          <p:spPr>
            <a:xfrm>
              <a:off x="4682002" y="1971199"/>
              <a:ext cx="884897" cy="128422"/>
            </a:xfrm>
            <a:prstGeom prst="rect">
              <a:avLst/>
            </a:prstGeom>
            <a:noFill/>
            <a:ln>
              <a:noFill/>
            </a:ln>
          </p:spPr>
          <p:txBody>
            <a:bodyPr wrap="square" lIns="0" tIns="0" rIns="0" bIns="0" anchor="t" anchorCtr="0">
              <a:spAutoFit/>
            </a:bodyPr>
            <a:lstStyle/>
            <a:p>
              <a:pPr algn="ctr"/>
              <a:r>
                <a:rPr lang="zh-CN" sz="980" b="1" dirty="0">
                  <a:solidFill>
                    <a:schemeClr val="dk1"/>
                  </a:solidFill>
                  <a:latin typeface="微软雅黑" panose="020B0503020204020204" charset="-122"/>
                  <a:ea typeface="微软雅黑" panose="020B0503020204020204" charset="-122"/>
                  <a:cs typeface="微软雅黑" panose="020B0503020204020204" charset="-122"/>
                </a:rPr>
                <a:t>ChatGPT 发布</a:t>
              </a:r>
              <a:endParaRPr lang="zh-CN" sz="98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0" name="TextBox 30"/>
            <p:cNvSpPr txBox="1"/>
            <p:nvPr/>
          </p:nvSpPr>
          <p:spPr>
            <a:xfrm>
              <a:off x="4739302" y="2196941"/>
              <a:ext cx="770296"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5 天破百万用户</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1" name="TextBox 31"/>
            <p:cNvSpPr txBox="1"/>
            <p:nvPr/>
          </p:nvSpPr>
          <p:spPr>
            <a:xfrm>
              <a:off x="4562284" y="2368391"/>
              <a:ext cx="1124331"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GPT-3.5 / 175B 参数</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2" name="TextBox 32"/>
            <p:cNvSpPr txBox="1"/>
            <p:nvPr/>
          </p:nvSpPr>
          <p:spPr>
            <a:xfrm>
              <a:off x="4741240" y="2539841"/>
              <a:ext cx="766420"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生成式 AI 爆发</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3" name="TextBox 33"/>
            <p:cNvSpPr txBox="1"/>
            <p:nvPr/>
          </p:nvSpPr>
          <p:spPr>
            <a:xfrm>
              <a:off x="4620958" y="2711291"/>
              <a:ext cx="1006983"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RLHF 对齐人类意图</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4" name="Line 34"/>
            <p:cNvSpPr/>
            <p:nvPr/>
          </p:nvSpPr>
          <p:spPr>
            <a:xfrm>
              <a:off x="5124450" y="2857500"/>
              <a:ext cx="9525" cy="228600"/>
            </a:xfrm>
            <a:custGeom>
              <a:avLst/>
              <a:gdLst/>
              <a:ahLst/>
              <a:cxnLst/>
              <a:rect l="l" t="t" r="r" b="b"/>
              <a:pathLst>
                <a:path w="9525" h="228600">
                  <a:moveTo>
                    <a:pt x="0" y="0"/>
                  </a:moveTo>
                  <a:lnTo>
                    <a:pt x="0" y="228600"/>
                  </a:lnTo>
                </a:path>
              </a:pathLst>
            </a:custGeom>
            <a:noFill/>
            <a:ln w="19050">
              <a:solidFill>
                <a:schemeClr val="accent4"/>
              </a:solidFill>
            </a:ln>
          </p:spPr>
        </p:sp>
        <p:sp>
          <p:nvSpPr>
            <p:cNvPr id="35" name="Ellipse 35"/>
            <p:cNvSpPr/>
            <p:nvPr/>
          </p:nvSpPr>
          <p:spPr>
            <a:xfrm>
              <a:off x="6743700" y="3086100"/>
              <a:ext cx="266700" cy="266700"/>
            </a:xfrm>
            <a:prstGeom prst="ellipse">
              <a:avLst/>
            </a:prstGeom>
            <a:solidFill>
              <a:schemeClr val="lt1"/>
            </a:solidFill>
            <a:ln w="38100">
              <a:solidFill>
                <a:schemeClr val="accent1"/>
              </a:solidFill>
            </a:ln>
          </p:spPr>
        </p:sp>
        <p:sp>
          <p:nvSpPr>
            <p:cNvPr id="36" name="TextBox 36"/>
            <p:cNvSpPr txBox="1"/>
            <p:nvPr/>
          </p:nvSpPr>
          <p:spPr>
            <a:xfrm>
              <a:off x="6636201" y="3419475"/>
              <a:ext cx="481698" cy="196697"/>
            </a:xfrm>
            <a:prstGeom prst="rect">
              <a:avLst/>
            </a:prstGeom>
            <a:noFill/>
            <a:ln>
              <a:noFill/>
            </a:ln>
          </p:spPr>
          <p:txBody>
            <a:bodyPr wrap="square" lIns="0" tIns="0" rIns="0" bIns="0" anchor="t" anchorCtr="0">
              <a:spAutoFit/>
            </a:bodyPr>
            <a:lstStyle/>
            <a:p>
              <a:pPr algn="ctr"/>
              <a:r>
                <a:rPr lang="en-US" sz="1500" b="1" dirty="0">
                  <a:solidFill>
                    <a:schemeClr val="accent1"/>
                  </a:solidFill>
                  <a:latin typeface="+mn-lt"/>
                  <a:ea typeface="+mn-ea"/>
                  <a:cs typeface="+mn-cs"/>
                </a:rPr>
                <a:t>2024</a:t>
              </a:r>
              <a:endParaRPr lang="en-US" sz="1500" b="1" dirty="0">
                <a:solidFill>
                  <a:schemeClr val="accent1"/>
                </a:solidFill>
                <a:latin typeface="+mn-lt"/>
                <a:ea typeface="+mn-ea"/>
                <a:cs typeface="+mn-cs"/>
              </a:endParaRPr>
            </a:p>
          </p:txBody>
        </p:sp>
        <p:sp>
          <p:nvSpPr>
            <p:cNvPr id="37" name="Rectangle 37"/>
            <p:cNvSpPr/>
            <p:nvPr/>
          </p:nvSpPr>
          <p:spPr>
            <a:xfrm>
              <a:off x="6134100" y="3676650"/>
              <a:ext cx="1485900" cy="990600"/>
            </a:xfrm>
            <a:prstGeom prst="roundRect">
              <a:avLst>
                <a:gd name="adj" fmla="val 9615"/>
              </a:avLst>
            </a:prstGeom>
            <a:solidFill>
              <a:schemeClr val="lt2"/>
            </a:solidFill>
            <a:ln>
              <a:noFill/>
            </a:ln>
          </p:spPr>
        </p:sp>
        <p:sp>
          <p:nvSpPr>
            <p:cNvPr id="38" name="TextBox 38"/>
            <p:cNvSpPr txBox="1"/>
            <p:nvPr/>
          </p:nvSpPr>
          <p:spPr>
            <a:xfrm>
              <a:off x="6391245" y="3780949"/>
              <a:ext cx="971610" cy="128422"/>
            </a:xfrm>
            <a:prstGeom prst="rect">
              <a:avLst/>
            </a:prstGeom>
            <a:noFill/>
            <a:ln>
              <a:noFill/>
            </a:ln>
          </p:spPr>
          <p:txBody>
            <a:bodyPr wrap="square" lIns="0" tIns="0" rIns="0" bIns="0" anchor="t" anchorCtr="0">
              <a:spAutoFit/>
            </a:bodyPr>
            <a:lstStyle/>
            <a:p>
              <a:pPr algn="ctr"/>
              <a:r>
                <a:rPr lang="zh-CN" sz="980" b="1" dirty="0">
                  <a:solidFill>
                    <a:schemeClr val="dk1"/>
                  </a:solidFill>
                  <a:latin typeface="微软雅黑" panose="020B0503020204020204" charset="-122"/>
                  <a:ea typeface="微软雅黑" panose="020B0503020204020204" charset="-122"/>
                  <a:cs typeface="微软雅黑" panose="020B0503020204020204" charset="-122"/>
                </a:rPr>
                <a:t>多模态 · Agent</a:t>
              </a:r>
              <a:endParaRPr lang="zh-CN" sz="98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9" name="TextBox 39"/>
            <p:cNvSpPr txBox="1"/>
            <p:nvPr/>
          </p:nvSpPr>
          <p:spPr>
            <a:xfrm>
              <a:off x="6247016" y="4006691"/>
              <a:ext cx="1260067"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GPT-4o / Sora 文生视频</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0" name="TextBox 40"/>
            <p:cNvSpPr txBox="1"/>
            <p:nvPr/>
          </p:nvSpPr>
          <p:spPr>
            <a:xfrm>
              <a:off x="6483572" y="4178141"/>
              <a:ext cx="786956"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智能体自主办事</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1" name="TextBox 41"/>
            <p:cNvSpPr txBox="1"/>
            <p:nvPr/>
          </p:nvSpPr>
          <p:spPr>
            <a:xfrm>
              <a:off x="6461360" y="4349591"/>
              <a:ext cx="831380"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o1 开启推理范式</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2" name="TextBox 42"/>
            <p:cNvSpPr txBox="1"/>
            <p:nvPr/>
          </p:nvSpPr>
          <p:spPr>
            <a:xfrm>
              <a:off x="6300845" y="4521041"/>
              <a:ext cx="1152411"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DeepSeek R1 开源逆袭</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3" name="Line 43"/>
            <p:cNvSpPr/>
            <p:nvPr/>
          </p:nvSpPr>
          <p:spPr>
            <a:xfrm>
              <a:off x="6877050" y="3352800"/>
              <a:ext cx="9525" cy="323850"/>
            </a:xfrm>
            <a:custGeom>
              <a:avLst/>
              <a:gdLst/>
              <a:ahLst/>
              <a:cxnLst/>
              <a:rect l="l" t="t" r="r" b="b"/>
              <a:pathLst>
                <a:path w="9525" h="323850">
                  <a:moveTo>
                    <a:pt x="0" y="0"/>
                  </a:moveTo>
                  <a:lnTo>
                    <a:pt x="0" y="323850"/>
                  </a:lnTo>
                </a:path>
              </a:pathLst>
            </a:custGeom>
            <a:noFill/>
            <a:ln w="19050">
              <a:solidFill>
                <a:schemeClr val="accent4"/>
              </a:solidFill>
            </a:ln>
          </p:spPr>
        </p:sp>
        <p:sp>
          <p:nvSpPr>
            <p:cNvPr id="44" name="Ellipse 44"/>
            <p:cNvSpPr/>
            <p:nvPr/>
          </p:nvSpPr>
          <p:spPr>
            <a:xfrm>
              <a:off x="8477250" y="3067050"/>
              <a:ext cx="304800" cy="304800"/>
            </a:xfrm>
            <a:prstGeom prst="ellipse">
              <a:avLst/>
            </a:prstGeom>
            <a:solidFill>
              <a:schemeClr val="accent1"/>
            </a:solidFill>
            <a:ln>
              <a:noFill/>
            </a:ln>
          </p:spPr>
        </p:sp>
        <p:sp>
          <p:nvSpPr>
            <p:cNvPr id="45" name="TextBox 45"/>
            <p:cNvSpPr txBox="1"/>
            <p:nvPr/>
          </p:nvSpPr>
          <p:spPr>
            <a:xfrm>
              <a:off x="8388801" y="2790825"/>
              <a:ext cx="481698" cy="196697"/>
            </a:xfrm>
            <a:prstGeom prst="rect">
              <a:avLst/>
            </a:prstGeom>
            <a:noFill/>
            <a:ln>
              <a:noFill/>
            </a:ln>
          </p:spPr>
          <p:txBody>
            <a:bodyPr wrap="square" lIns="0" tIns="0" rIns="0" bIns="0" anchor="t" anchorCtr="0">
              <a:spAutoFit/>
            </a:bodyPr>
            <a:lstStyle/>
            <a:p>
              <a:pPr algn="ctr"/>
              <a:r>
                <a:rPr lang="en-US" sz="1500" b="1" dirty="0">
                  <a:solidFill>
                    <a:schemeClr val="accent1"/>
                  </a:solidFill>
                  <a:latin typeface="+mn-lt"/>
                  <a:ea typeface="+mn-ea"/>
                  <a:cs typeface="+mn-cs"/>
                </a:rPr>
                <a:t>2026</a:t>
              </a:r>
              <a:endParaRPr lang="en-US" sz="1500" b="1" dirty="0">
                <a:solidFill>
                  <a:schemeClr val="accent1"/>
                </a:solidFill>
                <a:latin typeface="+mn-lt"/>
                <a:ea typeface="+mn-ea"/>
                <a:cs typeface="+mn-cs"/>
              </a:endParaRPr>
            </a:p>
          </p:txBody>
        </p:sp>
        <p:sp>
          <p:nvSpPr>
            <p:cNvPr id="46" name="Rectangle 46"/>
            <p:cNvSpPr/>
            <p:nvPr/>
          </p:nvSpPr>
          <p:spPr>
            <a:xfrm>
              <a:off x="7876540" y="1866900"/>
              <a:ext cx="1496060" cy="950971"/>
            </a:xfrm>
            <a:prstGeom prst="roundRect">
              <a:avLst>
                <a:gd name="adj" fmla="val 9615"/>
              </a:avLst>
            </a:prstGeom>
            <a:solidFill>
              <a:schemeClr val="accent1"/>
            </a:solidFill>
            <a:ln>
              <a:noFill/>
            </a:ln>
          </p:spPr>
        </p:sp>
        <p:sp>
          <p:nvSpPr>
            <p:cNvPr id="47" name="TextBox 47"/>
            <p:cNvSpPr txBox="1"/>
            <p:nvPr/>
          </p:nvSpPr>
          <p:spPr>
            <a:xfrm>
              <a:off x="8132000" y="1971199"/>
              <a:ext cx="995299" cy="128422"/>
            </a:xfrm>
            <a:prstGeom prst="rect">
              <a:avLst/>
            </a:prstGeom>
            <a:noFill/>
            <a:ln>
              <a:noFill/>
            </a:ln>
          </p:spPr>
          <p:txBody>
            <a:bodyPr wrap="square" lIns="0" tIns="0" rIns="0" bIns="0" anchor="t" anchorCtr="0">
              <a:spAutoFit/>
            </a:bodyPr>
            <a:lstStyle/>
            <a:p>
              <a:pPr algn="ctr"/>
              <a:r>
                <a:rPr lang="zh-CN" sz="980" b="1" dirty="0">
                  <a:solidFill>
                    <a:srgbClr val="FFFFFF"/>
                  </a:solidFill>
                  <a:latin typeface="微软雅黑" panose="020B0503020204020204" charset="-122"/>
                  <a:ea typeface="微软雅黑" panose="020B0503020204020204" charset="-122"/>
                  <a:cs typeface="微软雅黑" panose="020B0503020204020204" charset="-122"/>
                </a:rPr>
                <a:t>具身智能 · 推理</a:t>
              </a:r>
              <a:endParaRPr lang="zh-CN" sz="98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8" name="TextBox 48"/>
            <p:cNvSpPr txBox="1"/>
            <p:nvPr/>
          </p:nvSpPr>
          <p:spPr>
            <a:xfrm>
              <a:off x="8088240" y="2196941"/>
              <a:ext cx="1082819" cy="106747"/>
            </a:xfrm>
            <a:prstGeom prst="rect">
              <a:avLst/>
            </a:prstGeom>
            <a:noFill/>
            <a:ln>
              <a:noFill/>
            </a:ln>
          </p:spPr>
          <p:txBody>
            <a:bodyPr wrap="square" lIns="0" tIns="0" rIns="0" bIns="0" anchor="t" anchorCtr="0">
              <a:spAutoFit/>
            </a:bodyPr>
            <a:lstStyle/>
            <a:p>
              <a:pPr algn="ctr"/>
              <a:r>
                <a:rPr lang="en-US" sz="820" dirty="0">
                  <a:solidFill>
                    <a:srgbClr val="D6E4F5"/>
                  </a:solidFill>
                  <a:latin typeface="微软雅黑" panose="020B0503020204020204" charset="-122"/>
                  <a:ea typeface="微软雅黑" panose="020B0503020204020204" charset="-122"/>
                  <a:cs typeface="微软雅黑" panose="020B0503020204020204" charset="-122"/>
                </a:rPr>
                <a:t>GPT-5.6 / Claude v5</a:t>
              </a:r>
              <a:endParaRPr lang="en-US" sz="82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49" name="TextBox 49"/>
            <p:cNvSpPr txBox="1"/>
            <p:nvPr/>
          </p:nvSpPr>
          <p:spPr>
            <a:xfrm>
              <a:off x="8016103" y="2368391"/>
              <a:ext cx="1227094" cy="106747"/>
            </a:xfrm>
            <a:prstGeom prst="rect">
              <a:avLst/>
            </a:prstGeom>
            <a:noFill/>
            <a:ln>
              <a:noFill/>
            </a:ln>
          </p:spPr>
          <p:txBody>
            <a:bodyPr wrap="square" lIns="0" tIns="0" rIns="0" bIns="0" anchor="t" anchorCtr="0">
              <a:spAutoFit/>
            </a:bodyPr>
            <a:lstStyle/>
            <a:p>
              <a:pPr algn="ctr"/>
              <a:r>
                <a:rPr lang="en-US" sz="820" dirty="0">
                  <a:solidFill>
                    <a:srgbClr val="D6E4F5"/>
                  </a:solidFill>
                  <a:latin typeface="微软雅黑" panose="020B0503020204020204" charset="-122"/>
                  <a:ea typeface="微软雅黑" panose="020B0503020204020204" charset="-122"/>
                  <a:cs typeface="微软雅黑" panose="020B0503020204020204" charset="-122"/>
                </a:rPr>
                <a:t>Gemini 3 / DeepSeek V4</a:t>
              </a:r>
              <a:endParaRPr lang="en-US" sz="82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50" name="TextBox 50"/>
            <p:cNvSpPr txBox="1"/>
            <p:nvPr/>
          </p:nvSpPr>
          <p:spPr>
            <a:xfrm>
              <a:off x="8236172" y="2539841"/>
              <a:ext cx="786956" cy="106747"/>
            </a:xfrm>
            <a:prstGeom prst="rect">
              <a:avLst/>
            </a:prstGeom>
            <a:noFill/>
            <a:ln>
              <a:noFill/>
            </a:ln>
          </p:spPr>
          <p:txBody>
            <a:bodyPr wrap="square" lIns="0" tIns="0" rIns="0" bIns="0" anchor="t" anchorCtr="0">
              <a:spAutoFit/>
            </a:bodyPr>
            <a:lstStyle/>
            <a:p>
              <a:pPr algn="ctr"/>
              <a:r>
                <a:rPr lang="zh-CN" sz="820" dirty="0">
                  <a:solidFill>
                    <a:srgbClr val="D6E4F5"/>
                  </a:solidFill>
                  <a:latin typeface="微软雅黑" panose="020B0503020204020204" charset="-122"/>
                  <a:ea typeface="微软雅黑" panose="020B0503020204020204" charset="-122"/>
                  <a:cs typeface="微软雅黑" panose="020B0503020204020204" charset="-122"/>
                </a:rPr>
                <a:t>人形机器人量产</a:t>
              </a:r>
              <a:endParaRPr lang="zh-CN" sz="82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51" name="TextBox 51"/>
            <p:cNvSpPr txBox="1"/>
            <p:nvPr/>
          </p:nvSpPr>
          <p:spPr>
            <a:xfrm>
              <a:off x="8161020" y="2711124"/>
              <a:ext cx="936625" cy="65024"/>
            </a:xfrm>
            <a:prstGeom prst="rect">
              <a:avLst/>
            </a:prstGeom>
            <a:noFill/>
            <a:ln>
              <a:noFill/>
            </a:ln>
          </p:spPr>
          <p:txBody>
            <a:bodyPr wrap="square" lIns="0" tIns="0" rIns="0" bIns="0" anchor="t" anchorCtr="0">
              <a:noAutofit/>
            </a:bodyPr>
            <a:lstStyle/>
            <a:p>
              <a:pPr algn="ctr"/>
              <a:r>
                <a:rPr lang="zh-CN" sz="820" dirty="0">
                  <a:solidFill>
                    <a:srgbClr val="D6E4F5"/>
                  </a:solidFill>
                  <a:latin typeface="微软雅黑" panose="020B0503020204020204" charset="-122"/>
                  <a:ea typeface="微软雅黑" panose="020B0503020204020204" charset="-122"/>
                  <a:cs typeface="微软雅黑" panose="020B0503020204020204" charset="-122"/>
                </a:rPr>
                <a:t>百万 token 上下文</a:t>
              </a:r>
              <a:endParaRPr lang="zh-CN" sz="82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52" name="Line 52"/>
            <p:cNvSpPr/>
            <p:nvPr/>
          </p:nvSpPr>
          <p:spPr>
            <a:xfrm>
              <a:off x="8629650" y="2857500"/>
              <a:ext cx="9525" cy="209550"/>
            </a:xfrm>
            <a:custGeom>
              <a:avLst/>
              <a:gdLst/>
              <a:ahLst/>
              <a:cxnLst/>
              <a:rect l="l" t="t" r="r" b="b"/>
              <a:pathLst>
                <a:path w="9525" h="209550">
                  <a:moveTo>
                    <a:pt x="0" y="0"/>
                  </a:moveTo>
                  <a:lnTo>
                    <a:pt x="0" y="209550"/>
                  </a:lnTo>
                </a:path>
              </a:pathLst>
            </a:custGeom>
            <a:noFill/>
            <a:ln w="19050">
              <a:solidFill>
                <a:schemeClr val="accent1"/>
              </a:solidFill>
            </a:ln>
          </p:spPr>
        </p:sp>
        <p:sp>
          <p:nvSpPr>
            <p:cNvPr id="53" name="Ellipse 53"/>
            <p:cNvSpPr/>
            <p:nvPr/>
          </p:nvSpPr>
          <p:spPr>
            <a:xfrm>
              <a:off x="10229850" y="3067050"/>
              <a:ext cx="304800" cy="304800"/>
            </a:xfrm>
            <a:prstGeom prst="ellipse">
              <a:avLst/>
            </a:prstGeom>
            <a:solidFill>
              <a:schemeClr val="accent2"/>
            </a:solidFill>
            <a:ln>
              <a:noFill/>
            </a:ln>
          </p:spPr>
        </p:sp>
        <p:sp>
          <p:nvSpPr>
            <p:cNvPr id="54" name="TextBox 54"/>
            <p:cNvSpPr txBox="1"/>
            <p:nvPr/>
          </p:nvSpPr>
          <p:spPr>
            <a:xfrm>
              <a:off x="10184568" y="3435668"/>
              <a:ext cx="395364" cy="177189"/>
            </a:xfrm>
            <a:prstGeom prst="rect">
              <a:avLst/>
            </a:prstGeom>
            <a:noFill/>
            <a:ln>
              <a:noFill/>
            </a:ln>
          </p:spPr>
          <p:txBody>
            <a:bodyPr wrap="square" lIns="0" tIns="0" rIns="0" bIns="0" anchor="t" anchorCtr="0">
              <a:spAutoFit/>
            </a:bodyPr>
            <a:lstStyle/>
            <a:p>
              <a:pPr algn="ctr"/>
              <a:r>
                <a:rPr lang="zh-CN" sz="1350" b="1" dirty="0">
                  <a:solidFill>
                    <a:schemeClr val="accent2"/>
                  </a:solidFill>
                  <a:latin typeface="+mn-lt"/>
                  <a:ea typeface="+mn-ea"/>
                  <a:cs typeface="+mn-cs"/>
                </a:rPr>
                <a:t>未来</a:t>
              </a:r>
              <a:endParaRPr lang="zh-CN" sz="1350" b="1" dirty="0">
                <a:solidFill>
                  <a:schemeClr val="accent2"/>
                </a:solidFill>
                <a:latin typeface="+mn-lt"/>
                <a:ea typeface="+mn-ea"/>
                <a:cs typeface="+mn-cs"/>
              </a:endParaRPr>
            </a:p>
          </p:txBody>
        </p:sp>
        <p:sp>
          <p:nvSpPr>
            <p:cNvPr id="55" name="Rectangle 55"/>
            <p:cNvSpPr/>
            <p:nvPr/>
          </p:nvSpPr>
          <p:spPr>
            <a:xfrm>
              <a:off x="9639300" y="3676650"/>
              <a:ext cx="1485900" cy="990600"/>
            </a:xfrm>
            <a:prstGeom prst="roundRect">
              <a:avLst>
                <a:gd name="adj" fmla="val 9615"/>
              </a:avLst>
            </a:prstGeom>
            <a:solidFill>
              <a:schemeClr val="lt2"/>
            </a:solidFill>
            <a:ln>
              <a:noFill/>
            </a:ln>
          </p:spPr>
        </p:sp>
        <p:sp>
          <p:nvSpPr>
            <p:cNvPr id="56" name="TextBox 56"/>
            <p:cNvSpPr txBox="1"/>
            <p:nvPr/>
          </p:nvSpPr>
          <p:spPr>
            <a:xfrm>
              <a:off x="10107903" y="3780949"/>
              <a:ext cx="548693" cy="128422"/>
            </a:xfrm>
            <a:prstGeom prst="rect">
              <a:avLst/>
            </a:prstGeom>
            <a:noFill/>
            <a:ln>
              <a:noFill/>
            </a:ln>
          </p:spPr>
          <p:txBody>
            <a:bodyPr wrap="square" lIns="0" tIns="0" rIns="0" bIns="0" anchor="t" anchorCtr="0">
              <a:spAutoFit/>
            </a:bodyPr>
            <a:lstStyle/>
            <a:p>
              <a:pPr algn="ctr"/>
              <a:r>
                <a:rPr lang="zh-CN" sz="980" b="1" dirty="0">
                  <a:solidFill>
                    <a:schemeClr val="dk1"/>
                  </a:solidFill>
                  <a:latin typeface="微软雅黑" panose="020B0503020204020204" charset="-122"/>
                  <a:ea typeface="微软雅黑" panose="020B0503020204020204" charset="-122"/>
                  <a:cs typeface="微软雅黑" panose="020B0503020204020204" charset="-122"/>
                </a:rPr>
                <a:t>迈向 AGI</a:t>
              </a:r>
              <a:endParaRPr lang="zh-CN" sz="98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7" name="TextBox 57"/>
            <p:cNvSpPr txBox="1"/>
            <p:nvPr/>
          </p:nvSpPr>
          <p:spPr>
            <a:xfrm>
              <a:off x="10044303" y="4006691"/>
              <a:ext cx="675894"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十万亿级参数</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8" name="TextBox 58"/>
            <p:cNvSpPr txBox="1"/>
            <p:nvPr/>
          </p:nvSpPr>
          <p:spPr>
            <a:xfrm>
              <a:off x="9988772" y="4178141"/>
              <a:ext cx="786956"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自我学习与进化</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9" name="TextBox 59"/>
            <p:cNvSpPr txBox="1"/>
            <p:nvPr/>
          </p:nvSpPr>
          <p:spPr>
            <a:xfrm>
              <a:off x="9988772" y="4349591"/>
              <a:ext cx="786956"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科学发现自动化</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0" name="TextBox 60"/>
            <p:cNvSpPr txBox="1"/>
            <p:nvPr/>
          </p:nvSpPr>
          <p:spPr>
            <a:xfrm>
              <a:off x="10044303" y="4521041"/>
              <a:ext cx="675894" cy="106747"/>
            </a:xfrm>
            <a:prstGeom prst="rect">
              <a:avLst/>
            </a:prstGeom>
            <a:noFill/>
            <a:ln>
              <a:noFill/>
            </a:ln>
          </p:spPr>
          <p:txBody>
            <a:bodyPr wrap="square" lIns="0" tIns="0" rIns="0" bIns="0" anchor="t" anchorCtr="0">
              <a:spAutoFit/>
            </a:bodyPr>
            <a:lstStyle/>
            <a:p>
              <a:pPr algn="ctr"/>
              <a:r>
                <a:rPr lang="zh-CN" sz="820" dirty="0">
                  <a:solidFill>
                    <a:schemeClr val="dk2"/>
                  </a:solidFill>
                  <a:latin typeface="微软雅黑" panose="020B0503020204020204" charset="-122"/>
                  <a:ea typeface="微软雅黑" panose="020B0503020204020204" charset="-122"/>
                  <a:cs typeface="微软雅黑" panose="020B0503020204020204" charset="-122"/>
                </a:rPr>
                <a:t>通用人工智能</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1" name="Line 61"/>
            <p:cNvSpPr/>
            <p:nvPr/>
          </p:nvSpPr>
          <p:spPr>
            <a:xfrm>
              <a:off x="10382250" y="3371850"/>
              <a:ext cx="9525" cy="304800"/>
            </a:xfrm>
            <a:custGeom>
              <a:avLst/>
              <a:gdLst/>
              <a:ahLst/>
              <a:cxnLst/>
              <a:rect l="l" t="t" r="r" b="b"/>
              <a:pathLst>
                <a:path w="9525" h="304800">
                  <a:moveTo>
                    <a:pt x="0" y="0"/>
                  </a:moveTo>
                  <a:lnTo>
                    <a:pt x="0" y="304800"/>
                  </a:lnTo>
                </a:path>
              </a:pathLst>
            </a:custGeom>
            <a:noFill/>
            <a:ln w="19050">
              <a:solidFill>
                <a:schemeClr val="accent4"/>
              </a:solidFill>
            </a:ln>
          </p:spPr>
        </p:sp>
      </p:grpSp>
      <p:grpSp>
        <p:nvGrpSpPr>
          <p:cNvPr id="102" name="Group 102"/>
          <p:cNvGrpSpPr/>
          <p:nvPr/>
        </p:nvGrpSpPr>
        <p:grpSpPr>
          <a:xfrm>
            <a:off x="571500" y="4953000"/>
            <a:ext cx="11049000" cy="1524000"/>
            <a:chOff x="571500" y="4953000"/>
            <a:chExt cx="11049000" cy="1524000"/>
          </a:xfrm>
        </p:grpSpPr>
        <p:sp>
          <p:nvSpPr>
            <p:cNvPr id="63" name="Rectangle 63"/>
            <p:cNvSpPr/>
            <p:nvPr/>
          </p:nvSpPr>
          <p:spPr>
            <a:xfrm>
              <a:off x="571500" y="4953000"/>
              <a:ext cx="11049000" cy="1524000"/>
            </a:xfrm>
            <a:prstGeom prst="roundRect">
              <a:avLst>
                <a:gd name="adj" fmla="val 7500"/>
              </a:avLst>
            </a:prstGeom>
            <a:solidFill>
              <a:schemeClr val="lt2"/>
            </a:solidFill>
            <a:ln>
              <a:noFill/>
            </a:ln>
          </p:spPr>
        </p:sp>
        <p:sp>
          <p:nvSpPr>
            <p:cNvPr id="64" name="TextBox 64"/>
            <p:cNvSpPr txBox="1"/>
            <p:nvPr/>
          </p:nvSpPr>
          <p:spPr>
            <a:xfrm>
              <a:off x="756666" y="5087302"/>
              <a:ext cx="1665535"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微软雅黑" panose="020B0503020204020204" charset="-122"/>
                  <a:ea typeface="微软雅黑" panose="020B0503020204020204" charset="-122"/>
                  <a:cs typeface="微软雅黑" panose="020B0503020204020204" charset="-122"/>
                </a:rPr>
                <a:t>三线并进 · 技术演进底座</a:t>
              </a:r>
              <a:endParaRPr lang="zh-CN" sz="105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5" name="TextBox 65"/>
            <p:cNvSpPr txBox="1"/>
            <p:nvPr/>
          </p:nvSpPr>
          <p:spPr>
            <a:xfrm>
              <a:off x="757238" y="5389245"/>
              <a:ext cx="263957"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算法</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6" name="TextBox 66"/>
            <p:cNvSpPr txBox="1"/>
            <p:nvPr/>
          </p:nvSpPr>
          <p:spPr>
            <a:xfrm>
              <a:off x="1423988" y="5389245"/>
              <a:ext cx="494157"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规则系统</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7" name="TextBox 67"/>
            <p:cNvSpPr txBox="1"/>
            <p:nvPr/>
          </p:nvSpPr>
          <p:spPr>
            <a:xfrm>
              <a:off x="2624138" y="53892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68" name="TextBox 68"/>
            <p:cNvSpPr txBox="1"/>
            <p:nvPr/>
          </p:nvSpPr>
          <p:spPr>
            <a:xfrm>
              <a:off x="2852738" y="5389245"/>
              <a:ext cx="494157"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统计学习</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9" name="TextBox 69"/>
            <p:cNvSpPr txBox="1"/>
            <p:nvPr/>
          </p:nvSpPr>
          <p:spPr>
            <a:xfrm>
              <a:off x="4052888" y="53892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70" name="TextBox 70"/>
            <p:cNvSpPr txBox="1"/>
            <p:nvPr/>
          </p:nvSpPr>
          <p:spPr>
            <a:xfrm>
              <a:off x="4281488" y="5389245"/>
              <a:ext cx="494157"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深度学习</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71" name="TextBox 71"/>
            <p:cNvSpPr txBox="1"/>
            <p:nvPr/>
          </p:nvSpPr>
          <p:spPr>
            <a:xfrm>
              <a:off x="5481638" y="53892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72" name="TextBox 72"/>
            <p:cNvSpPr txBox="1"/>
            <p:nvPr/>
          </p:nvSpPr>
          <p:spPr>
            <a:xfrm>
              <a:off x="5710238" y="5389245"/>
              <a:ext cx="808716"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微软雅黑" panose="020B0503020204020204" charset="-122"/>
                  <a:ea typeface="微软雅黑" panose="020B0503020204020204" charset="-122"/>
                  <a:cs typeface="微软雅黑" panose="020B0503020204020204" charset="-122"/>
                </a:rPr>
                <a:t>Transformer</a:t>
              </a:r>
              <a:endParaRPr lang="en-US"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3" name="TextBox 73"/>
            <p:cNvSpPr txBox="1"/>
            <p:nvPr/>
          </p:nvSpPr>
          <p:spPr>
            <a:xfrm>
              <a:off x="7234238" y="53892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74" name="TextBox 74"/>
            <p:cNvSpPr txBox="1"/>
            <p:nvPr/>
          </p:nvSpPr>
          <p:spPr>
            <a:xfrm>
              <a:off x="7462838" y="5389245"/>
              <a:ext cx="801624"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微软雅黑" panose="020B0503020204020204" charset="-122"/>
                  <a:ea typeface="微软雅黑" panose="020B0503020204020204" charset="-122"/>
                  <a:cs typeface="微软雅黑" panose="020B0503020204020204" charset="-122"/>
                </a:rPr>
                <a:t>大模型 + MoE</a:t>
              </a:r>
              <a:endParaRPr lang="zh-CN"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5" name="TextBox 75"/>
            <p:cNvSpPr txBox="1"/>
            <p:nvPr/>
          </p:nvSpPr>
          <p:spPr>
            <a:xfrm>
              <a:off x="8948738" y="53892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76" name="TextBox 76"/>
            <p:cNvSpPr txBox="1"/>
            <p:nvPr/>
          </p:nvSpPr>
          <p:spPr>
            <a:xfrm>
              <a:off x="9177338" y="5389245"/>
              <a:ext cx="1232718"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微软雅黑" panose="020B0503020204020204" charset="-122"/>
                  <a:ea typeface="微软雅黑" panose="020B0503020204020204" charset="-122"/>
                  <a:cs typeface="微软雅黑" panose="020B0503020204020204" charset="-122"/>
                </a:rPr>
                <a:t>推理强化 / 具身 VLA</a:t>
              </a:r>
              <a:endParaRPr lang="zh-CN"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77" name="TextBox 77"/>
            <p:cNvSpPr txBox="1"/>
            <p:nvPr/>
          </p:nvSpPr>
          <p:spPr>
            <a:xfrm>
              <a:off x="757238" y="5694045"/>
              <a:ext cx="263957"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数据</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8" name="TextBox 78"/>
            <p:cNvSpPr txBox="1"/>
            <p:nvPr/>
          </p:nvSpPr>
          <p:spPr>
            <a:xfrm>
              <a:off x="1423988" y="5694045"/>
              <a:ext cx="316763"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KB 级</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79" name="TextBox 79"/>
            <p:cNvSpPr txBox="1"/>
            <p:nvPr/>
          </p:nvSpPr>
          <p:spPr>
            <a:xfrm>
              <a:off x="2624138" y="56940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80" name="TextBox 80"/>
            <p:cNvSpPr txBox="1"/>
            <p:nvPr/>
          </p:nvSpPr>
          <p:spPr>
            <a:xfrm>
              <a:off x="2852738" y="5694045"/>
              <a:ext cx="463982" cy="176212"/>
            </a:xfrm>
            <a:prstGeom prst="rect">
              <a:avLst/>
            </a:prstGeom>
            <a:noFill/>
            <a:ln>
              <a:noFill/>
            </a:ln>
          </p:spPr>
          <p:txBody>
            <a:bodyPr wrap="none" lIns="0" tIns="0" rIns="0" bIns="0" anchor="t" anchorCtr="0">
              <a:spAutoFit/>
            </a:bodyPr>
            <a:lstStyle/>
            <a:p>
              <a:pPr algn="l"/>
              <a:r>
                <a:rPr lang="en-US" sz="900" dirty="0">
                  <a:solidFill>
                    <a:schemeClr val="dk2"/>
                  </a:solidFill>
                  <a:latin typeface="微软雅黑" panose="020B0503020204020204" charset="-122"/>
                  <a:ea typeface="微软雅黑" panose="020B0503020204020204" charset="-122"/>
                  <a:cs typeface="微软雅黑" panose="020B0503020204020204" charset="-122"/>
                </a:rPr>
                <a:t>MB / GB</a:t>
              </a:r>
              <a:endParaRPr lang="en-US"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81" name="TextBox 81"/>
            <p:cNvSpPr txBox="1"/>
            <p:nvPr/>
          </p:nvSpPr>
          <p:spPr>
            <a:xfrm>
              <a:off x="4052888" y="56940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82" name="TextBox 82"/>
            <p:cNvSpPr txBox="1"/>
            <p:nvPr/>
          </p:nvSpPr>
          <p:spPr>
            <a:xfrm>
              <a:off x="4281488" y="5694045"/>
              <a:ext cx="572795"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TB 级语料</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83" name="TextBox 83"/>
            <p:cNvSpPr txBox="1"/>
            <p:nvPr/>
          </p:nvSpPr>
          <p:spPr>
            <a:xfrm>
              <a:off x="5481638" y="56940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84" name="TextBox 84"/>
            <p:cNvSpPr txBox="1"/>
            <p:nvPr/>
          </p:nvSpPr>
          <p:spPr>
            <a:xfrm>
              <a:off x="5710238" y="5694045"/>
              <a:ext cx="600959"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微软雅黑" panose="020B0503020204020204" charset="-122"/>
                  <a:ea typeface="微软雅黑" panose="020B0503020204020204" charset="-122"/>
                  <a:cs typeface="微软雅黑" panose="020B0503020204020204" charset="-122"/>
                </a:rPr>
                <a:t>PB 级网页</a:t>
              </a:r>
              <a:endParaRPr lang="zh-CN"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5" name="TextBox 85"/>
            <p:cNvSpPr txBox="1"/>
            <p:nvPr/>
          </p:nvSpPr>
          <p:spPr>
            <a:xfrm>
              <a:off x="7234238" y="56940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86" name="TextBox 86"/>
            <p:cNvSpPr txBox="1"/>
            <p:nvPr/>
          </p:nvSpPr>
          <p:spPr>
            <a:xfrm>
              <a:off x="7462838" y="5694045"/>
              <a:ext cx="645604"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微软雅黑" panose="020B0503020204020204" charset="-122"/>
                  <a:ea typeface="微软雅黑" panose="020B0503020204020204" charset="-122"/>
                  <a:cs typeface="微软雅黑" panose="020B0503020204020204" charset="-122"/>
                </a:rPr>
                <a:t>多模态对齐</a:t>
              </a:r>
              <a:endParaRPr lang="zh-CN"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7" name="TextBox 87"/>
            <p:cNvSpPr txBox="1"/>
            <p:nvPr/>
          </p:nvSpPr>
          <p:spPr>
            <a:xfrm>
              <a:off x="8948738" y="56940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88" name="TextBox 88"/>
            <p:cNvSpPr txBox="1"/>
            <p:nvPr/>
          </p:nvSpPr>
          <p:spPr>
            <a:xfrm>
              <a:off x="9177338" y="5694045"/>
              <a:ext cx="1173550"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微软雅黑" panose="020B0503020204020204" charset="-122"/>
                  <a:ea typeface="微软雅黑" panose="020B0503020204020204" charset="-122"/>
                  <a:cs typeface="微软雅黑" panose="020B0503020204020204" charset="-122"/>
                </a:rPr>
                <a:t>合成数据 / 具身数据</a:t>
              </a:r>
              <a:endParaRPr lang="zh-CN"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9" name="TextBox 89"/>
            <p:cNvSpPr txBox="1"/>
            <p:nvPr/>
          </p:nvSpPr>
          <p:spPr>
            <a:xfrm>
              <a:off x="757238" y="5998845"/>
              <a:ext cx="263957"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算力</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90" name="TextBox 90"/>
            <p:cNvSpPr txBox="1"/>
            <p:nvPr/>
          </p:nvSpPr>
          <p:spPr>
            <a:xfrm>
              <a:off x="1423988" y="5998845"/>
              <a:ext cx="220751" cy="176212"/>
            </a:xfrm>
            <a:prstGeom prst="rect">
              <a:avLst/>
            </a:prstGeom>
            <a:noFill/>
            <a:ln>
              <a:noFill/>
            </a:ln>
          </p:spPr>
          <p:txBody>
            <a:bodyPr wrap="none" lIns="0" tIns="0" rIns="0" bIns="0" anchor="t" anchorCtr="0">
              <a:spAutoFit/>
            </a:bodyPr>
            <a:lstStyle/>
            <a:p>
              <a:pPr algn="l"/>
              <a:r>
                <a:rPr lang="en-US" sz="900" dirty="0">
                  <a:solidFill>
                    <a:schemeClr val="dk2"/>
                  </a:solidFill>
                  <a:latin typeface="微软雅黑" panose="020B0503020204020204" charset="-122"/>
                  <a:ea typeface="微软雅黑" panose="020B0503020204020204" charset="-122"/>
                  <a:cs typeface="微软雅黑" panose="020B0503020204020204" charset="-122"/>
                </a:rPr>
                <a:t>CPU</a:t>
              </a:r>
              <a:endParaRPr lang="en-US"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91" name="TextBox 91"/>
            <p:cNvSpPr txBox="1"/>
            <p:nvPr/>
          </p:nvSpPr>
          <p:spPr>
            <a:xfrm>
              <a:off x="2624138" y="59988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92" name="TextBox 92"/>
            <p:cNvSpPr txBox="1"/>
            <p:nvPr/>
          </p:nvSpPr>
          <p:spPr>
            <a:xfrm>
              <a:off x="2852738" y="5998845"/>
              <a:ext cx="515188"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GPU 并行</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93" name="TextBox 93"/>
            <p:cNvSpPr txBox="1"/>
            <p:nvPr/>
          </p:nvSpPr>
          <p:spPr>
            <a:xfrm>
              <a:off x="4052888" y="59988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94" name="TextBox 94"/>
            <p:cNvSpPr txBox="1"/>
            <p:nvPr/>
          </p:nvSpPr>
          <p:spPr>
            <a:xfrm>
              <a:off x="4281488" y="5998845"/>
              <a:ext cx="585597"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A100 集群</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95" name="TextBox 95"/>
            <p:cNvSpPr txBox="1"/>
            <p:nvPr/>
          </p:nvSpPr>
          <p:spPr>
            <a:xfrm>
              <a:off x="5481638" y="59988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96" name="TextBox 96"/>
            <p:cNvSpPr txBox="1"/>
            <p:nvPr/>
          </p:nvSpPr>
          <p:spPr>
            <a:xfrm>
              <a:off x="5710238" y="5998845"/>
              <a:ext cx="755538"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微软雅黑" panose="020B0503020204020204" charset="-122"/>
                  <a:ea typeface="微软雅黑" panose="020B0503020204020204" charset="-122"/>
                  <a:cs typeface="微软雅黑" panose="020B0503020204020204" charset="-122"/>
                </a:rPr>
                <a:t>H100 / H200</a:t>
              </a:r>
              <a:endParaRPr lang="en-US"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97" name="TextBox 97"/>
            <p:cNvSpPr txBox="1"/>
            <p:nvPr/>
          </p:nvSpPr>
          <p:spPr>
            <a:xfrm>
              <a:off x="7234238" y="59988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98" name="TextBox 98"/>
            <p:cNvSpPr txBox="1"/>
            <p:nvPr/>
          </p:nvSpPr>
          <p:spPr>
            <a:xfrm>
              <a:off x="7462838" y="5998845"/>
              <a:ext cx="937001"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微软雅黑" panose="020B0503020204020204" charset="-122"/>
                  <a:ea typeface="微软雅黑" panose="020B0503020204020204" charset="-122"/>
                  <a:cs typeface="微软雅黑" panose="020B0503020204020204" charset="-122"/>
                </a:rPr>
                <a:t>GB300 / 国产芯</a:t>
              </a:r>
              <a:endParaRPr lang="zh-CN"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99" name="TextBox 99"/>
            <p:cNvSpPr txBox="1"/>
            <p:nvPr/>
          </p:nvSpPr>
          <p:spPr>
            <a:xfrm>
              <a:off x="8948738" y="5998845"/>
              <a:ext cx="14279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-&gt;</a:t>
              </a:r>
              <a:endParaRPr lang="en-US" sz="900" dirty="0">
                <a:solidFill>
                  <a:schemeClr val="accent5"/>
                </a:solidFill>
                <a:latin typeface="+mn-lt"/>
                <a:ea typeface="+mn-ea"/>
                <a:cs typeface="+mn-cs"/>
              </a:endParaRPr>
            </a:p>
          </p:txBody>
        </p:sp>
        <p:sp>
          <p:nvSpPr>
            <p:cNvPr id="100" name="TextBox 100"/>
            <p:cNvSpPr txBox="1"/>
            <p:nvPr/>
          </p:nvSpPr>
          <p:spPr>
            <a:xfrm>
              <a:off x="9177338" y="5998845"/>
              <a:ext cx="1046335"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微软雅黑" panose="020B0503020204020204" charset="-122"/>
                  <a:ea typeface="微软雅黑" panose="020B0503020204020204" charset="-122"/>
                  <a:cs typeface="微软雅黑" panose="020B0503020204020204" charset="-122"/>
                </a:rPr>
                <a:t>十万卡 / 智算中心</a:t>
              </a:r>
              <a:endParaRPr lang="zh-CN" sz="9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1" name="TextBox 101"/>
            <p:cNvSpPr txBox="1"/>
            <p:nvPr/>
          </p:nvSpPr>
          <p:spPr>
            <a:xfrm>
              <a:off x="757238" y="6265545"/>
              <a:ext cx="5584622"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三浪叠加:大模型(语言智能)-&gt; 智能体(任务自主)-&gt; 具身智能(物理交互),AI 从“会说”走向“会做”</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solidFill>
            <a:schemeClr val="accent1"/>
          </a:solidFill>
          <a:ln>
            <a:noFill/>
          </a:ln>
        </p:spPr>
      </p:sp>
      <p:sp>
        <p:nvSpPr>
          <p:cNvPr id="3" name="Rectangle 3"/>
          <p:cNvSpPr/>
          <p:nvPr/>
        </p:nvSpPr>
        <p:spPr>
          <a:xfrm>
            <a:off x="571500" y="476250"/>
            <a:ext cx="57150" cy="361950"/>
          </a:xfrm>
          <a:prstGeom prst="roundRect">
            <a:avLst>
              <a:gd name="adj" fmla="val 50000"/>
            </a:avLst>
          </a:prstGeom>
          <a:solidFill>
            <a:schemeClr val="accent1"/>
          </a:solidFill>
          <a:ln>
            <a:noFill/>
          </a:ln>
        </p:spPr>
      </p:sp>
      <p:sp>
        <p:nvSpPr>
          <p:cNvPr id="4" name="TextBox 4"/>
          <p:cNvSpPr txBox="1"/>
          <p:nvPr/>
        </p:nvSpPr>
        <p:spPr>
          <a:xfrm>
            <a:off x="750570" y="519112"/>
            <a:ext cx="1753476"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微软雅黑" panose="020B0503020204020204" charset="-122"/>
                <a:ea typeface="微软雅黑" panose="020B0503020204020204" charset="-122"/>
                <a:cs typeface="微软雅黑" panose="020B0503020204020204" charset="-122"/>
              </a:rPr>
              <a:t>AI 发展现状</a:t>
            </a:r>
            <a:endParaRPr lang="zh-CN" sz="22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nvSpPr>
        <p:spPr>
          <a:xfrm>
            <a:off x="756666" y="896302"/>
            <a:ext cx="6309233" cy="205359"/>
          </a:xfrm>
          <a:prstGeom prst="rect">
            <a:avLst/>
          </a:prstGeom>
          <a:noFill/>
          <a:ln>
            <a:noFill/>
          </a:ln>
        </p:spPr>
        <p:txBody>
          <a:bodyPr wrap="none" lIns="0" tIns="0" rIns="0" bIns="0" anchor="t" anchorCtr="0">
            <a:spAutoFit/>
          </a:bodyPr>
          <a:lstStyle/>
          <a:p>
            <a:pPr algn="l"/>
            <a:r>
              <a:rPr lang="zh-CN" sz="1050" dirty="0">
                <a:solidFill>
                  <a:schemeClr val="dk2"/>
                </a:solidFill>
                <a:latin typeface="微软雅黑" panose="020B0503020204020204" charset="-122"/>
                <a:ea typeface="微软雅黑" panose="020B0503020204020204" charset="-122"/>
                <a:cs typeface="微软雅黑" panose="020B0503020204020204" charset="-122"/>
              </a:rPr>
              <a:t>大模型 / 智能体 / 具身智能三浪并进,GPT-5.6 / Claude v5 / Gemini 3 同台,全球 AI 市场高速扩张</a:t>
            </a:r>
            <a:endParaRPr lang="zh-CN" sz="1050" dirty="0">
              <a:solidFill>
                <a:schemeClr val="dk2"/>
              </a:solidFill>
              <a:latin typeface="微软雅黑" panose="020B0503020204020204" charset="-122"/>
              <a:ea typeface="微软雅黑" panose="020B0503020204020204" charset="-122"/>
              <a:cs typeface="微软雅黑" panose="020B0503020204020204" charset="-122"/>
            </a:endParaRPr>
          </a:p>
        </p:txBody>
      </p:sp>
      <p:grpSp>
        <p:nvGrpSpPr>
          <p:cNvPr id="60" name="Group 60"/>
          <p:cNvGrpSpPr/>
          <p:nvPr/>
        </p:nvGrpSpPr>
        <p:grpSpPr>
          <a:xfrm>
            <a:off x="571500" y="1238250"/>
            <a:ext cx="11049000" cy="3238500"/>
            <a:chOff x="571500" y="1238250"/>
            <a:chExt cx="11049000" cy="3238500"/>
          </a:xfrm>
        </p:grpSpPr>
        <p:sp>
          <p:nvSpPr>
            <p:cNvPr id="6" name="Rectangle 6"/>
            <p:cNvSpPr/>
            <p:nvPr/>
          </p:nvSpPr>
          <p:spPr>
            <a:xfrm>
              <a:off x="571500" y="1238250"/>
              <a:ext cx="3676650" cy="3238500"/>
            </a:xfrm>
            <a:prstGeom prst="roundRect">
              <a:avLst>
                <a:gd name="adj" fmla="val 4118"/>
              </a:avLst>
            </a:prstGeom>
            <a:solidFill>
              <a:schemeClr val="lt2"/>
            </a:solidFill>
            <a:ln>
              <a:noFill/>
            </a:ln>
          </p:spPr>
        </p:sp>
        <p:sp>
          <p:nvSpPr>
            <p:cNvPr id="7" name="Rectangle 7"/>
            <p:cNvSpPr/>
            <p:nvPr/>
          </p:nvSpPr>
          <p:spPr>
            <a:xfrm>
              <a:off x="571500" y="1238250"/>
              <a:ext cx="3676650" cy="514350"/>
            </a:xfrm>
            <a:prstGeom prst="roundRect">
              <a:avLst>
                <a:gd name="adj" fmla="val 25926"/>
              </a:avLst>
            </a:prstGeom>
            <a:solidFill>
              <a:schemeClr val="accent1"/>
            </a:solidFill>
            <a:ln>
              <a:noFill/>
            </a:ln>
          </p:spPr>
        </p:sp>
        <p:sp>
          <p:nvSpPr>
            <p:cNvPr id="8" name="Rectangle 8"/>
            <p:cNvSpPr/>
            <p:nvPr/>
          </p:nvSpPr>
          <p:spPr>
            <a:xfrm>
              <a:off x="571500" y="1619250"/>
              <a:ext cx="3676650" cy="133350"/>
            </a:xfrm>
            <a:prstGeom prst="rect">
              <a:avLst/>
            </a:prstGeom>
            <a:solidFill>
              <a:schemeClr val="accent1"/>
            </a:solidFill>
            <a:ln>
              <a:noFill/>
            </a:ln>
          </p:spPr>
        </p:sp>
        <p:sp>
          <p:nvSpPr>
            <p:cNvPr id="9" name="Ellipse 9"/>
            <p:cNvSpPr/>
            <p:nvPr/>
          </p:nvSpPr>
          <p:spPr>
            <a:xfrm>
              <a:off x="781050" y="1343025"/>
              <a:ext cx="304800" cy="304800"/>
            </a:xfrm>
            <a:prstGeom prst="ellipse">
              <a:avLst/>
            </a:prstGeom>
            <a:solidFill>
              <a:schemeClr val="lt1"/>
            </a:solidFill>
            <a:ln>
              <a:noFill/>
            </a:ln>
          </p:spPr>
        </p:sp>
        <p:sp>
          <p:nvSpPr>
            <p:cNvPr id="10" name="TextBox 10"/>
            <p:cNvSpPr txBox="1"/>
            <p:nvPr/>
          </p:nvSpPr>
          <p:spPr>
            <a:xfrm>
              <a:off x="884005" y="1431131"/>
              <a:ext cx="98891"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mn-lt"/>
                  <a:ea typeface="+mn-ea"/>
                  <a:cs typeface="+mn-cs"/>
                </a:rPr>
                <a:t>1</a:t>
              </a:r>
              <a:endParaRPr lang="en-US" sz="1120" b="1" dirty="0">
                <a:solidFill>
                  <a:schemeClr val="accent1"/>
                </a:solidFill>
                <a:latin typeface="+mn-lt"/>
                <a:ea typeface="+mn-ea"/>
                <a:cs typeface="+mn-cs"/>
              </a:endParaRPr>
            </a:p>
          </p:txBody>
        </p:sp>
        <p:sp>
          <p:nvSpPr>
            <p:cNvPr id="11" name="TextBox 11"/>
            <p:cNvSpPr txBox="1"/>
            <p:nvPr/>
          </p:nvSpPr>
          <p:spPr>
            <a:xfrm>
              <a:off x="1192911" y="1408271"/>
              <a:ext cx="2058944"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微软雅黑" panose="020B0503020204020204" charset="-122"/>
                  <a:ea typeface="微软雅黑" panose="020B0503020204020204" charset="-122"/>
                  <a:cs typeface="微软雅黑" panose="020B0503020204020204" charset="-122"/>
                </a:rPr>
                <a:t>大模型 · 语言智能基座</a:t>
              </a:r>
              <a:endParaRPr lang="zh-CN" sz="142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nvSpPr>
          <p:spPr>
            <a:xfrm>
              <a:off x="757238" y="1922145"/>
              <a:ext cx="51838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核心指标</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3" name="TextBox 13"/>
            <p:cNvSpPr txBox="1"/>
            <p:nvPr/>
          </p:nvSpPr>
          <p:spPr>
            <a:xfrm>
              <a:off x="757238" y="2131695"/>
              <a:ext cx="1392555"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参数:十万亿级 MoE 架构</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4" name="TextBox 14"/>
            <p:cNvSpPr txBox="1"/>
            <p:nvPr/>
          </p:nvSpPr>
          <p:spPr>
            <a:xfrm>
              <a:off x="757238" y="2322195"/>
              <a:ext cx="1796605"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上下文:200 万 - 1000 万 tokens</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5" name="TextBox 15"/>
            <p:cNvSpPr txBox="1"/>
            <p:nvPr/>
          </p:nvSpPr>
          <p:spPr>
            <a:xfrm>
              <a:off x="757238" y="2512695"/>
              <a:ext cx="1673733"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推理:MMLU 95% / GPQA 85%</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6" name="TextBox 16"/>
            <p:cNvSpPr txBox="1"/>
            <p:nvPr/>
          </p:nvSpPr>
          <p:spPr>
            <a:xfrm>
              <a:off x="757238" y="2703195"/>
              <a:ext cx="1487653"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多模态:文/图/音/视频统一</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7" name="TextBox 17"/>
            <p:cNvSpPr txBox="1"/>
            <p:nvPr/>
          </p:nvSpPr>
          <p:spPr>
            <a:xfrm>
              <a:off x="757238" y="2969895"/>
              <a:ext cx="68376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代表(2026)</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8" name="TextBox 18"/>
            <p:cNvSpPr txBox="1"/>
            <p:nvPr/>
          </p:nvSpPr>
          <p:spPr>
            <a:xfrm>
              <a:off x="757238" y="3179445"/>
              <a:ext cx="1791226" cy="176212"/>
            </a:xfrm>
            <a:prstGeom prst="rect">
              <a:avLst/>
            </a:prstGeom>
            <a:noFill/>
            <a:ln>
              <a:noFill/>
            </a:ln>
          </p:spPr>
          <p:txBody>
            <a:bodyPr wrap="none" lIns="0" tIns="0" rIns="0" bIns="0" anchor="t" anchorCtr="0">
              <a:spAutoFit/>
            </a:bodyPr>
            <a:lstStyle/>
            <a:p>
              <a:pPr algn="l"/>
              <a:r>
                <a:rPr lang="en-US" sz="900" dirty="0">
                  <a:solidFill>
                    <a:schemeClr val="dk1"/>
                  </a:solidFill>
                  <a:latin typeface="微软雅黑" panose="020B0503020204020204" charset="-122"/>
                  <a:ea typeface="微软雅黑" panose="020B0503020204020204" charset="-122"/>
                  <a:cs typeface="微软雅黑" panose="020B0503020204020204" charset="-122"/>
                </a:rPr>
                <a:t>GPT-5.6 / Claude v5 / Gemini 3</a:t>
              </a:r>
              <a:endParaRPr lang="en-US"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9" name="TextBox 19"/>
            <p:cNvSpPr txBox="1"/>
            <p:nvPr/>
          </p:nvSpPr>
          <p:spPr>
            <a:xfrm>
              <a:off x="757238" y="3369945"/>
              <a:ext cx="1883201"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DeepSeek V4 / Qwen3 / 文心 5.0</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0" name="TextBox 20"/>
            <p:cNvSpPr txBox="1"/>
            <p:nvPr/>
          </p:nvSpPr>
          <p:spPr>
            <a:xfrm>
              <a:off x="752094" y="3523298"/>
              <a:ext cx="1205040"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$3,910亿</a:t>
              </a:r>
              <a:endParaRPr lang="zh-CN" sz="1950" b="1" dirty="0">
                <a:solidFill>
                  <a:schemeClr val="accent1"/>
                </a:solidFill>
                <a:latin typeface="+mn-lt"/>
                <a:ea typeface="+mn-ea"/>
                <a:cs typeface="+mn-cs"/>
              </a:endParaRPr>
            </a:p>
          </p:txBody>
        </p:sp>
        <p:sp>
          <p:nvSpPr>
            <p:cNvPr id="21" name="TextBox 21"/>
            <p:cNvSpPr txBox="1"/>
            <p:nvPr/>
          </p:nvSpPr>
          <p:spPr>
            <a:xfrm>
              <a:off x="757238" y="3835241"/>
              <a:ext cx="1648337"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2025 全球 AI 市场(Precedence)</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2" name="TextBox 22"/>
            <p:cNvSpPr txBox="1"/>
            <p:nvPr/>
          </p:nvSpPr>
          <p:spPr>
            <a:xfrm>
              <a:off x="757238" y="4120991"/>
              <a:ext cx="1308945"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推理成本两年下降超 90%,</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3" name="TextBox 23"/>
            <p:cNvSpPr txBox="1"/>
            <p:nvPr/>
          </p:nvSpPr>
          <p:spPr>
            <a:xfrm>
              <a:off x="757238" y="4292441"/>
              <a:ext cx="1342263"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开源模型性能逼近闭源旗舰</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4" name="Rectangle 24"/>
            <p:cNvSpPr/>
            <p:nvPr/>
          </p:nvSpPr>
          <p:spPr>
            <a:xfrm>
              <a:off x="4257675" y="1238250"/>
              <a:ext cx="3676650" cy="3238500"/>
            </a:xfrm>
            <a:prstGeom prst="roundRect">
              <a:avLst>
                <a:gd name="adj" fmla="val 4118"/>
              </a:avLst>
            </a:prstGeom>
            <a:solidFill>
              <a:schemeClr val="lt2"/>
            </a:solidFill>
            <a:ln>
              <a:noFill/>
            </a:ln>
          </p:spPr>
        </p:sp>
        <p:sp>
          <p:nvSpPr>
            <p:cNvPr id="25" name="Rectangle 25"/>
            <p:cNvSpPr/>
            <p:nvPr/>
          </p:nvSpPr>
          <p:spPr>
            <a:xfrm>
              <a:off x="4257675" y="1238250"/>
              <a:ext cx="3676650" cy="514350"/>
            </a:xfrm>
            <a:prstGeom prst="roundRect">
              <a:avLst>
                <a:gd name="adj" fmla="val 25926"/>
              </a:avLst>
            </a:prstGeom>
            <a:solidFill>
              <a:schemeClr val="accent2"/>
            </a:solidFill>
            <a:ln>
              <a:noFill/>
            </a:ln>
          </p:spPr>
        </p:sp>
        <p:sp>
          <p:nvSpPr>
            <p:cNvPr id="26" name="Rectangle 26"/>
            <p:cNvSpPr/>
            <p:nvPr/>
          </p:nvSpPr>
          <p:spPr>
            <a:xfrm>
              <a:off x="4257675" y="1619250"/>
              <a:ext cx="3676650" cy="133350"/>
            </a:xfrm>
            <a:prstGeom prst="rect">
              <a:avLst/>
            </a:prstGeom>
            <a:solidFill>
              <a:schemeClr val="accent2"/>
            </a:solidFill>
            <a:ln>
              <a:noFill/>
            </a:ln>
          </p:spPr>
        </p:sp>
        <p:sp>
          <p:nvSpPr>
            <p:cNvPr id="27" name="Ellipse 27"/>
            <p:cNvSpPr/>
            <p:nvPr/>
          </p:nvSpPr>
          <p:spPr>
            <a:xfrm>
              <a:off x="4467225" y="1343025"/>
              <a:ext cx="304800" cy="304800"/>
            </a:xfrm>
            <a:prstGeom prst="ellipse">
              <a:avLst/>
            </a:prstGeom>
            <a:solidFill>
              <a:schemeClr val="lt1"/>
            </a:solidFill>
            <a:ln>
              <a:noFill/>
            </a:ln>
          </p:spPr>
        </p:sp>
        <p:sp>
          <p:nvSpPr>
            <p:cNvPr id="28" name="TextBox 28"/>
            <p:cNvSpPr txBox="1"/>
            <p:nvPr/>
          </p:nvSpPr>
          <p:spPr>
            <a:xfrm>
              <a:off x="4570180" y="1431131"/>
              <a:ext cx="98891"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2</a:t>
              </a:r>
              <a:endParaRPr lang="en-US" sz="1120" b="1" dirty="0">
                <a:solidFill>
                  <a:schemeClr val="accent2"/>
                </a:solidFill>
                <a:latin typeface="+mn-lt"/>
                <a:ea typeface="+mn-ea"/>
                <a:cs typeface="+mn-cs"/>
              </a:endParaRPr>
            </a:p>
          </p:txBody>
        </p:sp>
        <p:sp>
          <p:nvSpPr>
            <p:cNvPr id="29" name="TextBox 29"/>
            <p:cNvSpPr txBox="1"/>
            <p:nvPr/>
          </p:nvSpPr>
          <p:spPr>
            <a:xfrm>
              <a:off x="4879086" y="1408271"/>
              <a:ext cx="2058944"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微软雅黑" panose="020B0503020204020204" charset="-122"/>
                  <a:ea typeface="微软雅黑" panose="020B0503020204020204" charset="-122"/>
                  <a:cs typeface="微软雅黑" panose="020B0503020204020204" charset="-122"/>
                </a:rPr>
                <a:t>智能体 · 任务自主执行</a:t>
              </a:r>
              <a:endParaRPr lang="zh-CN" sz="142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 name="TextBox 30"/>
            <p:cNvSpPr txBox="1"/>
            <p:nvPr/>
          </p:nvSpPr>
          <p:spPr>
            <a:xfrm>
              <a:off x="4443412" y="1922145"/>
              <a:ext cx="51838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核心指标</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1" name="TextBox 31"/>
            <p:cNvSpPr txBox="1"/>
            <p:nvPr/>
          </p:nvSpPr>
          <p:spPr>
            <a:xfrm>
              <a:off x="4443412" y="2131695"/>
              <a:ext cx="1548232"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自主度:长程多步规划 + 反思</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2" name="TextBox 32"/>
            <p:cNvSpPr txBox="1"/>
            <p:nvPr/>
          </p:nvSpPr>
          <p:spPr>
            <a:xfrm>
              <a:off x="4443412" y="2322195"/>
              <a:ext cx="1705737"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工具调用:API / 浏览器 / 代码</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3" name="TextBox 33"/>
            <p:cNvSpPr txBox="1"/>
            <p:nvPr/>
          </p:nvSpPr>
          <p:spPr>
            <a:xfrm>
              <a:off x="4443412" y="2512695"/>
              <a:ext cx="1345098"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协同:多 Agent 编排协作</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4" name="TextBox 34"/>
            <p:cNvSpPr txBox="1"/>
            <p:nvPr/>
          </p:nvSpPr>
          <p:spPr>
            <a:xfrm>
              <a:off x="4443412" y="2703195"/>
              <a:ext cx="1487653"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落地:客服/研发/营销/分析</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5" name="TextBox 35"/>
            <p:cNvSpPr txBox="1"/>
            <p:nvPr/>
          </p:nvSpPr>
          <p:spPr>
            <a:xfrm>
              <a:off x="4443412" y="2969895"/>
              <a:ext cx="68376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代表(2026)</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6" name="TextBox 36"/>
            <p:cNvSpPr txBox="1"/>
            <p:nvPr/>
          </p:nvSpPr>
          <p:spPr>
            <a:xfrm>
              <a:off x="4443412" y="3179445"/>
              <a:ext cx="1519942" cy="176212"/>
            </a:xfrm>
            <a:prstGeom prst="rect">
              <a:avLst/>
            </a:prstGeom>
            <a:noFill/>
            <a:ln>
              <a:noFill/>
            </a:ln>
          </p:spPr>
          <p:txBody>
            <a:bodyPr wrap="none" lIns="0" tIns="0" rIns="0" bIns="0" anchor="t" anchorCtr="0">
              <a:spAutoFit/>
            </a:bodyPr>
            <a:lstStyle/>
            <a:p>
              <a:pPr algn="l"/>
              <a:r>
                <a:rPr lang="en-US" sz="900" dirty="0">
                  <a:solidFill>
                    <a:schemeClr val="dk1"/>
                  </a:solidFill>
                  <a:latin typeface="微软雅黑" panose="020B0503020204020204" charset="-122"/>
                  <a:ea typeface="微软雅黑" panose="020B0503020204020204" charset="-122"/>
                  <a:cs typeface="微软雅黑" panose="020B0503020204020204" charset="-122"/>
                </a:rPr>
                <a:t>Operator / Devin / Manus</a:t>
              </a:r>
              <a:endParaRPr lang="en-US"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7" name="TextBox 37"/>
            <p:cNvSpPr txBox="1"/>
            <p:nvPr/>
          </p:nvSpPr>
          <p:spPr>
            <a:xfrm>
              <a:off x="4443412" y="3369945"/>
              <a:ext cx="1293543"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Coze / Dify / 扣子空间</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8" name="TextBox 38"/>
            <p:cNvSpPr txBox="1"/>
            <p:nvPr/>
          </p:nvSpPr>
          <p:spPr>
            <a:xfrm>
              <a:off x="4438269" y="3523298"/>
              <a:ext cx="832934"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+312%</a:t>
              </a:r>
              <a:endParaRPr lang="en-US" sz="1950" b="1" dirty="0">
                <a:solidFill>
                  <a:schemeClr val="accent2"/>
                </a:solidFill>
                <a:latin typeface="+mn-lt"/>
                <a:ea typeface="+mn-ea"/>
                <a:cs typeface="+mn-cs"/>
              </a:endParaRPr>
            </a:p>
          </p:txBody>
        </p:sp>
        <p:sp>
          <p:nvSpPr>
            <p:cNvPr id="39" name="TextBox 39"/>
            <p:cNvSpPr txBox="1"/>
            <p:nvPr/>
          </p:nvSpPr>
          <p:spPr>
            <a:xfrm>
              <a:off x="4443412" y="3835241"/>
              <a:ext cx="1026010"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Agent 类应用年增速</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0" name="TextBox 40"/>
            <p:cNvSpPr txBox="1"/>
            <p:nvPr/>
          </p:nvSpPr>
          <p:spPr>
            <a:xfrm>
              <a:off x="4443412" y="4120991"/>
              <a:ext cx="1092375"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从“对话”走向“办事”,</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1" name="TextBox 41"/>
            <p:cNvSpPr txBox="1"/>
            <p:nvPr/>
          </p:nvSpPr>
          <p:spPr>
            <a:xfrm>
              <a:off x="4443412" y="4292441"/>
              <a:ext cx="1508981"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企业级 Agent 渗透率快速提升</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2" name="Rectangle 42"/>
            <p:cNvSpPr/>
            <p:nvPr/>
          </p:nvSpPr>
          <p:spPr>
            <a:xfrm>
              <a:off x="7943850" y="1238250"/>
              <a:ext cx="3676650" cy="3238500"/>
            </a:xfrm>
            <a:prstGeom prst="roundRect">
              <a:avLst>
                <a:gd name="adj" fmla="val 4118"/>
              </a:avLst>
            </a:prstGeom>
            <a:solidFill>
              <a:schemeClr val="lt2"/>
            </a:solidFill>
            <a:ln>
              <a:noFill/>
            </a:ln>
          </p:spPr>
        </p:sp>
        <p:sp>
          <p:nvSpPr>
            <p:cNvPr id="43" name="Rectangle 43"/>
            <p:cNvSpPr/>
            <p:nvPr/>
          </p:nvSpPr>
          <p:spPr>
            <a:xfrm>
              <a:off x="7943850" y="1238250"/>
              <a:ext cx="3676650" cy="514350"/>
            </a:xfrm>
            <a:prstGeom prst="roundRect">
              <a:avLst>
                <a:gd name="adj" fmla="val 25926"/>
              </a:avLst>
            </a:prstGeom>
            <a:solidFill>
              <a:schemeClr val="accent3"/>
            </a:solidFill>
            <a:ln>
              <a:noFill/>
            </a:ln>
          </p:spPr>
        </p:sp>
        <p:sp>
          <p:nvSpPr>
            <p:cNvPr id="44" name="Rectangle 44"/>
            <p:cNvSpPr/>
            <p:nvPr/>
          </p:nvSpPr>
          <p:spPr>
            <a:xfrm>
              <a:off x="7943850" y="1619250"/>
              <a:ext cx="3676650" cy="133350"/>
            </a:xfrm>
            <a:prstGeom prst="rect">
              <a:avLst/>
            </a:prstGeom>
            <a:solidFill>
              <a:schemeClr val="accent3"/>
            </a:solidFill>
            <a:ln>
              <a:noFill/>
            </a:ln>
          </p:spPr>
        </p:sp>
        <p:sp>
          <p:nvSpPr>
            <p:cNvPr id="45" name="Ellipse 45"/>
            <p:cNvSpPr/>
            <p:nvPr/>
          </p:nvSpPr>
          <p:spPr>
            <a:xfrm>
              <a:off x="8153400" y="1343025"/>
              <a:ext cx="304800" cy="304800"/>
            </a:xfrm>
            <a:prstGeom prst="ellipse">
              <a:avLst/>
            </a:prstGeom>
            <a:solidFill>
              <a:schemeClr val="lt1"/>
            </a:solidFill>
            <a:ln>
              <a:noFill/>
            </a:ln>
          </p:spPr>
        </p:sp>
        <p:sp>
          <p:nvSpPr>
            <p:cNvPr id="46" name="TextBox 46"/>
            <p:cNvSpPr txBox="1"/>
            <p:nvPr/>
          </p:nvSpPr>
          <p:spPr>
            <a:xfrm>
              <a:off x="8256355" y="1431131"/>
              <a:ext cx="98891"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3</a:t>
              </a:r>
              <a:endParaRPr lang="en-US" sz="1120" b="1" dirty="0">
                <a:solidFill>
                  <a:schemeClr val="accent3"/>
                </a:solidFill>
                <a:latin typeface="+mn-lt"/>
                <a:ea typeface="+mn-ea"/>
                <a:cs typeface="+mn-cs"/>
              </a:endParaRPr>
            </a:p>
          </p:txBody>
        </p:sp>
        <p:sp>
          <p:nvSpPr>
            <p:cNvPr id="47" name="TextBox 47"/>
            <p:cNvSpPr txBox="1"/>
            <p:nvPr/>
          </p:nvSpPr>
          <p:spPr>
            <a:xfrm>
              <a:off x="8565261" y="1408271"/>
              <a:ext cx="2260369"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微软雅黑" panose="020B0503020204020204" charset="-122"/>
                  <a:ea typeface="微软雅黑" panose="020B0503020204020204" charset="-122"/>
                  <a:cs typeface="微软雅黑" panose="020B0503020204020204" charset="-122"/>
                </a:rPr>
                <a:t>具身智能 · 物理世界交互</a:t>
              </a:r>
              <a:endParaRPr lang="zh-CN" sz="142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8" name="TextBox 48"/>
            <p:cNvSpPr txBox="1"/>
            <p:nvPr/>
          </p:nvSpPr>
          <p:spPr>
            <a:xfrm>
              <a:off x="8129588" y="1922145"/>
              <a:ext cx="51838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核心指标</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49" name="TextBox 49"/>
            <p:cNvSpPr txBox="1"/>
            <p:nvPr/>
          </p:nvSpPr>
          <p:spPr>
            <a:xfrm>
              <a:off x="8129588" y="2131695"/>
              <a:ext cx="1160526"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自由度:40+ 全身控制</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0" name="TextBox 50"/>
            <p:cNvSpPr txBox="1"/>
            <p:nvPr/>
          </p:nvSpPr>
          <p:spPr>
            <a:xfrm>
              <a:off x="8129588" y="2322195"/>
              <a:ext cx="1281684"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续航:4-8 小时连续作业</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1" name="TextBox 51"/>
            <p:cNvSpPr txBox="1"/>
            <p:nvPr/>
          </p:nvSpPr>
          <p:spPr>
            <a:xfrm>
              <a:off x="8129588" y="2512695"/>
              <a:ext cx="1324089"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感知:视觉 + 力觉 + 触觉</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2" name="TextBox 52"/>
            <p:cNvSpPr txBox="1"/>
            <p:nvPr/>
          </p:nvSpPr>
          <p:spPr>
            <a:xfrm>
              <a:off x="8129588" y="2703195"/>
              <a:ext cx="1500911"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学习:VLA 模型 / 模仿学习</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3" name="TextBox 53"/>
            <p:cNvSpPr txBox="1"/>
            <p:nvPr/>
          </p:nvSpPr>
          <p:spPr>
            <a:xfrm>
              <a:off x="8129588" y="2969895"/>
              <a:ext cx="68376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代表(2026)</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4" name="TextBox 54"/>
            <p:cNvSpPr txBox="1"/>
            <p:nvPr/>
          </p:nvSpPr>
          <p:spPr>
            <a:xfrm>
              <a:off x="8129588" y="3179445"/>
              <a:ext cx="1491096" cy="176212"/>
            </a:xfrm>
            <a:prstGeom prst="rect">
              <a:avLst/>
            </a:prstGeom>
            <a:noFill/>
            <a:ln>
              <a:noFill/>
            </a:ln>
          </p:spPr>
          <p:txBody>
            <a:bodyPr wrap="none" lIns="0" tIns="0" rIns="0" bIns="0" anchor="t" anchorCtr="0">
              <a:spAutoFit/>
            </a:bodyPr>
            <a:lstStyle/>
            <a:p>
              <a:pPr algn="l"/>
              <a:r>
                <a:rPr lang="en-US" sz="900" dirty="0">
                  <a:solidFill>
                    <a:schemeClr val="dk1"/>
                  </a:solidFill>
                  <a:latin typeface="微软雅黑" panose="020B0503020204020204" charset="-122"/>
                  <a:ea typeface="微软雅黑" panose="020B0503020204020204" charset="-122"/>
                  <a:cs typeface="微软雅黑" panose="020B0503020204020204" charset="-122"/>
                </a:rPr>
                <a:t>Figure 03 / Optimus Gen3</a:t>
              </a:r>
              <a:endParaRPr lang="en-US"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5" name="TextBox 55"/>
            <p:cNvSpPr txBox="1"/>
            <p:nvPr/>
          </p:nvSpPr>
          <p:spPr>
            <a:xfrm>
              <a:off x="8129588" y="3369945"/>
              <a:ext cx="1251280"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宇树 H1 / 智元 / 星动</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6" name="TextBox 56"/>
            <p:cNvSpPr txBox="1"/>
            <p:nvPr/>
          </p:nvSpPr>
          <p:spPr>
            <a:xfrm>
              <a:off x="8124444" y="3523298"/>
              <a:ext cx="660532"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$28B</a:t>
              </a:r>
              <a:endParaRPr lang="en-US" sz="1950" b="1" dirty="0">
                <a:solidFill>
                  <a:schemeClr val="dk1"/>
                </a:solidFill>
                <a:latin typeface="+mn-lt"/>
                <a:ea typeface="+mn-ea"/>
                <a:cs typeface="+mn-cs"/>
              </a:endParaRPr>
            </a:p>
          </p:txBody>
        </p:sp>
        <p:sp>
          <p:nvSpPr>
            <p:cNvPr id="57" name="TextBox 57"/>
            <p:cNvSpPr txBox="1"/>
            <p:nvPr/>
          </p:nvSpPr>
          <p:spPr>
            <a:xfrm>
              <a:off x="8129588" y="3835241"/>
              <a:ext cx="1286732"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2025 全球人形机器人融资</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8" name="TextBox 58"/>
            <p:cNvSpPr txBox="1"/>
            <p:nvPr/>
          </p:nvSpPr>
          <p:spPr>
            <a:xfrm>
              <a:off x="8129588" y="4120991"/>
              <a:ext cx="1236755"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2030 产量预计破百万台,</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9" name="TextBox 59"/>
            <p:cNvSpPr txBox="1"/>
            <p:nvPr/>
          </p:nvSpPr>
          <p:spPr>
            <a:xfrm>
              <a:off x="8129588" y="4292441"/>
              <a:ext cx="1231202"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单台成本下探至十万元级</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grpSp>
      <p:grpSp>
        <p:nvGrpSpPr>
          <p:cNvPr id="68" name="Group 68"/>
          <p:cNvGrpSpPr/>
          <p:nvPr/>
        </p:nvGrpSpPr>
        <p:grpSpPr>
          <a:xfrm>
            <a:off x="571500" y="4667250"/>
            <a:ext cx="11049000" cy="745807"/>
            <a:chOff x="571500" y="4667250"/>
            <a:chExt cx="11049000" cy="745807"/>
          </a:xfrm>
        </p:grpSpPr>
        <p:sp>
          <p:nvSpPr>
            <p:cNvPr id="61" name="Rectangle 61"/>
            <p:cNvSpPr/>
            <p:nvPr/>
          </p:nvSpPr>
          <p:spPr>
            <a:xfrm>
              <a:off x="571500" y="4667250"/>
              <a:ext cx="11049000" cy="742950"/>
            </a:xfrm>
            <a:prstGeom prst="roundRect">
              <a:avLst>
                <a:gd name="adj" fmla="val 15385"/>
              </a:avLst>
            </a:prstGeom>
            <a:solidFill>
              <a:schemeClr val="lt2"/>
            </a:solidFill>
            <a:ln>
              <a:noFill/>
            </a:ln>
          </p:spPr>
        </p:sp>
        <p:sp>
          <p:nvSpPr>
            <p:cNvPr id="62" name="Rectangle 62"/>
            <p:cNvSpPr/>
            <p:nvPr/>
          </p:nvSpPr>
          <p:spPr>
            <a:xfrm>
              <a:off x="571500" y="4667250"/>
              <a:ext cx="76200" cy="742950"/>
            </a:xfrm>
            <a:prstGeom prst="roundRect">
              <a:avLst>
                <a:gd name="adj" fmla="val 50000"/>
              </a:avLst>
            </a:prstGeom>
            <a:solidFill>
              <a:schemeClr val="accent1"/>
            </a:solidFill>
            <a:ln>
              <a:noFill/>
            </a:ln>
          </p:spPr>
        </p:sp>
        <p:sp>
          <p:nvSpPr>
            <p:cNvPr id="63" name="TextBox 63"/>
            <p:cNvSpPr txBox="1"/>
            <p:nvPr/>
          </p:nvSpPr>
          <p:spPr>
            <a:xfrm>
              <a:off x="833247" y="4809649"/>
              <a:ext cx="561175"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微软雅黑" panose="020B0503020204020204" charset="-122"/>
                  <a:ea typeface="微软雅黑" panose="020B0503020204020204" charset="-122"/>
                  <a:cs typeface="微软雅黑" panose="020B0503020204020204" charset="-122"/>
                </a:rPr>
                <a:t>底层基座</a:t>
              </a:r>
              <a:endParaRPr lang="zh-CN" sz="98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4" name="TextBox 64"/>
            <p:cNvSpPr txBox="1"/>
            <p:nvPr/>
          </p:nvSpPr>
          <p:spPr>
            <a:xfrm>
              <a:off x="833438" y="5046345"/>
              <a:ext cx="3376346"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算力:GB300/H200 + 国产昇腾/寒武纪,十万卡集群成新标杆</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5" name="TextBox 65"/>
            <p:cNvSpPr txBox="1"/>
            <p:nvPr/>
          </p:nvSpPr>
          <p:spPr>
            <a:xfrm>
              <a:off x="3995738" y="5046345"/>
              <a:ext cx="2345817"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数据:PB 级语料 + 多模态对齐 + 合成数据</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6" name="TextBox 66"/>
            <p:cNvSpPr txBox="1"/>
            <p:nvPr/>
          </p:nvSpPr>
          <p:spPr>
            <a:xfrm>
              <a:off x="7805738" y="5046345"/>
              <a:ext cx="1576407"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算法:MoE + 推理强化 + VLA</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7" name="TextBox 67"/>
            <p:cNvSpPr txBox="1"/>
            <p:nvPr/>
          </p:nvSpPr>
          <p:spPr>
            <a:xfrm>
              <a:off x="833438" y="5236845"/>
              <a:ext cx="6005344"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三浪共享同一基座:算力成本年降 30%、开源生态(DeepSeek V4/Llama 4)加速普惠、国产替代降低供应链风险</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grpSp>
      <p:grpSp>
        <p:nvGrpSpPr>
          <p:cNvPr id="83" name="Group 83"/>
          <p:cNvGrpSpPr/>
          <p:nvPr/>
        </p:nvGrpSpPr>
        <p:grpSpPr>
          <a:xfrm>
            <a:off x="571500" y="5581650"/>
            <a:ext cx="11049000" cy="800100"/>
            <a:chOff x="571500" y="5581650"/>
            <a:chExt cx="11049000" cy="800100"/>
          </a:xfrm>
        </p:grpSpPr>
        <p:sp>
          <p:nvSpPr>
            <p:cNvPr id="69" name="Rectangle 69"/>
            <p:cNvSpPr/>
            <p:nvPr/>
          </p:nvSpPr>
          <p:spPr>
            <a:xfrm>
              <a:off x="571500" y="5581650"/>
              <a:ext cx="11049000" cy="800100"/>
            </a:xfrm>
            <a:prstGeom prst="roundRect">
              <a:avLst>
                <a:gd name="adj" fmla="val 14286"/>
              </a:avLst>
            </a:prstGeom>
            <a:solidFill>
              <a:schemeClr val="accent1"/>
            </a:solidFill>
            <a:ln>
              <a:noFill/>
            </a:ln>
          </p:spPr>
        </p:sp>
        <p:sp>
          <p:nvSpPr>
            <p:cNvPr id="70" name="TextBox 70"/>
            <p:cNvSpPr txBox="1"/>
            <p:nvPr/>
          </p:nvSpPr>
          <p:spPr>
            <a:xfrm>
              <a:off x="832866" y="5735002"/>
              <a:ext cx="865335"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微软雅黑" panose="020B0503020204020204" charset="-122"/>
                  <a:ea typeface="微软雅黑" panose="020B0503020204020204" charset="-122"/>
                  <a:cs typeface="微软雅黑" panose="020B0503020204020204" charset="-122"/>
                </a:rPr>
                <a:t>全球 AI 市场</a:t>
              </a:r>
              <a:endParaRPr lang="zh-CN" sz="105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1" name="TextBox 71"/>
            <p:cNvSpPr txBox="1"/>
            <p:nvPr/>
          </p:nvSpPr>
          <p:spPr>
            <a:xfrm>
              <a:off x="828294" y="5961698"/>
              <a:ext cx="1205040" cy="381381"/>
            </a:xfrm>
            <a:prstGeom prst="rect">
              <a:avLst/>
            </a:prstGeom>
            <a:noFill/>
            <a:ln>
              <a:noFill/>
            </a:ln>
          </p:spPr>
          <p:txBody>
            <a:bodyPr wrap="none" lIns="0" tIns="0" rIns="0" bIns="0" anchor="t" anchorCtr="0">
              <a:spAutoFit/>
            </a:bodyPr>
            <a:lstStyle/>
            <a:p>
              <a:pPr algn="l"/>
              <a:r>
                <a:rPr lang="zh-CN" sz="1950" b="1" dirty="0">
                  <a:solidFill>
                    <a:srgbClr val="FFFFFF"/>
                  </a:solidFill>
                  <a:latin typeface="+mn-lt"/>
                  <a:ea typeface="+mn-ea"/>
                  <a:cs typeface="+mn-cs"/>
                </a:rPr>
                <a:t>$3,910亿</a:t>
              </a:r>
              <a:endParaRPr lang="zh-CN" sz="1950" b="1" dirty="0">
                <a:solidFill>
                  <a:srgbClr val="FFFFFF"/>
                </a:solidFill>
                <a:latin typeface="+mn-lt"/>
                <a:ea typeface="+mn-ea"/>
                <a:cs typeface="+mn-cs"/>
              </a:endParaRPr>
            </a:p>
          </p:txBody>
        </p:sp>
        <p:sp>
          <p:nvSpPr>
            <p:cNvPr id="72" name="TextBox 72"/>
            <p:cNvSpPr txBox="1"/>
            <p:nvPr/>
          </p:nvSpPr>
          <p:spPr>
            <a:xfrm>
              <a:off x="2757297" y="6066949"/>
              <a:ext cx="469297" cy="190690"/>
            </a:xfrm>
            <a:prstGeom prst="rect">
              <a:avLst/>
            </a:prstGeom>
            <a:noFill/>
            <a:ln>
              <a:noFill/>
            </a:ln>
          </p:spPr>
          <p:txBody>
            <a:bodyPr wrap="none" lIns="0" tIns="0" rIns="0" bIns="0" anchor="t" anchorCtr="0">
              <a:spAutoFit/>
            </a:bodyPr>
            <a:lstStyle/>
            <a:p>
              <a:pPr algn="l"/>
              <a:r>
                <a:rPr lang="zh-CN" sz="980" dirty="0">
                  <a:solidFill>
                    <a:srgbClr val="D6E4F5"/>
                  </a:solidFill>
                  <a:latin typeface="微软雅黑" panose="020B0503020204020204" charset="-122"/>
                  <a:ea typeface="微软雅黑" panose="020B0503020204020204" charset="-122"/>
                  <a:cs typeface="微软雅黑" panose="020B0503020204020204" charset="-122"/>
                </a:rPr>
                <a:t>2025 年</a:t>
              </a:r>
              <a:endParaRPr lang="zh-CN" sz="98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73" name="Rectangle 73"/>
            <p:cNvSpPr/>
            <p:nvPr/>
          </p:nvSpPr>
          <p:spPr>
            <a:xfrm>
              <a:off x="4095750" y="5715000"/>
              <a:ext cx="19050" cy="533400"/>
            </a:xfrm>
            <a:prstGeom prst="rect">
              <a:avLst/>
            </a:prstGeom>
            <a:solidFill>
              <a:schemeClr val="accent3"/>
            </a:solidFill>
            <a:ln>
              <a:noFill/>
            </a:ln>
          </p:spPr>
        </p:sp>
        <p:sp>
          <p:nvSpPr>
            <p:cNvPr id="74" name="TextBox 74"/>
            <p:cNvSpPr txBox="1"/>
            <p:nvPr/>
          </p:nvSpPr>
          <p:spPr>
            <a:xfrm>
              <a:off x="4281297" y="5743099"/>
              <a:ext cx="1043102" cy="190690"/>
            </a:xfrm>
            <a:prstGeom prst="rect">
              <a:avLst/>
            </a:prstGeom>
            <a:noFill/>
            <a:ln>
              <a:noFill/>
            </a:ln>
          </p:spPr>
          <p:txBody>
            <a:bodyPr wrap="none" lIns="0" tIns="0" rIns="0" bIns="0" anchor="t" anchorCtr="0">
              <a:spAutoFit/>
            </a:bodyPr>
            <a:lstStyle/>
            <a:p>
              <a:pPr algn="l"/>
              <a:r>
                <a:rPr lang="zh-CN" sz="980" dirty="0">
                  <a:solidFill>
                    <a:srgbClr val="FFFFFF"/>
                  </a:solidFill>
                  <a:latin typeface="微软雅黑" panose="020B0503020204020204" charset="-122"/>
                  <a:ea typeface="微软雅黑" panose="020B0503020204020204" charset="-122"/>
                  <a:cs typeface="微软雅黑" panose="020B0503020204020204" charset="-122"/>
                </a:rPr>
                <a:t>中国 AI 核心产业</a:t>
              </a:r>
              <a:endParaRPr lang="zh-CN" sz="98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5" name="TextBox 75"/>
            <p:cNvSpPr txBox="1"/>
            <p:nvPr/>
          </p:nvSpPr>
          <p:spPr>
            <a:xfrm>
              <a:off x="4277868" y="5994082"/>
              <a:ext cx="101964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¥7,000亿</a:t>
              </a:r>
              <a:endParaRPr lang="zh-CN" sz="1650" b="1" dirty="0">
                <a:solidFill>
                  <a:srgbClr val="FFFFFF"/>
                </a:solidFill>
                <a:latin typeface="+mn-lt"/>
                <a:ea typeface="+mn-ea"/>
                <a:cs typeface="+mn-cs"/>
              </a:endParaRPr>
            </a:p>
          </p:txBody>
        </p:sp>
        <p:sp>
          <p:nvSpPr>
            <p:cNvPr id="76" name="TextBox 76"/>
            <p:cNvSpPr txBox="1"/>
            <p:nvPr/>
          </p:nvSpPr>
          <p:spPr>
            <a:xfrm>
              <a:off x="5614988" y="6075045"/>
              <a:ext cx="1057542" cy="176212"/>
            </a:xfrm>
            <a:prstGeom prst="rect">
              <a:avLst/>
            </a:prstGeom>
            <a:noFill/>
            <a:ln>
              <a:noFill/>
            </a:ln>
          </p:spPr>
          <p:txBody>
            <a:bodyPr wrap="none" lIns="0" tIns="0" rIns="0" bIns="0" anchor="t" anchorCtr="0">
              <a:spAutoFit/>
            </a:bodyPr>
            <a:lstStyle/>
            <a:p>
              <a:pPr algn="l"/>
              <a:r>
                <a:rPr lang="zh-CN" sz="900" dirty="0">
                  <a:solidFill>
                    <a:srgbClr val="D6E4F5"/>
                  </a:solidFill>
                  <a:latin typeface="微软雅黑" panose="020B0503020204020204" charset="-122"/>
                  <a:ea typeface="微软雅黑" panose="020B0503020204020204" charset="-122"/>
                  <a:cs typeface="微软雅黑" panose="020B0503020204020204" charset="-122"/>
                </a:rPr>
                <a:t>2030 目标超 1 万亿</a:t>
              </a:r>
              <a:endParaRPr lang="zh-CN" sz="90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77" name="Rectangle 77"/>
            <p:cNvSpPr/>
            <p:nvPr/>
          </p:nvSpPr>
          <p:spPr>
            <a:xfrm>
              <a:off x="7715250" y="5715000"/>
              <a:ext cx="19050" cy="533400"/>
            </a:xfrm>
            <a:prstGeom prst="rect">
              <a:avLst/>
            </a:prstGeom>
            <a:solidFill>
              <a:schemeClr val="accent3"/>
            </a:solidFill>
            <a:ln>
              <a:noFill/>
            </a:ln>
          </p:spPr>
        </p:sp>
        <p:sp>
          <p:nvSpPr>
            <p:cNvPr id="78" name="TextBox 78"/>
            <p:cNvSpPr txBox="1"/>
            <p:nvPr/>
          </p:nvSpPr>
          <p:spPr>
            <a:xfrm>
              <a:off x="7900797" y="5743099"/>
              <a:ext cx="585445" cy="190690"/>
            </a:xfrm>
            <a:prstGeom prst="rect">
              <a:avLst/>
            </a:prstGeom>
            <a:noFill/>
            <a:ln>
              <a:noFill/>
            </a:ln>
          </p:spPr>
          <p:txBody>
            <a:bodyPr wrap="none" lIns="0" tIns="0" rIns="0" bIns="0" anchor="t" anchorCtr="0">
              <a:spAutoFit/>
            </a:bodyPr>
            <a:lstStyle/>
            <a:p>
              <a:pPr algn="l"/>
              <a:r>
                <a:rPr lang="zh-CN" sz="980" dirty="0">
                  <a:solidFill>
                    <a:srgbClr val="FFFFFF"/>
                  </a:solidFill>
                  <a:latin typeface="微软雅黑" panose="020B0503020204020204" charset="-122"/>
                  <a:ea typeface="微软雅黑" panose="020B0503020204020204" charset="-122"/>
                  <a:cs typeface="微软雅黑" panose="020B0503020204020204" charset="-122"/>
                </a:rPr>
                <a:t>生成式 AI</a:t>
              </a:r>
              <a:endParaRPr lang="zh-CN" sz="98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9" name="TextBox 79"/>
            <p:cNvSpPr txBox="1"/>
            <p:nvPr/>
          </p:nvSpPr>
          <p:spPr>
            <a:xfrm>
              <a:off x="7897368" y="5994082"/>
              <a:ext cx="763097"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$670亿</a:t>
              </a:r>
              <a:endParaRPr lang="zh-CN" sz="1650" b="1" dirty="0">
                <a:solidFill>
                  <a:srgbClr val="FFFFFF"/>
                </a:solidFill>
                <a:latin typeface="+mn-lt"/>
                <a:ea typeface="+mn-ea"/>
                <a:cs typeface="+mn-cs"/>
              </a:endParaRPr>
            </a:p>
          </p:txBody>
        </p:sp>
        <p:sp>
          <p:nvSpPr>
            <p:cNvPr id="80" name="TextBox 80"/>
            <p:cNvSpPr txBox="1"/>
            <p:nvPr/>
          </p:nvSpPr>
          <p:spPr>
            <a:xfrm>
              <a:off x="9043988" y="6075045"/>
              <a:ext cx="736473" cy="176212"/>
            </a:xfrm>
            <a:prstGeom prst="rect">
              <a:avLst/>
            </a:prstGeom>
            <a:noFill/>
            <a:ln>
              <a:noFill/>
            </a:ln>
          </p:spPr>
          <p:txBody>
            <a:bodyPr wrap="none" lIns="0" tIns="0" rIns="0" bIns="0" anchor="t" anchorCtr="0">
              <a:spAutoFit/>
            </a:bodyPr>
            <a:lstStyle/>
            <a:p>
              <a:pPr algn="l"/>
              <a:r>
                <a:rPr lang="zh-CN" sz="900" dirty="0">
                  <a:solidFill>
                    <a:srgbClr val="D6E4F5"/>
                  </a:solidFill>
                  <a:latin typeface="微软雅黑" panose="020B0503020204020204" charset="-122"/>
                  <a:ea typeface="微软雅黑" panose="020B0503020204020204" charset="-122"/>
                  <a:cs typeface="微软雅黑" panose="020B0503020204020204" charset="-122"/>
                </a:rPr>
                <a:t>占比持续提升</a:t>
              </a:r>
              <a:endParaRPr lang="zh-CN" sz="90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81" name="TextBox 81"/>
            <p:cNvSpPr txBox="1"/>
            <p:nvPr/>
          </p:nvSpPr>
          <p:spPr>
            <a:xfrm>
              <a:off x="10186797" y="5743099"/>
              <a:ext cx="666179" cy="190690"/>
            </a:xfrm>
            <a:prstGeom prst="rect">
              <a:avLst/>
            </a:prstGeom>
            <a:noFill/>
            <a:ln>
              <a:noFill/>
            </a:ln>
          </p:spPr>
          <p:txBody>
            <a:bodyPr wrap="none" lIns="0" tIns="0" rIns="0" bIns="0" anchor="t" anchorCtr="0">
              <a:spAutoFit/>
            </a:bodyPr>
            <a:lstStyle/>
            <a:p>
              <a:pPr algn="l"/>
              <a:r>
                <a:rPr lang="zh-CN" sz="980" dirty="0">
                  <a:solidFill>
                    <a:srgbClr val="FFFFFF"/>
                  </a:solidFill>
                  <a:latin typeface="微软雅黑" panose="020B0503020204020204" charset="-122"/>
                  <a:ea typeface="微软雅黑" panose="020B0503020204020204" charset="-122"/>
                  <a:cs typeface="微软雅黑" panose="020B0503020204020204" charset="-122"/>
                </a:rPr>
                <a:t>企业渗透率</a:t>
              </a:r>
              <a:endParaRPr lang="zh-CN" sz="98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2" name="TextBox 82"/>
            <p:cNvSpPr txBox="1"/>
            <p:nvPr/>
          </p:nvSpPr>
          <p:spPr>
            <a:xfrm>
              <a:off x="10183368" y="5994082"/>
              <a:ext cx="448238"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72%</a:t>
              </a:r>
              <a:endParaRPr lang="en-US" sz="1650" b="1" dirty="0">
                <a:solidFill>
                  <a:srgbClr val="FFFFFF"/>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solidFill>
            <a:schemeClr val="accent1"/>
          </a:solidFill>
          <a:ln>
            <a:noFill/>
          </a:ln>
        </p:spPr>
      </p:sp>
      <p:sp>
        <p:nvSpPr>
          <p:cNvPr id="3" name="Rectangle 3"/>
          <p:cNvSpPr/>
          <p:nvPr/>
        </p:nvSpPr>
        <p:spPr>
          <a:xfrm>
            <a:off x="571500" y="476250"/>
            <a:ext cx="57150" cy="361950"/>
          </a:xfrm>
          <a:prstGeom prst="roundRect">
            <a:avLst>
              <a:gd name="adj" fmla="val 50000"/>
            </a:avLst>
          </a:prstGeom>
          <a:solidFill>
            <a:schemeClr val="accent1"/>
          </a:solidFill>
          <a:ln>
            <a:noFill/>
          </a:ln>
        </p:spPr>
      </p:sp>
      <p:sp>
        <p:nvSpPr>
          <p:cNvPr id="4" name="TextBox 4"/>
          <p:cNvSpPr txBox="1"/>
          <p:nvPr/>
        </p:nvSpPr>
        <p:spPr>
          <a:xfrm>
            <a:off x="750570" y="519112"/>
            <a:ext cx="1295019"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微软雅黑" panose="020B0503020204020204" charset="-122"/>
                <a:ea typeface="微软雅黑" panose="020B0503020204020204" charset="-122"/>
                <a:cs typeface="微软雅黑" panose="020B0503020204020204" charset="-122"/>
              </a:rPr>
              <a:t>市场趋势</a:t>
            </a:r>
            <a:endParaRPr lang="zh-CN" sz="22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nvSpPr>
        <p:spPr>
          <a:xfrm>
            <a:off x="756666" y="896302"/>
            <a:ext cx="5760720" cy="205359"/>
          </a:xfrm>
          <a:prstGeom prst="rect">
            <a:avLst/>
          </a:prstGeom>
          <a:noFill/>
          <a:ln>
            <a:noFill/>
          </a:ln>
        </p:spPr>
        <p:txBody>
          <a:bodyPr wrap="none" lIns="0" tIns="0" rIns="0" bIns="0" anchor="t" anchorCtr="0">
            <a:spAutoFit/>
          </a:bodyPr>
          <a:lstStyle/>
          <a:p>
            <a:pPr algn="l"/>
            <a:r>
              <a:rPr lang="zh-CN" sz="1050" dirty="0">
                <a:solidFill>
                  <a:schemeClr val="dk2"/>
                </a:solidFill>
                <a:latin typeface="微软雅黑" panose="020B0503020204020204" charset="-122"/>
                <a:ea typeface="微软雅黑" panose="020B0503020204020204" charset="-122"/>
                <a:cs typeface="微软雅黑" panose="020B0503020204020204" charset="-122"/>
              </a:rPr>
              <a:t>全球 AI 市场高速增长,CAGR ≈ 37%,2030 年预计突破 1.8 万亿美元,生成式 AI 成主引擎</a:t>
            </a:r>
            <a:endParaRPr lang="zh-CN" sz="1050" dirty="0">
              <a:solidFill>
                <a:schemeClr val="dk2"/>
              </a:solidFill>
              <a:latin typeface="微软雅黑" panose="020B0503020204020204" charset="-122"/>
              <a:ea typeface="微软雅黑" panose="020B0503020204020204" charset="-122"/>
              <a:cs typeface="微软雅黑" panose="020B0503020204020204" charset="-122"/>
            </a:endParaRPr>
          </a:p>
        </p:txBody>
      </p:sp>
      <p:grpSp>
        <p:nvGrpSpPr>
          <p:cNvPr id="46" name="Group 46"/>
          <p:cNvGrpSpPr/>
          <p:nvPr/>
        </p:nvGrpSpPr>
        <p:grpSpPr>
          <a:xfrm>
            <a:off x="426720" y="1761490"/>
            <a:ext cx="5294630" cy="3647441"/>
            <a:chOff x="995743" y="1585912"/>
            <a:chExt cx="10243757" cy="3992967"/>
          </a:xfrm>
        </p:grpSpPr>
        <p:sp>
          <p:nvSpPr>
            <p:cNvPr id="6" name="Line 6"/>
            <p:cNvSpPr/>
            <p:nvPr/>
          </p:nvSpPr>
          <p:spPr>
            <a:xfrm>
              <a:off x="1428750" y="5334000"/>
              <a:ext cx="9810750" cy="9525"/>
            </a:xfrm>
            <a:custGeom>
              <a:avLst/>
              <a:gdLst/>
              <a:ahLst/>
              <a:cxnLst/>
              <a:rect l="l" t="t" r="r" b="b"/>
              <a:pathLst>
                <a:path w="9810750" h="9525">
                  <a:moveTo>
                    <a:pt x="0" y="0"/>
                  </a:moveTo>
                  <a:lnTo>
                    <a:pt x="9810750" y="0"/>
                  </a:lnTo>
                </a:path>
              </a:pathLst>
            </a:custGeom>
            <a:noFill/>
            <a:ln w="19050">
              <a:solidFill>
                <a:schemeClr val="accent4"/>
              </a:solidFill>
            </a:ln>
          </p:spPr>
        </p:sp>
        <p:sp>
          <p:nvSpPr>
            <p:cNvPr id="7" name="Line 7"/>
            <p:cNvSpPr/>
            <p:nvPr/>
          </p:nvSpPr>
          <p:spPr>
            <a:xfrm>
              <a:off x="1428750" y="1619250"/>
              <a:ext cx="9525" cy="3714750"/>
            </a:xfrm>
            <a:custGeom>
              <a:avLst/>
              <a:gdLst/>
              <a:ahLst/>
              <a:cxnLst/>
              <a:rect l="l" t="t" r="r" b="b"/>
              <a:pathLst>
                <a:path w="9525" h="3714750">
                  <a:moveTo>
                    <a:pt x="0" y="0"/>
                  </a:moveTo>
                  <a:lnTo>
                    <a:pt x="0" y="3714750"/>
                  </a:lnTo>
                </a:path>
              </a:pathLst>
            </a:custGeom>
            <a:noFill/>
            <a:ln w="19050">
              <a:solidFill>
                <a:schemeClr val="accent4"/>
              </a:solidFill>
            </a:ln>
          </p:spPr>
        </p:sp>
        <p:sp>
          <p:nvSpPr>
            <p:cNvPr id="8" name="TextBox 8"/>
            <p:cNvSpPr txBox="1"/>
            <p:nvPr/>
          </p:nvSpPr>
          <p:spPr>
            <a:xfrm>
              <a:off x="995743" y="1585912"/>
              <a:ext cx="361569" cy="252341"/>
            </a:xfrm>
            <a:prstGeom prst="rect">
              <a:avLst/>
            </a:prstGeom>
            <a:noFill/>
            <a:ln>
              <a:noFill/>
            </a:ln>
          </p:spPr>
          <p:txBody>
            <a:bodyPr wrap="square" lIns="0" tIns="0" rIns="0" bIns="0" anchor="t" anchorCtr="0">
              <a:spAutoFit/>
            </a:bodyPr>
            <a:lstStyle/>
            <a:p>
              <a:pPr algn="r"/>
              <a:r>
                <a:rPr lang="en-US" sz="750" dirty="0">
                  <a:solidFill>
                    <a:schemeClr val="accent5"/>
                  </a:solidFill>
                  <a:latin typeface="+mn-lt"/>
                  <a:ea typeface="+mn-ea"/>
                  <a:cs typeface="+mn-cs"/>
                </a:rPr>
                <a:t>$2000B</a:t>
              </a:r>
              <a:endParaRPr lang="en-US" sz="750" dirty="0">
                <a:solidFill>
                  <a:schemeClr val="accent5"/>
                </a:solidFill>
                <a:latin typeface="+mn-lt"/>
                <a:ea typeface="+mn-ea"/>
                <a:cs typeface="+mn-cs"/>
              </a:endParaRPr>
            </a:p>
          </p:txBody>
        </p:sp>
        <p:sp>
          <p:nvSpPr>
            <p:cNvPr id="9" name="TextBox 9"/>
            <p:cNvSpPr txBox="1"/>
            <p:nvPr/>
          </p:nvSpPr>
          <p:spPr>
            <a:xfrm>
              <a:off x="995743" y="2471738"/>
              <a:ext cx="361569" cy="252341"/>
            </a:xfrm>
            <a:prstGeom prst="rect">
              <a:avLst/>
            </a:prstGeom>
            <a:noFill/>
            <a:ln>
              <a:noFill/>
            </a:ln>
          </p:spPr>
          <p:txBody>
            <a:bodyPr wrap="square" lIns="0" tIns="0" rIns="0" bIns="0" anchor="t" anchorCtr="0">
              <a:spAutoFit/>
            </a:bodyPr>
            <a:lstStyle/>
            <a:p>
              <a:pPr algn="r"/>
              <a:r>
                <a:rPr lang="en-US" sz="750" dirty="0">
                  <a:solidFill>
                    <a:schemeClr val="accent5"/>
                  </a:solidFill>
                  <a:latin typeface="+mn-lt"/>
                  <a:ea typeface="+mn-ea"/>
                  <a:cs typeface="+mn-cs"/>
                </a:rPr>
                <a:t>$1500B</a:t>
              </a:r>
              <a:endParaRPr lang="en-US" sz="750" dirty="0">
                <a:solidFill>
                  <a:schemeClr val="accent5"/>
                </a:solidFill>
                <a:latin typeface="+mn-lt"/>
                <a:ea typeface="+mn-ea"/>
                <a:cs typeface="+mn-cs"/>
              </a:endParaRPr>
            </a:p>
          </p:txBody>
        </p:sp>
        <p:sp>
          <p:nvSpPr>
            <p:cNvPr id="10" name="TextBox 10"/>
            <p:cNvSpPr txBox="1"/>
            <p:nvPr/>
          </p:nvSpPr>
          <p:spPr>
            <a:xfrm>
              <a:off x="995743" y="3395662"/>
              <a:ext cx="361569" cy="252341"/>
            </a:xfrm>
            <a:prstGeom prst="rect">
              <a:avLst/>
            </a:prstGeom>
            <a:noFill/>
            <a:ln>
              <a:noFill/>
            </a:ln>
          </p:spPr>
          <p:txBody>
            <a:bodyPr wrap="square" lIns="0" tIns="0" rIns="0" bIns="0" anchor="t" anchorCtr="0">
              <a:spAutoFit/>
            </a:bodyPr>
            <a:lstStyle/>
            <a:p>
              <a:pPr algn="r"/>
              <a:r>
                <a:rPr lang="en-US" sz="750" dirty="0">
                  <a:solidFill>
                    <a:schemeClr val="accent5"/>
                  </a:solidFill>
                  <a:latin typeface="+mn-lt"/>
                  <a:ea typeface="+mn-ea"/>
                  <a:cs typeface="+mn-cs"/>
                </a:rPr>
                <a:t>$1000B</a:t>
              </a:r>
              <a:endParaRPr lang="en-US" sz="750" dirty="0">
                <a:solidFill>
                  <a:schemeClr val="accent5"/>
                </a:solidFill>
                <a:latin typeface="+mn-lt"/>
                <a:ea typeface="+mn-ea"/>
                <a:cs typeface="+mn-cs"/>
              </a:endParaRPr>
            </a:p>
          </p:txBody>
        </p:sp>
        <p:sp>
          <p:nvSpPr>
            <p:cNvPr id="11" name="TextBox 11"/>
            <p:cNvSpPr txBox="1"/>
            <p:nvPr/>
          </p:nvSpPr>
          <p:spPr>
            <a:xfrm>
              <a:off x="1054418" y="4319588"/>
              <a:ext cx="302895" cy="378859"/>
            </a:xfrm>
            <a:prstGeom prst="rect">
              <a:avLst/>
            </a:prstGeom>
            <a:noFill/>
            <a:ln>
              <a:noFill/>
            </a:ln>
          </p:spPr>
          <p:txBody>
            <a:bodyPr wrap="square" lIns="0" tIns="0" rIns="0" bIns="0" anchor="t" anchorCtr="0">
              <a:spAutoFit/>
            </a:bodyPr>
            <a:lstStyle/>
            <a:p>
              <a:pPr algn="r"/>
              <a:r>
                <a:rPr lang="en-US" sz="750" dirty="0">
                  <a:solidFill>
                    <a:schemeClr val="accent5"/>
                  </a:solidFill>
                  <a:latin typeface="+mn-lt"/>
                  <a:ea typeface="+mn-ea"/>
                  <a:cs typeface="+mn-cs"/>
                </a:rPr>
                <a:t>$500B</a:t>
              </a:r>
              <a:endParaRPr lang="en-US" sz="750" dirty="0">
                <a:solidFill>
                  <a:schemeClr val="accent5"/>
                </a:solidFill>
                <a:latin typeface="+mn-lt"/>
                <a:ea typeface="+mn-ea"/>
                <a:cs typeface="+mn-cs"/>
              </a:endParaRPr>
            </a:p>
          </p:txBody>
        </p:sp>
        <p:sp>
          <p:nvSpPr>
            <p:cNvPr id="12" name="TextBox 12"/>
            <p:cNvSpPr txBox="1"/>
            <p:nvPr/>
          </p:nvSpPr>
          <p:spPr>
            <a:xfrm>
              <a:off x="1236726" y="5300662"/>
              <a:ext cx="120586" cy="252341"/>
            </a:xfrm>
            <a:prstGeom prst="rect">
              <a:avLst/>
            </a:prstGeom>
            <a:noFill/>
            <a:ln>
              <a:noFill/>
            </a:ln>
          </p:spPr>
          <p:txBody>
            <a:bodyPr wrap="square" lIns="0" tIns="0" rIns="0" bIns="0" anchor="t" anchorCtr="0">
              <a:spAutoFit/>
            </a:bodyPr>
            <a:lstStyle/>
            <a:p>
              <a:pPr algn="r"/>
              <a:r>
                <a:rPr lang="en-US" sz="750" dirty="0">
                  <a:solidFill>
                    <a:schemeClr val="accent5"/>
                  </a:solidFill>
                  <a:latin typeface="+mn-lt"/>
                  <a:ea typeface="+mn-ea"/>
                  <a:cs typeface="+mn-cs"/>
                </a:rPr>
                <a:t>$0</a:t>
              </a:r>
              <a:endParaRPr lang="en-US" sz="750" dirty="0">
                <a:solidFill>
                  <a:schemeClr val="accent5"/>
                </a:solidFill>
                <a:latin typeface="+mn-lt"/>
                <a:ea typeface="+mn-ea"/>
                <a:cs typeface="+mn-cs"/>
              </a:endParaRPr>
            </a:p>
          </p:txBody>
        </p:sp>
        <p:sp>
          <p:nvSpPr>
            <p:cNvPr id="13" name="Line 13"/>
            <p:cNvSpPr/>
            <p:nvPr/>
          </p:nvSpPr>
          <p:spPr>
            <a:xfrm>
              <a:off x="1390650" y="2524125"/>
              <a:ext cx="38100" cy="9525"/>
            </a:xfrm>
            <a:custGeom>
              <a:avLst/>
              <a:gdLst/>
              <a:ahLst/>
              <a:cxnLst/>
              <a:rect l="l" t="t" r="r" b="b"/>
              <a:pathLst>
                <a:path w="38100" h="9525">
                  <a:moveTo>
                    <a:pt x="0" y="0"/>
                  </a:moveTo>
                  <a:lnTo>
                    <a:pt x="38100" y="0"/>
                  </a:lnTo>
                </a:path>
              </a:pathLst>
            </a:custGeom>
            <a:noFill/>
            <a:ln w="19050">
              <a:solidFill>
                <a:schemeClr val="accent4"/>
              </a:solidFill>
            </a:ln>
          </p:spPr>
        </p:sp>
        <p:sp>
          <p:nvSpPr>
            <p:cNvPr id="14" name="Line 14"/>
            <p:cNvSpPr/>
            <p:nvPr/>
          </p:nvSpPr>
          <p:spPr>
            <a:xfrm>
              <a:off x="1390650" y="3448050"/>
              <a:ext cx="38100" cy="9525"/>
            </a:xfrm>
            <a:custGeom>
              <a:avLst/>
              <a:gdLst/>
              <a:ahLst/>
              <a:cxnLst/>
              <a:rect l="l" t="t" r="r" b="b"/>
              <a:pathLst>
                <a:path w="38100" h="9525">
                  <a:moveTo>
                    <a:pt x="0" y="0"/>
                  </a:moveTo>
                  <a:lnTo>
                    <a:pt x="38100" y="0"/>
                  </a:lnTo>
                </a:path>
              </a:pathLst>
            </a:custGeom>
            <a:noFill/>
            <a:ln w="19050">
              <a:solidFill>
                <a:schemeClr val="accent4"/>
              </a:solidFill>
            </a:ln>
          </p:spPr>
        </p:sp>
        <p:sp>
          <p:nvSpPr>
            <p:cNvPr id="15" name="Line 15"/>
            <p:cNvSpPr/>
            <p:nvPr/>
          </p:nvSpPr>
          <p:spPr>
            <a:xfrm>
              <a:off x="1390650" y="4371975"/>
              <a:ext cx="38100" cy="9525"/>
            </a:xfrm>
            <a:custGeom>
              <a:avLst/>
              <a:gdLst/>
              <a:ahLst/>
              <a:cxnLst/>
              <a:rect l="l" t="t" r="r" b="b"/>
              <a:pathLst>
                <a:path w="38100" h="9525">
                  <a:moveTo>
                    <a:pt x="0" y="0"/>
                  </a:moveTo>
                  <a:lnTo>
                    <a:pt x="38100" y="0"/>
                  </a:lnTo>
                </a:path>
              </a:pathLst>
            </a:custGeom>
            <a:noFill/>
            <a:ln w="19050">
              <a:solidFill>
                <a:schemeClr val="accent4"/>
              </a:solidFill>
            </a:ln>
          </p:spPr>
        </p:sp>
        <p:sp>
          <p:nvSpPr>
            <p:cNvPr id="16" name="Rectangle 16"/>
            <p:cNvSpPr/>
            <p:nvPr/>
          </p:nvSpPr>
          <p:spPr>
            <a:xfrm>
              <a:off x="1714500" y="5067300"/>
              <a:ext cx="1047750" cy="266700"/>
            </a:xfrm>
            <a:prstGeom prst="roundRect">
              <a:avLst>
                <a:gd name="adj" fmla="val 14286"/>
              </a:avLst>
            </a:prstGeom>
            <a:solidFill>
              <a:schemeClr val="accent3"/>
            </a:solidFill>
            <a:ln>
              <a:noFill/>
            </a:ln>
          </p:spPr>
        </p:sp>
        <p:sp>
          <p:nvSpPr>
            <p:cNvPr id="17" name="TextBox 17"/>
            <p:cNvSpPr txBox="1"/>
            <p:nvPr/>
          </p:nvSpPr>
          <p:spPr>
            <a:xfrm>
              <a:off x="1782023" y="4915701"/>
              <a:ext cx="867365" cy="151544"/>
            </a:xfrm>
            <a:prstGeom prst="rect">
              <a:avLst/>
            </a:prstGeom>
            <a:noFill/>
            <a:ln>
              <a:noFill/>
            </a:ln>
          </p:spPr>
          <p:txBody>
            <a:bodyPr wrap="square" lIns="0" tIns="0" rIns="0" bIns="0" anchor="t" anchorCtr="0">
              <a:spAutoFit/>
            </a:bodyPr>
            <a:lstStyle/>
            <a:p>
              <a:pPr algn="ctr"/>
              <a:r>
                <a:rPr lang="en-US" sz="900" b="1" dirty="0">
                  <a:solidFill>
                    <a:schemeClr val="dk1"/>
                  </a:solidFill>
                  <a:latin typeface="+mn-lt"/>
                  <a:ea typeface="+mn-ea"/>
                  <a:cs typeface="+mn-cs"/>
                </a:rPr>
                <a:t>$142B</a:t>
              </a:r>
              <a:endParaRPr lang="en-US" sz="900" b="1" dirty="0">
                <a:solidFill>
                  <a:schemeClr val="dk1"/>
                </a:solidFill>
                <a:latin typeface="+mn-lt"/>
                <a:ea typeface="+mn-ea"/>
                <a:cs typeface="+mn-cs"/>
              </a:endParaRPr>
            </a:p>
          </p:txBody>
        </p:sp>
        <p:sp>
          <p:nvSpPr>
            <p:cNvPr id="18" name="TextBox 18"/>
            <p:cNvSpPr txBox="1"/>
            <p:nvPr/>
          </p:nvSpPr>
          <p:spPr>
            <a:xfrm>
              <a:off x="1892594" y="5427335"/>
              <a:ext cx="549168" cy="151544"/>
            </a:xfrm>
            <a:prstGeom prst="rect">
              <a:avLst/>
            </a:prstGeom>
            <a:noFill/>
            <a:ln>
              <a:noFill/>
            </a:ln>
          </p:spPr>
          <p:txBody>
            <a:bodyPr wrap="square" lIns="0" tIns="0" rIns="0" bIns="0" anchor="t" anchorCtr="0">
              <a:spAutoFit/>
            </a:bodyPr>
            <a:lstStyle/>
            <a:p>
              <a:pPr algn="ctr"/>
              <a:r>
                <a:rPr lang="en-US" sz="900" dirty="0">
                  <a:solidFill>
                    <a:schemeClr val="dk2"/>
                  </a:solidFill>
                  <a:latin typeface="+mn-lt"/>
                  <a:ea typeface="+mn-ea"/>
                  <a:cs typeface="+mn-cs"/>
                </a:rPr>
                <a:t>2022</a:t>
              </a:r>
              <a:endParaRPr lang="en-US" sz="900" dirty="0">
                <a:solidFill>
                  <a:schemeClr val="dk2"/>
                </a:solidFill>
                <a:latin typeface="+mn-lt"/>
                <a:ea typeface="+mn-ea"/>
                <a:cs typeface="+mn-cs"/>
              </a:endParaRPr>
            </a:p>
          </p:txBody>
        </p:sp>
        <p:sp>
          <p:nvSpPr>
            <p:cNvPr id="19" name="Rectangle 19"/>
            <p:cNvSpPr/>
            <p:nvPr/>
          </p:nvSpPr>
          <p:spPr>
            <a:xfrm>
              <a:off x="3048000" y="4962525"/>
              <a:ext cx="1047750" cy="371475"/>
            </a:xfrm>
            <a:prstGeom prst="roundRect">
              <a:avLst>
                <a:gd name="adj" fmla="val 10256"/>
              </a:avLst>
            </a:prstGeom>
            <a:solidFill>
              <a:schemeClr val="accent3"/>
            </a:solidFill>
            <a:ln>
              <a:noFill/>
            </a:ln>
          </p:spPr>
        </p:sp>
        <p:sp>
          <p:nvSpPr>
            <p:cNvPr id="20" name="TextBox 20"/>
            <p:cNvSpPr txBox="1"/>
            <p:nvPr/>
          </p:nvSpPr>
          <p:spPr>
            <a:xfrm>
              <a:off x="3032700" y="4789183"/>
              <a:ext cx="998822" cy="151544"/>
            </a:xfrm>
            <a:prstGeom prst="rect">
              <a:avLst/>
            </a:prstGeom>
            <a:noFill/>
            <a:ln>
              <a:noFill/>
            </a:ln>
          </p:spPr>
          <p:txBody>
            <a:bodyPr wrap="square" lIns="0" tIns="0" rIns="0" bIns="0" anchor="t" anchorCtr="0">
              <a:spAutoFit/>
            </a:bodyPr>
            <a:lstStyle/>
            <a:p>
              <a:pPr algn="ctr"/>
              <a:r>
                <a:rPr lang="en-US" sz="900" b="1" dirty="0">
                  <a:solidFill>
                    <a:schemeClr val="dk1"/>
                  </a:solidFill>
                  <a:latin typeface="+mn-lt"/>
                  <a:ea typeface="+mn-ea"/>
                  <a:cs typeface="+mn-cs"/>
                </a:rPr>
                <a:t>$196B</a:t>
              </a:r>
              <a:endParaRPr lang="en-US" sz="900" b="1" dirty="0">
                <a:solidFill>
                  <a:schemeClr val="dk1"/>
                </a:solidFill>
                <a:latin typeface="+mn-lt"/>
                <a:ea typeface="+mn-ea"/>
                <a:cs typeface="+mn-cs"/>
              </a:endParaRPr>
            </a:p>
          </p:txBody>
        </p:sp>
        <p:sp>
          <p:nvSpPr>
            <p:cNvPr id="21" name="TextBox 21"/>
            <p:cNvSpPr txBox="1"/>
            <p:nvPr/>
          </p:nvSpPr>
          <p:spPr>
            <a:xfrm>
              <a:off x="3274727" y="5427335"/>
              <a:ext cx="595853" cy="151544"/>
            </a:xfrm>
            <a:prstGeom prst="rect">
              <a:avLst/>
            </a:prstGeom>
            <a:noFill/>
            <a:ln>
              <a:noFill/>
            </a:ln>
          </p:spPr>
          <p:txBody>
            <a:bodyPr wrap="square" lIns="0" tIns="0" rIns="0" bIns="0" anchor="t" anchorCtr="0">
              <a:spAutoFit/>
            </a:bodyPr>
            <a:lstStyle/>
            <a:p>
              <a:pPr algn="ctr"/>
              <a:r>
                <a:rPr lang="en-US" sz="900" dirty="0">
                  <a:solidFill>
                    <a:schemeClr val="dk2"/>
                  </a:solidFill>
                  <a:latin typeface="+mn-lt"/>
                  <a:ea typeface="+mn-ea"/>
                  <a:cs typeface="+mn-cs"/>
                </a:rPr>
                <a:t>2023</a:t>
              </a:r>
              <a:endParaRPr lang="en-US" sz="900" dirty="0">
                <a:solidFill>
                  <a:schemeClr val="dk2"/>
                </a:solidFill>
                <a:latin typeface="+mn-lt"/>
                <a:ea typeface="+mn-ea"/>
                <a:cs typeface="+mn-cs"/>
              </a:endParaRPr>
            </a:p>
          </p:txBody>
        </p:sp>
        <p:sp>
          <p:nvSpPr>
            <p:cNvPr id="22" name="Rectangle 22"/>
            <p:cNvSpPr/>
            <p:nvPr/>
          </p:nvSpPr>
          <p:spPr>
            <a:xfrm>
              <a:off x="4381500" y="4810125"/>
              <a:ext cx="1047750" cy="523875"/>
            </a:xfrm>
            <a:prstGeom prst="roundRect">
              <a:avLst>
                <a:gd name="adj" fmla="val 7273"/>
              </a:avLst>
            </a:prstGeom>
            <a:solidFill>
              <a:schemeClr val="accent2"/>
            </a:solidFill>
            <a:ln>
              <a:noFill/>
            </a:ln>
          </p:spPr>
        </p:sp>
        <p:sp>
          <p:nvSpPr>
            <p:cNvPr id="23" name="TextBox 23"/>
            <p:cNvSpPr txBox="1"/>
            <p:nvPr/>
          </p:nvSpPr>
          <p:spPr>
            <a:xfrm>
              <a:off x="4481176" y="4600797"/>
              <a:ext cx="818223" cy="378164"/>
            </a:xfrm>
            <a:prstGeom prst="rect">
              <a:avLst/>
            </a:prstGeom>
            <a:noFill/>
            <a:ln>
              <a:noFill/>
            </a:ln>
          </p:spPr>
          <p:txBody>
            <a:bodyPr wrap="square" lIns="0" tIns="0" rIns="0" bIns="0" anchor="t" anchorCtr="0">
              <a:noAutofit/>
            </a:bodyPr>
            <a:lstStyle/>
            <a:p>
              <a:pPr algn="ctr"/>
              <a:r>
                <a:rPr lang="en-US" sz="900" b="1" dirty="0">
                  <a:solidFill>
                    <a:schemeClr val="dk1"/>
                  </a:solidFill>
                  <a:latin typeface="+mn-lt"/>
                  <a:ea typeface="+mn-ea"/>
                  <a:cs typeface="+mn-cs"/>
                </a:rPr>
                <a:t>$279B</a:t>
              </a:r>
              <a:endParaRPr lang="en-US" sz="900" b="1" dirty="0">
                <a:solidFill>
                  <a:schemeClr val="dk1"/>
                </a:solidFill>
                <a:latin typeface="+mn-lt"/>
                <a:ea typeface="+mn-ea"/>
                <a:cs typeface="+mn-cs"/>
              </a:endParaRPr>
            </a:p>
          </p:txBody>
        </p:sp>
        <p:sp>
          <p:nvSpPr>
            <p:cNvPr id="24" name="TextBox 24"/>
            <p:cNvSpPr txBox="1"/>
            <p:nvPr/>
          </p:nvSpPr>
          <p:spPr>
            <a:xfrm>
              <a:off x="4559804" y="5427335"/>
              <a:ext cx="660967" cy="151544"/>
            </a:xfrm>
            <a:prstGeom prst="rect">
              <a:avLst/>
            </a:prstGeom>
            <a:noFill/>
            <a:ln>
              <a:noFill/>
            </a:ln>
          </p:spPr>
          <p:txBody>
            <a:bodyPr wrap="square" lIns="0" tIns="0" rIns="0" bIns="0" anchor="t" anchorCtr="0">
              <a:spAutoFit/>
            </a:bodyPr>
            <a:lstStyle/>
            <a:p>
              <a:pPr algn="ctr"/>
              <a:r>
                <a:rPr lang="en-US" sz="900" dirty="0">
                  <a:solidFill>
                    <a:schemeClr val="dk2"/>
                  </a:solidFill>
                  <a:latin typeface="+mn-lt"/>
                  <a:ea typeface="+mn-ea"/>
                  <a:cs typeface="+mn-cs"/>
                </a:rPr>
                <a:t>2024</a:t>
              </a:r>
              <a:endParaRPr lang="en-US" sz="900" dirty="0">
                <a:solidFill>
                  <a:schemeClr val="dk2"/>
                </a:solidFill>
                <a:latin typeface="+mn-lt"/>
                <a:ea typeface="+mn-ea"/>
                <a:cs typeface="+mn-cs"/>
              </a:endParaRPr>
            </a:p>
          </p:txBody>
        </p:sp>
        <p:sp>
          <p:nvSpPr>
            <p:cNvPr id="25" name="Rectangle 25"/>
            <p:cNvSpPr/>
            <p:nvPr/>
          </p:nvSpPr>
          <p:spPr>
            <a:xfrm>
              <a:off x="5715000" y="4600575"/>
              <a:ext cx="1047750" cy="733425"/>
            </a:xfrm>
            <a:prstGeom prst="roundRect">
              <a:avLst>
                <a:gd name="adj" fmla="val 5195"/>
              </a:avLst>
            </a:prstGeom>
            <a:solidFill>
              <a:schemeClr val="accent1"/>
            </a:solidFill>
            <a:ln>
              <a:noFill/>
            </a:ln>
          </p:spPr>
        </p:sp>
        <p:sp>
          <p:nvSpPr>
            <p:cNvPr id="27" name="TextBox 27"/>
            <p:cNvSpPr txBox="1"/>
            <p:nvPr/>
          </p:nvSpPr>
          <p:spPr>
            <a:xfrm>
              <a:off x="5832595" y="5427335"/>
              <a:ext cx="744509" cy="151544"/>
            </a:xfrm>
            <a:prstGeom prst="rect">
              <a:avLst/>
            </a:prstGeom>
            <a:noFill/>
            <a:ln>
              <a:noFill/>
            </a:ln>
          </p:spPr>
          <p:txBody>
            <a:bodyPr wrap="square" lIns="0" tIns="0" rIns="0" bIns="0" anchor="t" anchorCtr="0">
              <a:spAutoFit/>
            </a:bodyPr>
            <a:lstStyle/>
            <a:p>
              <a:pPr algn="ctr"/>
              <a:r>
                <a:rPr lang="en-US" sz="900" dirty="0">
                  <a:solidFill>
                    <a:schemeClr val="dk2"/>
                  </a:solidFill>
                  <a:latin typeface="+mn-lt"/>
                  <a:ea typeface="+mn-ea"/>
                  <a:cs typeface="+mn-cs"/>
                </a:rPr>
                <a:t>2025</a:t>
              </a:r>
              <a:endParaRPr lang="en-US" sz="900" dirty="0">
                <a:solidFill>
                  <a:schemeClr val="dk2"/>
                </a:solidFill>
                <a:latin typeface="+mn-lt"/>
                <a:ea typeface="+mn-ea"/>
                <a:cs typeface="+mn-cs"/>
              </a:endParaRPr>
            </a:p>
          </p:txBody>
        </p:sp>
        <p:sp>
          <p:nvSpPr>
            <p:cNvPr id="28" name="Rectangle 28"/>
            <p:cNvSpPr/>
            <p:nvPr/>
          </p:nvSpPr>
          <p:spPr>
            <a:xfrm>
              <a:off x="7048500" y="4305300"/>
              <a:ext cx="1047750" cy="1028700"/>
            </a:xfrm>
            <a:prstGeom prst="roundRect">
              <a:avLst>
                <a:gd name="adj" fmla="val 3704"/>
              </a:avLst>
            </a:prstGeom>
            <a:solidFill>
              <a:schemeClr val="accent1"/>
            </a:solidFill>
            <a:ln>
              <a:noFill/>
            </a:ln>
          </p:spPr>
        </p:sp>
        <p:sp>
          <p:nvSpPr>
            <p:cNvPr id="30" name="TextBox 30"/>
            <p:cNvSpPr txBox="1"/>
            <p:nvPr/>
          </p:nvSpPr>
          <p:spPr>
            <a:xfrm>
              <a:off x="7026758" y="5427335"/>
              <a:ext cx="1035678" cy="151544"/>
            </a:xfrm>
            <a:prstGeom prst="rect">
              <a:avLst/>
            </a:prstGeom>
            <a:noFill/>
            <a:ln>
              <a:noFill/>
            </a:ln>
          </p:spPr>
          <p:txBody>
            <a:bodyPr wrap="square" lIns="0" tIns="0" rIns="0" bIns="0" anchor="t" anchorCtr="0">
              <a:spAutoFit/>
            </a:bodyPr>
            <a:lstStyle/>
            <a:p>
              <a:pPr algn="ctr"/>
              <a:r>
                <a:rPr lang="en-US" sz="900" dirty="0">
                  <a:solidFill>
                    <a:schemeClr val="dk2"/>
                  </a:solidFill>
                  <a:latin typeface="+mn-lt"/>
                  <a:ea typeface="+mn-ea"/>
                  <a:cs typeface="+mn-cs"/>
                </a:rPr>
                <a:t>2026E</a:t>
              </a:r>
              <a:endParaRPr lang="en-US" sz="900" dirty="0">
                <a:solidFill>
                  <a:schemeClr val="dk2"/>
                </a:solidFill>
                <a:latin typeface="+mn-lt"/>
                <a:ea typeface="+mn-ea"/>
                <a:cs typeface="+mn-cs"/>
              </a:endParaRPr>
            </a:p>
          </p:txBody>
        </p:sp>
        <p:sp>
          <p:nvSpPr>
            <p:cNvPr id="31" name="Rectangle 31"/>
            <p:cNvSpPr/>
            <p:nvPr/>
          </p:nvSpPr>
          <p:spPr>
            <a:xfrm>
              <a:off x="8382000" y="3409950"/>
              <a:ext cx="1047750" cy="1924050"/>
            </a:xfrm>
            <a:prstGeom prst="roundRect">
              <a:avLst>
                <a:gd name="adj" fmla="val 3636"/>
              </a:avLst>
            </a:prstGeom>
            <a:solidFill>
              <a:schemeClr val="dk1"/>
            </a:solidFill>
            <a:ln>
              <a:noFill/>
            </a:ln>
          </p:spPr>
        </p:sp>
        <p:sp>
          <p:nvSpPr>
            <p:cNvPr id="33" name="TextBox 33"/>
            <p:cNvSpPr txBox="1"/>
            <p:nvPr/>
          </p:nvSpPr>
          <p:spPr>
            <a:xfrm>
              <a:off x="8510862" y="5427335"/>
              <a:ext cx="788737" cy="151544"/>
            </a:xfrm>
            <a:prstGeom prst="rect">
              <a:avLst/>
            </a:prstGeom>
            <a:noFill/>
            <a:ln>
              <a:noFill/>
            </a:ln>
          </p:spPr>
          <p:txBody>
            <a:bodyPr wrap="square" lIns="0" tIns="0" rIns="0" bIns="0" anchor="t" anchorCtr="0">
              <a:spAutoFit/>
            </a:bodyPr>
            <a:lstStyle/>
            <a:p>
              <a:pPr algn="ctr"/>
              <a:r>
                <a:rPr lang="en-US" sz="900" dirty="0">
                  <a:solidFill>
                    <a:schemeClr val="dk2"/>
                  </a:solidFill>
                  <a:latin typeface="+mn-lt"/>
                  <a:ea typeface="+mn-ea"/>
                  <a:cs typeface="+mn-cs"/>
                </a:rPr>
                <a:t>2028E</a:t>
              </a:r>
              <a:endParaRPr lang="en-US" sz="900" dirty="0">
                <a:solidFill>
                  <a:schemeClr val="dk2"/>
                </a:solidFill>
                <a:latin typeface="+mn-lt"/>
                <a:ea typeface="+mn-ea"/>
                <a:cs typeface="+mn-cs"/>
              </a:endParaRPr>
            </a:p>
          </p:txBody>
        </p:sp>
        <p:sp>
          <p:nvSpPr>
            <p:cNvPr id="34" name="Rectangle 34"/>
            <p:cNvSpPr/>
            <p:nvPr/>
          </p:nvSpPr>
          <p:spPr>
            <a:xfrm>
              <a:off x="9715500" y="1905000"/>
              <a:ext cx="1143000" cy="3429000"/>
            </a:xfrm>
            <a:prstGeom prst="roundRect">
              <a:avLst>
                <a:gd name="adj" fmla="val 3333"/>
              </a:avLst>
            </a:prstGeom>
            <a:solidFill>
              <a:schemeClr val="dk1"/>
            </a:solidFill>
            <a:ln>
              <a:noFill/>
            </a:ln>
          </p:spPr>
        </p:sp>
        <p:sp>
          <p:nvSpPr>
            <p:cNvPr id="35" name="TextBox 35"/>
            <p:cNvSpPr txBox="1"/>
            <p:nvPr/>
          </p:nvSpPr>
          <p:spPr>
            <a:xfrm>
              <a:off x="9716082" y="1689490"/>
              <a:ext cx="1111849" cy="176569"/>
            </a:xfrm>
            <a:prstGeom prst="rect">
              <a:avLst/>
            </a:prstGeom>
            <a:noFill/>
            <a:ln>
              <a:noFill/>
            </a:ln>
          </p:spPr>
          <p:txBody>
            <a:bodyPr wrap="square" lIns="0" tIns="0" rIns="0" bIns="0" anchor="t" anchorCtr="0">
              <a:spAutoFit/>
            </a:bodyPr>
            <a:lstStyle/>
            <a:p>
              <a:pPr algn="ctr"/>
              <a:r>
                <a:rPr lang="en-US" sz="1050" b="1" dirty="0">
                  <a:solidFill>
                    <a:srgbClr val="E5544B"/>
                  </a:solidFill>
                  <a:latin typeface="+mn-lt"/>
                  <a:ea typeface="+mn-ea"/>
                  <a:cs typeface="+mn-cs"/>
                </a:rPr>
                <a:t>$1,811B</a:t>
              </a:r>
              <a:endParaRPr lang="en-US" sz="1050" b="1" dirty="0">
                <a:solidFill>
                  <a:srgbClr val="E5544B"/>
                </a:solidFill>
                <a:latin typeface="+mn-lt"/>
                <a:ea typeface="+mn-ea"/>
                <a:cs typeface="+mn-cs"/>
              </a:endParaRPr>
            </a:p>
          </p:txBody>
        </p:sp>
        <p:sp>
          <p:nvSpPr>
            <p:cNvPr id="36" name="TextBox 36"/>
            <p:cNvSpPr txBox="1"/>
            <p:nvPr/>
          </p:nvSpPr>
          <p:spPr>
            <a:xfrm>
              <a:off x="9953195" y="5427335"/>
              <a:ext cx="669567" cy="151544"/>
            </a:xfrm>
            <a:prstGeom prst="rect">
              <a:avLst/>
            </a:prstGeom>
            <a:noFill/>
            <a:ln>
              <a:noFill/>
            </a:ln>
          </p:spPr>
          <p:txBody>
            <a:bodyPr wrap="square" lIns="0" tIns="0" rIns="0" bIns="0" anchor="t" anchorCtr="0">
              <a:spAutoFit/>
            </a:bodyPr>
            <a:lstStyle/>
            <a:p>
              <a:pPr algn="ctr"/>
              <a:r>
                <a:rPr lang="en-US" sz="900" b="1" dirty="0">
                  <a:solidFill>
                    <a:schemeClr val="dk1"/>
                  </a:solidFill>
                  <a:latin typeface="+mn-lt"/>
                  <a:ea typeface="+mn-ea"/>
                  <a:cs typeface="+mn-cs"/>
                </a:rPr>
                <a:t>2030E</a:t>
              </a:r>
              <a:endParaRPr lang="en-US" sz="900" b="1" dirty="0">
                <a:solidFill>
                  <a:schemeClr val="dk1"/>
                </a:solidFill>
                <a:latin typeface="+mn-lt"/>
                <a:ea typeface="+mn-ea"/>
                <a:cs typeface="+mn-cs"/>
              </a:endParaRPr>
            </a:p>
          </p:txBody>
        </p:sp>
        <p:sp>
          <p:nvSpPr>
            <p:cNvPr id="37" name="Polyline 37"/>
            <p:cNvSpPr/>
            <p:nvPr/>
          </p:nvSpPr>
          <p:spPr>
            <a:xfrm>
              <a:off x="2238375" y="1905000"/>
              <a:ext cx="8048625" cy="3162300"/>
            </a:xfrm>
            <a:custGeom>
              <a:avLst/>
              <a:gdLst/>
              <a:ahLst/>
              <a:cxnLst/>
              <a:rect l="l" t="t" r="r" b="b"/>
              <a:pathLst>
                <a:path w="8048625" h="3162300">
                  <a:moveTo>
                    <a:pt x="0" y="3162300"/>
                  </a:moveTo>
                  <a:lnTo>
                    <a:pt x="1333500" y="3057525"/>
                  </a:lnTo>
                  <a:lnTo>
                    <a:pt x="2667000" y="2905125"/>
                  </a:lnTo>
                  <a:lnTo>
                    <a:pt x="4000500" y="2695575"/>
                  </a:lnTo>
                  <a:lnTo>
                    <a:pt x="5334000" y="2400300"/>
                  </a:lnTo>
                  <a:lnTo>
                    <a:pt x="6667500" y="1504950"/>
                  </a:lnTo>
                  <a:lnTo>
                    <a:pt x="8048625" y="0"/>
                  </a:lnTo>
                </a:path>
              </a:pathLst>
            </a:custGeom>
            <a:noFill/>
            <a:ln w="28575">
              <a:solidFill>
                <a:srgbClr val="E5544B"/>
              </a:solidFill>
              <a:custDash>
                <a:ds d="200000" sp="133333"/>
              </a:custDash>
            </a:ln>
          </p:spPr>
        </p:sp>
        <p:sp>
          <p:nvSpPr>
            <p:cNvPr id="38" name="Ellipse 38"/>
            <p:cNvSpPr/>
            <p:nvPr/>
          </p:nvSpPr>
          <p:spPr>
            <a:xfrm>
              <a:off x="2200275" y="5029200"/>
              <a:ext cx="76200" cy="76200"/>
            </a:xfrm>
            <a:prstGeom prst="ellipse">
              <a:avLst/>
            </a:prstGeom>
            <a:solidFill>
              <a:srgbClr val="E5544B"/>
            </a:solidFill>
            <a:ln>
              <a:noFill/>
            </a:ln>
          </p:spPr>
        </p:sp>
        <p:sp>
          <p:nvSpPr>
            <p:cNvPr id="39" name="Ellipse 39"/>
            <p:cNvSpPr/>
            <p:nvPr/>
          </p:nvSpPr>
          <p:spPr>
            <a:xfrm>
              <a:off x="3533775" y="4924425"/>
              <a:ext cx="76200" cy="76200"/>
            </a:xfrm>
            <a:prstGeom prst="ellipse">
              <a:avLst/>
            </a:prstGeom>
            <a:solidFill>
              <a:srgbClr val="E5544B"/>
            </a:solidFill>
            <a:ln>
              <a:noFill/>
            </a:ln>
          </p:spPr>
        </p:sp>
        <p:sp>
          <p:nvSpPr>
            <p:cNvPr id="40" name="Ellipse 40"/>
            <p:cNvSpPr/>
            <p:nvPr/>
          </p:nvSpPr>
          <p:spPr>
            <a:xfrm>
              <a:off x="4867275" y="4772025"/>
              <a:ext cx="76200" cy="76200"/>
            </a:xfrm>
            <a:prstGeom prst="ellipse">
              <a:avLst/>
            </a:prstGeom>
            <a:solidFill>
              <a:srgbClr val="E5544B"/>
            </a:solidFill>
            <a:ln>
              <a:noFill/>
            </a:ln>
          </p:spPr>
        </p:sp>
        <p:sp>
          <p:nvSpPr>
            <p:cNvPr id="41" name="Ellipse 41"/>
            <p:cNvSpPr/>
            <p:nvPr/>
          </p:nvSpPr>
          <p:spPr>
            <a:xfrm>
              <a:off x="6200775" y="4562475"/>
              <a:ext cx="76200" cy="76200"/>
            </a:xfrm>
            <a:prstGeom prst="ellipse">
              <a:avLst/>
            </a:prstGeom>
            <a:solidFill>
              <a:srgbClr val="E5544B"/>
            </a:solidFill>
            <a:ln>
              <a:noFill/>
            </a:ln>
          </p:spPr>
        </p:sp>
        <p:sp>
          <p:nvSpPr>
            <p:cNvPr id="42" name="Ellipse 42"/>
            <p:cNvSpPr/>
            <p:nvPr/>
          </p:nvSpPr>
          <p:spPr>
            <a:xfrm>
              <a:off x="7534275" y="4267200"/>
              <a:ext cx="76200" cy="76200"/>
            </a:xfrm>
            <a:prstGeom prst="ellipse">
              <a:avLst/>
            </a:prstGeom>
            <a:solidFill>
              <a:srgbClr val="E5544B"/>
            </a:solidFill>
            <a:ln>
              <a:noFill/>
            </a:ln>
          </p:spPr>
        </p:sp>
        <p:sp>
          <p:nvSpPr>
            <p:cNvPr id="43" name="Ellipse 43"/>
            <p:cNvSpPr/>
            <p:nvPr/>
          </p:nvSpPr>
          <p:spPr>
            <a:xfrm>
              <a:off x="8867775" y="3371850"/>
              <a:ext cx="76200" cy="76200"/>
            </a:xfrm>
            <a:prstGeom prst="ellipse">
              <a:avLst/>
            </a:prstGeom>
            <a:solidFill>
              <a:srgbClr val="E5544B"/>
            </a:solidFill>
            <a:ln>
              <a:noFill/>
            </a:ln>
          </p:spPr>
        </p:sp>
        <p:sp>
          <p:nvSpPr>
            <p:cNvPr id="44" name="Ellipse 44"/>
            <p:cNvSpPr/>
            <p:nvPr/>
          </p:nvSpPr>
          <p:spPr>
            <a:xfrm>
              <a:off x="10229850" y="1847850"/>
              <a:ext cx="114300" cy="114300"/>
            </a:xfrm>
            <a:prstGeom prst="ellipse">
              <a:avLst/>
            </a:prstGeom>
            <a:solidFill>
              <a:srgbClr val="E5544B"/>
            </a:solidFill>
            <a:ln>
              <a:noFill/>
            </a:ln>
          </p:spPr>
        </p:sp>
        <p:sp>
          <p:nvSpPr>
            <p:cNvPr id="29" name="TextBox 29"/>
            <p:cNvSpPr txBox="1"/>
            <p:nvPr/>
          </p:nvSpPr>
          <p:spPr>
            <a:xfrm>
              <a:off x="7129957" y="4132262"/>
              <a:ext cx="793652" cy="151544"/>
            </a:xfrm>
            <a:prstGeom prst="rect">
              <a:avLst/>
            </a:prstGeom>
            <a:noFill/>
            <a:ln>
              <a:noFill/>
            </a:ln>
          </p:spPr>
          <p:txBody>
            <a:bodyPr wrap="square" lIns="0" tIns="0" rIns="0" bIns="0" anchor="t" anchorCtr="0">
              <a:spAutoFit/>
            </a:bodyPr>
            <a:lstStyle/>
            <a:p>
              <a:pPr algn="ctr"/>
              <a:r>
                <a:rPr lang="en-US" sz="900" b="1" dirty="0">
                  <a:solidFill>
                    <a:schemeClr val="dk1"/>
                  </a:solidFill>
                  <a:latin typeface="+mn-lt"/>
                  <a:ea typeface="+mn-ea"/>
                  <a:cs typeface="+mn-cs"/>
                </a:rPr>
                <a:t>$546B</a:t>
              </a:r>
              <a:endParaRPr lang="en-US" sz="900" b="1" dirty="0">
                <a:solidFill>
                  <a:schemeClr val="dk1"/>
                </a:solidFill>
                <a:latin typeface="+mn-lt"/>
                <a:ea typeface="+mn-ea"/>
                <a:cs typeface="+mn-cs"/>
              </a:endParaRPr>
            </a:p>
          </p:txBody>
        </p:sp>
        <p:sp>
          <p:nvSpPr>
            <p:cNvPr id="26" name="TextBox 26"/>
            <p:cNvSpPr txBox="1"/>
            <p:nvPr/>
          </p:nvSpPr>
          <p:spPr>
            <a:xfrm>
              <a:off x="5832595" y="4427008"/>
              <a:ext cx="753109" cy="151544"/>
            </a:xfrm>
            <a:prstGeom prst="rect">
              <a:avLst/>
            </a:prstGeom>
            <a:noFill/>
            <a:ln>
              <a:noFill/>
            </a:ln>
          </p:spPr>
          <p:txBody>
            <a:bodyPr wrap="square" lIns="0" tIns="0" rIns="0" bIns="0" anchor="t" anchorCtr="0">
              <a:spAutoFit/>
            </a:bodyPr>
            <a:lstStyle/>
            <a:p>
              <a:pPr algn="ctr"/>
              <a:r>
                <a:rPr lang="en-US" sz="900" b="1" dirty="0">
                  <a:solidFill>
                    <a:schemeClr val="dk1"/>
                  </a:solidFill>
                  <a:latin typeface="+mn-lt"/>
                  <a:ea typeface="+mn-ea"/>
                  <a:cs typeface="+mn-cs"/>
                </a:rPr>
                <a:t>$391B</a:t>
              </a:r>
              <a:endParaRPr lang="en-US" sz="900" b="1" dirty="0">
                <a:solidFill>
                  <a:schemeClr val="dk1"/>
                </a:solidFill>
                <a:latin typeface="+mn-lt"/>
                <a:ea typeface="+mn-ea"/>
                <a:cs typeface="+mn-cs"/>
              </a:endParaRPr>
            </a:p>
          </p:txBody>
        </p:sp>
        <p:sp>
          <p:nvSpPr>
            <p:cNvPr id="32" name="TextBox 32"/>
            <p:cNvSpPr txBox="1"/>
            <p:nvPr/>
          </p:nvSpPr>
          <p:spPr>
            <a:xfrm>
              <a:off x="8462948" y="3236903"/>
              <a:ext cx="891937" cy="151544"/>
            </a:xfrm>
            <a:prstGeom prst="rect">
              <a:avLst/>
            </a:prstGeom>
            <a:noFill/>
            <a:ln>
              <a:noFill/>
            </a:ln>
          </p:spPr>
          <p:txBody>
            <a:bodyPr wrap="square" lIns="0" tIns="0" rIns="0" bIns="0" anchor="t" anchorCtr="0">
              <a:spAutoFit/>
            </a:bodyPr>
            <a:lstStyle/>
            <a:p>
              <a:pPr algn="ctr"/>
              <a:r>
                <a:rPr lang="en-US" sz="900" b="1" dirty="0">
                  <a:solidFill>
                    <a:schemeClr val="dk1"/>
                  </a:solidFill>
                  <a:latin typeface="+mn-lt"/>
                  <a:ea typeface="+mn-ea"/>
                  <a:cs typeface="+mn-cs"/>
                </a:rPr>
                <a:t>$1,050B</a:t>
              </a:r>
              <a:endParaRPr lang="en-US" sz="900" b="1" dirty="0">
                <a:solidFill>
                  <a:schemeClr val="dk1"/>
                </a:solidFill>
                <a:latin typeface="+mn-lt"/>
                <a:ea typeface="+mn-ea"/>
                <a:cs typeface="+mn-cs"/>
              </a:endParaRPr>
            </a:p>
          </p:txBody>
        </p:sp>
      </p:grpSp>
      <p:grpSp>
        <p:nvGrpSpPr>
          <p:cNvPr id="63" name="Group 63"/>
          <p:cNvGrpSpPr/>
          <p:nvPr/>
        </p:nvGrpSpPr>
        <p:grpSpPr>
          <a:xfrm>
            <a:off x="571500" y="5772150"/>
            <a:ext cx="10996295" cy="761899"/>
            <a:chOff x="571500" y="5772150"/>
            <a:chExt cx="11049000" cy="762000"/>
          </a:xfrm>
        </p:grpSpPr>
        <p:sp>
          <p:nvSpPr>
            <p:cNvPr id="47" name="Rectangle 47"/>
            <p:cNvSpPr/>
            <p:nvPr/>
          </p:nvSpPr>
          <p:spPr>
            <a:xfrm>
              <a:off x="571500" y="5772150"/>
              <a:ext cx="3524250" cy="762000"/>
            </a:xfrm>
            <a:prstGeom prst="roundRect">
              <a:avLst>
                <a:gd name="adj" fmla="val 15000"/>
              </a:avLst>
            </a:prstGeom>
            <a:solidFill>
              <a:schemeClr val="lt2"/>
            </a:solidFill>
            <a:ln>
              <a:noFill/>
            </a:ln>
          </p:spPr>
        </p:sp>
        <p:sp>
          <p:nvSpPr>
            <p:cNvPr id="48" name="Rectangle 48"/>
            <p:cNvSpPr/>
            <p:nvPr/>
          </p:nvSpPr>
          <p:spPr>
            <a:xfrm>
              <a:off x="571500" y="5772150"/>
              <a:ext cx="76200" cy="762000"/>
            </a:xfrm>
            <a:prstGeom prst="roundRect">
              <a:avLst>
                <a:gd name="adj" fmla="val 50000"/>
              </a:avLst>
            </a:prstGeom>
            <a:solidFill>
              <a:schemeClr val="accent1"/>
            </a:solidFill>
            <a:ln>
              <a:noFill/>
            </a:ln>
          </p:spPr>
        </p:sp>
        <p:sp>
          <p:nvSpPr>
            <p:cNvPr id="49" name="TextBox 49"/>
            <p:cNvSpPr txBox="1"/>
            <p:nvPr/>
          </p:nvSpPr>
          <p:spPr>
            <a:xfrm>
              <a:off x="833247" y="5914549"/>
              <a:ext cx="1015972" cy="150515"/>
            </a:xfrm>
            <a:prstGeom prst="rect">
              <a:avLst/>
            </a:prstGeom>
            <a:noFill/>
            <a:ln>
              <a:noFill/>
            </a:ln>
          </p:spPr>
          <p:txBody>
            <a:bodyPr wrap="square" lIns="0" tIns="0" rIns="0" bIns="0" anchor="t" anchorCtr="0">
              <a:spAutoFit/>
            </a:bodyPr>
            <a:lstStyle/>
            <a:p>
              <a:pPr algn="l"/>
              <a:r>
                <a:rPr lang="zh-CN" sz="980" b="1" dirty="0">
                  <a:solidFill>
                    <a:schemeClr val="dk1"/>
                  </a:solidFill>
                  <a:latin typeface="微软雅黑" panose="020B0503020204020204" charset="-122"/>
                  <a:ea typeface="微软雅黑" panose="020B0503020204020204" charset="-122"/>
                  <a:cs typeface="微软雅黑" panose="020B0503020204020204" charset="-122"/>
                </a:rPr>
                <a:t>区域市场(2025)</a:t>
              </a:r>
              <a:endParaRPr lang="zh-CN" sz="98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 name="TextBox 50"/>
            <p:cNvSpPr txBox="1"/>
            <p:nvPr/>
          </p:nvSpPr>
          <p:spPr>
            <a:xfrm>
              <a:off x="833438" y="6170295"/>
              <a:ext cx="656006" cy="138448"/>
            </a:xfrm>
            <a:prstGeom prst="rect">
              <a:avLst/>
            </a:prstGeom>
            <a:noFill/>
            <a:ln>
              <a:noFill/>
            </a:ln>
          </p:spPr>
          <p:txBody>
            <a:bodyPr wrap="squar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全球 $391B</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1" name="TextBox 51"/>
            <p:cNvSpPr txBox="1"/>
            <p:nvPr/>
          </p:nvSpPr>
          <p:spPr>
            <a:xfrm>
              <a:off x="1995488" y="6170295"/>
              <a:ext cx="656006" cy="138448"/>
            </a:xfrm>
            <a:prstGeom prst="rect">
              <a:avLst/>
            </a:prstGeom>
            <a:noFill/>
            <a:ln>
              <a:noFill/>
            </a:ln>
          </p:spPr>
          <p:txBody>
            <a:bodyPr wrap="squar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美国 $158B</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2" name="TextBox 52"/>
            <p:cNvSpPr txBox="1"/>
            <p:nvPr/>
          </p:nvSpPr>
          <p:spPr>
            <a:xfrm>
              <a:off x="833438" y="6360795"/>
              <a:ext cx="585597" cy="138448"/>
            </a:xfrm>
            <a:prstGeom prst="rect">
              <a:avLst/>
            </a:prstGeom>
            <a:noFill/>
            <a:ln>
              <a:noFill/>
            </a:ln>
          </p:spPr>
          <p:txBody>
            <a:bodyPr wrap="squar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中国 $98B</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3" name="TextBox 53"/>
            <p:cNvSpPr txBox="1"/>
            <p:nvPr/>
          </p:nvSpPr>
          <p:spPr>
            <a:xfrm>
              <a:off x="1995488" y="6360795"/>
              <a:ext cx="656006" cy="138448"/>
            </a:xfrm>
            <a:prstGeom prst="rect">
              <a:avLst/>
            </a:prstGeom>
            <a:noFill/>
            <a:ln>
              <a:noFill/>
            </a:ln>
          </p:spPr>
          <p:txBody>
            <a:bodyPr wrap="squar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其他 $135B</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4" name="Rectangle 54"/>
            <p:cNvSpPr/>
            <p:nvPr/>
          </p:nvSpPr>
          <p:spPr>
            <a:xfrm>
              <a:off x="4286250" y="5772150"/>
              <a:ext cx="3524250" cy="762000"/>
            </a:xfrm>
            <a:prstGeom prst="roundRect">
              <a:avLst>
                <a:gd name="adj" fmla="val 15000"/>
              </a:avLst>
            </a:prstGeom>
            <a:solidFill>
              <a:schemeClr val="lt2"/>
            </a:solidFill>
            <a:ln>
              <a:noFill/>
            </a:ln>
          </p:spPr>
        </p:sp>
        <p:sp>
          <p:nvSpPr>
            <p:cNvPr id="55" name="Rectangle 55"/>
            <p:cNvSpPr/>
            <p:nvPr/>
          </p:nvSpPr>
          <p:spPr>
            <a:xfrm>
              <a:off x="4286250" y="5772150"/>
              <a:ext cx="76200" cy="762000"/>
            </a:xfrm>
            <a:prstGeom prst="roundRect">
              <a:avLst>
                <a:gd name="adj" fmla="val 50000"/>
              </a:avLst>
            </a:prstGeom>
            <a:solidFill>
              <a:schemeClr val="accent2"/>
            </a:solidFill>
            <a:ln>
              <a:noFill/>
            </a:ln>
          </p:spPr>
        </p:sp>
        <p:sp>
          <p:nvSpPr>
            <p:cNvPr id="56" name="TextBox 56"/>
            <p:cNvSpPr txBox="1"/>
            <p:nvPr/>
          </p:nvSpPr>
          <p:spPr>
            <a:xfrm>
              <a:off x="4547997" y="5914549"/>
              <a:ext cx="561175" cy="150515"/>
            </a:xfrm>
            <a:prstGeom prst="rect">
              <a:avLst/>
            </a:prstGeom>
            <a:noFill/>
            <a:ln>
              <a:noFill/>
            </a:ln>
          </p:spPr>
          <p:txBody>
            <a:bodyPr wrap="square" lIns="0" tIns="0" rIns="0" bIns="0" anchor="t" anchorCtr="0">
              <a:spAutoFit/>
            </a:bodyPr>
            <a:lstStyle/>
            <a:p>
              <a:pPr algn="l"/>
              <a:r>
                <a:rPr lang="zh-CN" sz="980" b="1" dirty="0">
                  <a:solidFill>
                    <a:schemeClr val="dk1"/>
                  </a:solidFill>
                  <a:latin typeface="微软雅黑" panose="020B0503020204020204" charset="-122"/>
                  <a:ea typeface="微软雅黑" panose="020B0503020204020204" charset="-122"/>
                  <a:cs typeface="微软雅黑" panose="020B0503020204020204" charset="-122"/>
                </a:rPr>
                <a:t>细分结构</a:t>
              </a:r>
              <a:endParaRPr lang="zh-CN" sz="98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7" name="TextBox 57"/>
            <p:cNvSpPr txBox="1"/>
            <p:nvPr/>
          </p:nvSpPr>
          <p:spPr>
            <a:xfrm>
              <a:off x="4548188" y="6170295"/>
              <a:ext cx="1699336" cy="138448"/>
            </a:xfrm>
            <a:prstGeom prst="rect">
              <a:avLst/>
            </a:prstGeom>
            <a:noFill/>
            <a:ln>
              <a:noFill/>
            </a:ln>
          </p:spPr>
          <p:txBody>
            <a:bodyPr wrap="squar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生成式 AI $670 亿(年增 44%)</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8" name="TextBox 58"/>
            <p:cNvSpPr txBox="1"/>
            <p:nvPr/>
          </p:nvSpPr>
          <p:spPr>
            <a:xfrm>
              <a:off x="4548188" y="6360795"/>
              <a:ext cx="1712138" cy="138448"/>
            </a:xfrm>
            <a:prstGeom prst="rect">
              <a:avLst/>
            </a:prstGeom>
            <a:noFill/>
            <a:ln>
              <a:noFill/>
            </a:ln>
          </p:spPr>
          <p:txBody>
            <a:bodyPr wrap="squar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传统 AI $2,240 亿(年增 24%)</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9" name="Rectangle 59"/>
            <p:cNvSpPr/>
            <p:nvPr/>
          </p:nvSpPr>
          <p:spPr>
            <a:xfrm>
              <a:off x="8001000" y="5772150"/>
              <a:ext cx="3619500" cy="762000"/>
            </a:xfrm>
            <a:prstGeom prst="roundRect">
              <a:avLst>
                <a:gd name="adj" fmla="val 15000"/>
              </a:avLst>
            </a:prstGeom>
            <a:solidFill>
              <a:schemeClr val="accent1"/>
            </a:solidFill>
            <a:ln>
              <a:noFill/>
            </a:ln>
          </p:spPr>
        </p:sp>
        <p:sp>
          <p:nvSpPr>
            <p:cNvPr id="60" name="TextBox 60"/>
            <p:cNvSpPr txBox="1"/>
            <p:nvPr/>
          </p:nvSpPr>
          <p:spPr>
            <a:xfrm>
              <a:off x="8262747" y="5914549"/>
              <a:ext cx="561175" cy="150515"/>
            </a:xfrm>
            <a:prstGeom prst="rect">
              <a:avLst/>
            </a:prstGeom>
            <a:noFill/>
            <a:ln>
              <a:noFill/>
            </a:ln>
          </p:spPr>
          <p:txBody>
            <a:bodyPr wrap="square" lIns="0" tIns="0" rIns="0" bIns="0" anchor="t" anchorCtr="0">
              <a:spAutoFit/>
            </a:bodyPr>
            <a:lstStyle/>
            <a:p>
              <a:pPr algn="l"/>
              <a:r>
                <a:rPr lang="zh-CN" sz="980" b="1" dirty="0">
                  <a:solidFill>
                    <a:srgbClr val="FFFFFF"/>
                  </a:solidFill>
                  <a:latin typeface="微软雅黑" panose="020B0503020204020204" charset="-122"/>
                  <a:ea typeface="微软雅黑" panose="020B0503020204020204" charset="-122"/>
                  <a:cs typeface="微软雅黑" panose="020B0503020204020204" charset="-122"/>
                </a:rPr>
                <a:t>关键判断</a:t>
              </a:r>
              <a:endParaRPr lang="zh-CN" sz="98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1" name="TextBox 61"/>
            <p:cNvSpPr txBox="1"/>
            <p:nvPr/>
          </p:nvSpPr>
          <p:spPr>
            <a:xfrm>
              <a:off x="8262938" y="6170295"/>
              <a:ext cx="2057781" cy="138448"/>
            </a:xfrm>
            <a:prstGeom prst="rect">
              <a:avLst/>
            </a:prstGeom>
            <a:noFill/>
            <a:ln>
              <a:noFill/>
            </a:ln>
          </p:spPr>
          <p:txBody>
            <a:bodyPr wrap="square" lIns="0" tIns="0" rIns="0" bIns="0" anchor="t" anchorCtr="0">
              <a:spAutoFit/>
            </a:bodyPr>
            <a:lstStyle/>
            <a:p>
              <a:pPr algn="l"/>
              <a:r>
                <a:rPr lang="zh-CN" sz="900" dirty="0">
                  <a:solidFill>
                    <a:srgbClr val="FFFFFF"/>
                  </a:solidFill>
                  <a:latin typeface="微软雅黑" panose="020B0503020204020204" charset="-122"/>
                  <a:ea typeface="微软雅黑" panose="020B0503020204020204" charset="-122"/>
                  <a:cs typeface="微软雅黑" panose="020B0503020204020204" charset="-122"/>
                </a:rPr>
                <a:t>5 年增长近 5 倍,生成式 AI 成主引擎</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2" name="TextBox 62"/>
            <p:cNvSpPr txBox="1"/>
            <p:nvPr/>
          </p:nvSpPr>
          <p:spPr>
            <a:xfrm>
              <a:off x="8262938" y="6360795"/>
              <a:ext cx="1494511" cy="138448"/>
            </a:xfrm>
            <a:prstGeom prst="rect">
              <a:avLst/>
            </a:prstGeom>
            <a:noFill/>
            <a:ln>
              <a:noFill/>
            </a:ln>
          </p:spPr>
          <p:txBody>
            <a:bodyPr wrap="square" lIns="0" tIns="0" rIns="0" bIns="0" anchor="t" anchorCtr="0">
              <a:spAutoFit/>
            </a:bodyPr>
            <a:lstStyle/>
            <a:p>
              <a:pPr algn="l"/>
              <a:r>
                <a:rPr lang="zh-CN" sz="900" dirty="0">
                  <a:solidFill>
                    <a:srgbClr val="D6E4F5"/>
                  </a:solidFill>
                  <a:latin typeface="微软雅黑" panose="020B0503020204020204" charset="-122"/>
                  <a:ea typeface="微软雅黑" panose="020B0503020204020204" charset="-122"/>
                  <a:cs typeface="微软雅黑" panose="020B0503020204020204" charset="-122"/>
                </a:rPr>
                <a:t>算力投资占 AI 支出超 40%</a:t>
              </a:r>
              <a:endParaRPr lang="zh-CN" sz="900" dirty="0">
                <a:solidFill>
                  <a:srgbClr val="D6E4F5"/>
                </a:solidFill>
                <a:latin typeface="微软雅黑" panose="020B0503020204020204" charset="-122"/>
                <a:ea typeface="微软雅黑" panose="020B0503020204020204" charset="-122"/>
                <a:cs typeface="微软雅黑" panose="020B0503020204020204" charset="-122"/>
              </a:endParaRPr>
            </a:p>
          </p:txBody>
        </p:sp>
      </p:grpSp>
      <p:pic>
        <p:nvPicPr>
          <p:cNvPr id="68" name="图片 67"/>
          <p:cNvPicPr/>
          <p:nvPr/>
        </p:nvPicPr>
        <p:blipFill>
          <a:blip r:embed="rId1"/>
          <a:stretch>
            <a:fillRect/>
          </a:stretch>
        </p:blipFill>
        <p:spPr>
          <a:xfrm>
            <a:off x="6307455" y="952500"/>
            <a:ext cx="5680075" cy="44570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solidFill>
            <a:schemeClr val="accent1"/>
          </a:solidFill>
          <a:ln>
            <a:noFill/>
          </a:ln>
        </p:spPr>
      </p:sp>
      <p:sp>
        <p:nvSpPr>
          <p:cNvPr id="3" name="Rectangle 3"/>
          <p:cNvSpPr/>
          <p:nvPr/>
        </p:nvSpPr>
        <p:spPr>
          <a:xfrm>
            <a:off x="571500" y="476250"/>
            <a:ext cx="57150" cy="361950"/>
          </a:xfrm>
          <a:prstGeom prst="roundRect">
            <a:avLst>
              <a:gd name="adj" fmla="val 50000"/>
            </a:avLst>
          </a:prstGeom>
          <a:solidFill>
            <a:schemeClr val="accent1"/>
          </a:solidFill>
          <a:ln>
            <a:noFill/>
          </a:ln>
        </p:spPr>
      </p:sp>
      <p:sp>
        <p:nvSpPr>
          <p:cNvPr id="4" name="TextBox 4"/>
          <p:cNvSpPr txBox="1"/>
          <p:nvPr/>
        </p:nvSpPr>
        <p:spPr>
          <a:xfrm>
            <a:off x="750570" y="519112"/>
            <a:ext cx="1295019"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微软雅黑" panose="020B0503020204020204" charset="-122"/>
                <a:ea typeface="微软雅黑" panose="020B0503020204020204" charset="-122"/>
                <a:cs typeface="微软雅黑" panose="020B0503020204020204" charset="-122"/>
              </a:rPr>
              <a:t>市场需求</a:t>
            </a:r>
            <a:endParaRPr lang="zh-CN" sz="22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nvSpPr>
        <p:spPr>
          <a:xfrm>
            <a:off x="756666" y="896302"/>
            <a:ext cx="5396141" cy="205359"/>
          </a:xfrm>
          <a:prstGeom prst="rect">
            <a:avLst/>
          </a:prstGeom>
          <a:noFill/>
          <a:ln>
            <a:noFill/>
          </a:ln>
        </p:spPr>
        <p:txBody>
          <a:bodyPr wrap="none" lIns="0" tIns="0" rIns="0" bIns="0" anchor="t" anchorCtr="0">
            <a:spAutoFit/>
          </a:bodyPr>
          <a:lstStyle/>
          <a:p>
            <a:pPr algn="l"/>
            <a:r>
              <a:rPr lang="zh-CN" sz="1050" dirty="0">
                <a:solidFill>
                  <a:schemeClr val="dk2"/>
                </a:solidFill>
                <a:latin typeface="微软雅黑" panose="020B0503020204020204" charset="-122"/>
                <a:ea typeface="微软雅黑" panose="020B0503020204020204" charset="-122"/>
                <a:cs typeface="微软雅黑" panose="020B0503020204020204" charset="-122"/>
              </a:rPr>
              <a:t>金融医疗制造领跑行业应用,需求从单点工具走向全流程智能化,端到端解决方案成主流</a:t>
            </a:r>
            <a:endParaRPr lang="zh-CN" sz="1050" dirty="0">
              <a:solidFill>
                <a:schemeClr val="dk2"/>
              </a:solidFill>
              <a:latin typeface="微软雅黑" panose="020B0503020204020204" charset="-122"/>
              <a:ea typeface="微软雅黑" panose="020B0503020204020204" charset="-122"/>
              <a:cs typeface="微软雅黑" panose="020B0503020204020204" charset="-122"/>
            </a:endParaRPr>
          </a:p>
        </p:txBody>
      </p:sp>
      <p:grpSp>
        <p:nvGrpSpPr>
          <p:cNvPr id="37" name="Group 37"/>
          <p:cNvGrpSpPr/>
          <p:nvPr/>
        </p:nvGrpSpPr>
        <p:grpSpPr>
          <a:xfrm>
            <a:off x="566420" y="1565275"/>
            <a:ext cx="5628005" cy="2587635"/>
            <a:chOff x="566547" y="1228249"/>
            <a:chExt cx="8059932" cy="2312969"/>
          </a:xfrm>
        </p:grpSpPr>
        <p:sp>
          <p:nvSpPr>
            <p:cNvPr id="6" name="TextBox 6"/>
            <p:cNvSpPr txBox="1"/>
            <p:nvPr/>
          </p:nvSpPr>
          <p:spPr>
            <a:xfrm>
              <a:off x="566547" y="1228249"/>
              <a:ext cx="1385998" cy="269041"/>
            </a:xfrm>
            <a:prstGeom prst="rect">
              <a:avLst/>
            </a:prstGeom>
            <a:noFill/>
            <a:ln>
              <a:noFill/>
            </a:ln>
          </p:spPr>
          <p:txBody>
            <a:bodyPr wrap="square" lIns="0" tIns="0" rIns="0" bIns="0" anchor="t" anchorCtr="0">
              <a:spAutoFit/>
            </a:bodyPr>
            <a:lstStyle/>
            <a:p>
              <a:pPr algn="l"/>
              <a:r>
                <a:rPr lang="zh-CN" sz="980" b="1" dirty="0">
                  <a:solidFill>
                    <a:schemeClr val="dk1"/>
                  </a:solidFill>
                  <a:latin typeface="微软雅黑" panose="020B0503020204020204" charset="-122"/>
                  <a:ea typeface="微软雅黑" panose="020B0503020204020204" charset="-122"/>
                  <a:cs typeface="微软雅黑" panose="020B0503020204020204" charset="-122"/>
                </a:rPr>
                <a:t>行业 AI 应用需求分布</a:t>
              </a:r>
              <a:endParaRPr lang="zh-CN" sz="98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 name="TextBox 7"/>
            <p:cNvSpPr txBox="1"/>
            <p:nvPr/>
          </p:nvSpPr>
          <p:spPr>
            <a:xfrm>
              <a:off x="566738" y="1541145"/>
              <a:ext cx="251841" cy="247473"/>
            </a:xfrm>
            <a:prstGeom prst="rect">
              <a:avLst/>
            </a:prstGeom>
            <a:noFill/>
            <a:ln>
              <a:noFill/>
            </a:ln>
          </p:spPr>
          <p:txBody>
            <a:bodyPr wrap="squar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金融</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8" name="Rectangle 8"/>
            <p:cNvSpPr/>
            <p:nvPr/>
          </p:nvSpPr>
          <p:spPr>
            <a:xfrm>
              <a:off x="1524000" y="1524000"/>
              <a:ext cx="5143500" cy="209550"/>
            </a:xfrm>
            <a:prstGeom prst="roundRect">
              <a:avLst>
                <a:gd name="adj" fmla="val 50000"/>
              </a:avLst>
            </a:prstGeom>
            <a:solidFill>
              <a:schemeClr val="lt2"/>
            </a:solidFill>
            <a:ln>
              <a:noFill/>
            </a:ln>
          </p:spPr>
        </p:sp>
        <p:sp>
          <p:nvSpPr>
            <p:cNvPr id="9" name="Rectangle 9"/>
            <p:cNvSpPr/>
            <p:nvPr/>
          </p:nvSpPr>
          <p:spPr>
            <a:xfrm>
              <a:off x="1524000" y="1524000"/>
              <a:ext cx="5143500" cy="209550"/>
            </a:xfrm>
            <a:prstGeom prst="roundRect">
              <a:avLst>
                <a:gd name="adj" fmla="val 50000"/>
              </a:avLst>
            </a:prstGeom>
            <a:solidFill>
              <a:schemeClr val="accent1"/>
            </a:solidFill>
            <a:ln>
              <a:noFill/>
            </a:ln>
          </p:spPr>
        </p:sp>
        <p:sp>
          <p:nvSpPr>
            <p:cNvPr id="10" name="TextBox 10"/>
            <p:cNvSpPr txBox="1"/>
            <p:nvPr/>
          </p:nvSpPr>
          <p:spPr>
            <a:xfrm>
              <a:off x="6777038" y="1579245"/>
              <a:ext cx="244874" cy="247473"/>
            </a:xfrm>
            <a:prstGeom prst="rect">
              <a:avLst/>
            </a:prstGeom>
            <a:noFill/>
            <a:ln>
              <a:noFill/>
            </a:ln>
          </p:spPr>
          <p:txBody>
            <a:bodyPr wrap="square" lIns="0" tIns="0" rIns="0" bIns="0" anchor="t" anchorCtr="0">
              <a:spAutoFit/>
            </a:bodyPr>
            <a:lstStyle/>
            <a:p>
              <a:pPr algn="l"/>
              <a:r>
                <a:rPr lang="en-US" sz="900" b="1" dirty="0">
                  <a:solidFill>
                    <a:schemeClr val="accent1"/>
                  </a:solidFill>
                  <a:latin typeface="+mn-lt"/>
                  <a:ea typeface="+mn-ea"/>
                  <a:cs typeface="+mn-cs"/>
                </a:rPr>
                <a:t>32%</a:t>
              </a:r>
              <a:endParaRPr lang="en-US" sz="900" b="1" dirty="0">
                <a:solidFill>
                  <a:schemeClr val="accent1"/>
                </a:solidFill>
                <a:latin typeface="+mn-lt"/>
                <a:ea typeface="+mn-ea"/>
                <a:cs typeface="+mn-cs"/>
              </a:endParaRPr>
            </a:p>
          </p:txBody>
        </p:sp>
        <p:sp>
          <p:nvSpPr>
            <p:cNvPr id="11" name="TextBox 11"/>
            <p:cNvSpPr txBox="1"/>
            <p:nvPr/>
          </p:nvSpPr>
          <p:spPr>
            <a:xfrm>
              <a:off x="7234238" y="1587341"/>
              <a:ext cx="1392241" cy="224201"/>
            </a:xfrm>
            <a:prstGeom prst="rect">
              <a:avLst/>
            </a:prstGeom>
            <a:noFill/>
            <a:ln>
              <a:noFill/>
            </a:ln>
          </p:spPr>
          <p:txBody>
            <a:bodyPr wrap="squar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$425亿 · 风控/投顾/反欺诈</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nvSpPr>
          <p:spPr>
            <a:xfrm>
              <a:off x="566738" y="1884045"/>
              <a:ext cx="251841" cy="247473"/>
            </a:xfrm>
            <a:prstGeom prst="rect">
              <a:avLst/>
            </a:prstGeom>
            <a:noFill/>
            <a:ln>
              <a:noFill/>
            </a:ln>
          </p:spPr>
          <p:txBody>
            <a:bodyPr wrap="squar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医疗</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3" name="Rectangle 13"/>
            <p:cNvSpPr/>
            <p:nvPr/>
          </p:nvSpPr>
          <p:spPr>
            <a:xfrm>
              <a:off x="1524000" y="1866900"/>
              <a:ext cx="5143500" cy="209550"/>
            </a:xfrm>
            <a:prstGeom prst="roundRect">
              <a:avLst>
                <a:gd name="adj" fmla="val 50000"/>
              </a:avLst>
            </a:prstGeom>
            <a:solidFill>
              <a:schemeClr val="lt2"/>
            </a:solidFill>
            <a:ln>
              <a:noFill/>
            </a:ln>
          </p:spPr>
        </p:sp>
        <p:sp>
          <p:nvSpPr>
            <p:cNvPr id="14" name="Rectangle 14"/>
            <p:cNvSpPr/>
            <p:nvPr/>
          </p:nvSpPr>
          <p:spPr>
            <a:xfrm>
              <a:off x="1524000" y="1866900"/>
              <a:ext cx="3857625" cy="209550"/>
            </a:xfrm>
            <a:prstGeom prst="roundRect">
              <a:avLst>
                <a:gd name="adj" fmla="val 50000"/>
              </a:avLst>
            </a:prstGeom>
            <a:solidFill>
              <a:schemeClr val="accent2"/>
            </a:solidFill>
            <a:ln>
              <a:noFill/>
            </a:ln>
          </p:spPr>
        </p:sp>
        <p:sp>
          <p:nvSpPr>
            <p:cNvPr id="15" name="TextBox 15"/>
            <p:cNvSpPr txBox="1"/>
            <p:nvPr/>
          </p:nvSpPr>
          <p:spPr>
            <a:xfrm>
              <a:off x="5491162" y="1922145"/>
              <a:ext cx="244874" cy="247473"/>
            </a:xfrm>
            <a:prstGeom prst="rect">
              <a:avLst/>
            </a:prstGeom>
            <a:noFill/>
            <a:ln>
              <a:noFill/>
            </a:ln>
          </p:spPr>
          <p:txBody>
            <a:bodyPr wrap="square" lIns="0" tIns="0" rIns="0" bIns="0" anchor="t" anchorCtr="0">
              <a:spAutoFit/>
            </a:bodyPr>
            <a:lstStyle/>
            <a:p>
              <a:pPr algn="l"/>
              <a:r>
                <a:rPr lang="en-US" sz="900" b="1" dirty="0">
                  <a:solidFill>
                    <a:schemeClr val="accent2"/>
                  </a:solidFill>
                  <a:latin typeface="+mn-lt"/>
                  <a:ea typeface="+mn-ea"/>
                  <a:cs typeface="+mn-cs"/>
                </a:rPr>
                <a:t>24%</a:t>
              </a:r>
              <a:endParaRPr lang="en-US" sz="900" b="1" dirty="0">
                <a:solidFill>
                  <a:schemeClr val="accent2"/>
                </a:solidFill>
                <a:latin typeface="+mn-lt"/>
                <a:ea typeface="+mn-ea"/>
                <a:cs typeface="+mn-cs"/>
              </a:endParaRPr>
            </a:p>
          </p:txBody>
        </p:sp>
        <p:sp>
          <p:nvSpPr>
            <p:cNvPr id="16" name="TextBox 16"/>
            <p:cNvSpPr txBox="1"/>
            <p:nvPr/>
          </p:nvSpPr>
          <p:spPr>
            <a:xfrm>
              <a:off x="7234238" y="1930241"/>
              <a:ext cx="1220095" cy="224201"/>
            </a:xfrm>
            <a:prstGeom prst="rect">
              <a:avLst/>
            </a:prstGeom>
            <a:noFill/>
            <a:ln>
              <a:noFill/>
            </a:ln>
          </p:spPr>
          <p:txBody>
            <a:bodyPr wrap="squar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$319亿 · 影像诊断/药研</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7" name="TextBox 17"/>
            <p:cNvSpPr txBox="1"/>
            <p:nvPr/>
          </p:nvSpPr>
          <p:spPr>
            <a:xfrm>
              <a:off x="566738" y="2226945"/>
              <a:ext cx="251841" cy="247473"/>
            </a:xfrm>
            <a:prstGeom prst="rect">
              <a:avLst/>
            </a:prstGeom>
            <a:noFill/>
            <a:ln>
              <a:noFill/>
            </a:ln>
          </p:spPr>
          <p:txBody>
            <a:bodyPr wrap="squar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制造</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8" name="Rectangle 18"/>
            <p:cNvSpPr/>
            <p:nvPr/>
          </p:nvSpPr>
          <p:spPr>
            <a:xfrm>
              <a:off x="1524000" y="2209800"/>
              <a:ext cx="5143500" cy="209550"/>
            </a:xfrm>
            <a:prstGeom prst="roundRect">
              <a:avLst>
                <a:gd name="adj" fmla="val 50000"/>
              </a:avLst>
            </a:prstGeom>
            <a:solidFill>
              <a:schemeClr val="lt2"/>
            </a:solidFill>
            <a:ln>
              <a:noFill/>
            </a:ln>
          </p:spPr>
        </p:sp>
        <p:sp>
          <p:nvSpPr>
            <p:cNvPr id="19" name="Rectangle 19"/>
            <p:cNvSpPr/>
            <p:nvPr/>
          </p:nvSpPr>
          <p:spPr>
            <a:xfrm>
              <a:off x="1524000" y="2209800"/>
              <a:ext cx="2895600" cy="209550"/>
            </a:xfrm>
            <a:prstGeom prst="roundRect">
              <a:avLst>
                <a:gd name="adj" fmla="val 50000"/>
              </a:avLst>
            </a:prstGeom>
            <a:solidFill>
              <a:schemeClr val="accent2"/>
            </a:solidFill>
            <a:ln>
              <a:noFill/>
            </a:ln>
          </p:spPr>
        </p:sp>
        <p:sp>
          <p:nvSpPr>
            <p:cNvPr id="20" name="TextBox 20"/>
            <p:cNvSpPr txBox="1"/>
            <p:nvPr/>
          </p:nvSpPr>
          <p:spPr>
            <a:xfrm>
              <a:off x="4529138" y="2265045"/>
              <a:ext cx="244874" cy="247473"/>
            </a:xfrm>
            <a:prstGeom prst="rect">
              <a:avLst/>
            </a:prstGeom>
            <a:noFill/>
            <a:ln>
              <a:noFill/>
            </a:ln>
          </p:spPr>
          <p:txBody>
            <a:bodyPr wrap="square" lIns="0" tIns="0" rIns="0" bIns="0" anchor="t" anchorCtr="0">
              <a:spAutoFit/>
            </a:bodyPr>
            <a:lstStyle/>
            <a:p>
              <a:pPr algn="l"/>
              <a:r>
                <a:rPr lang="en-US" sz="900" b="1" dirty="0">
                  <a:solidFill>
                    <a:schemeClr val="accent2"/>
                  </a:solidFill>
                  <a:latin typeface="+mn-lt"/>
                  <a:ea typeface="+mn-ea"/>
                  <a:cs typeface="+mn-cs"/>
                </a:rPr>
                <a:t>18%</a:t>
              </a:r>
              <a:endParaRPr lang="en-US" sz="900" b="1" dirty="0">
                <a:solidFill>
                  <a:schemeClr val="accent2"/>
                </a:solidFill>
                <a:latin typeface="+mn-lt"/>
                <a:ea typeface="+mn-ea"/>
                <a:cs typeface="+mn-cs"/>
              </a:endParaRPr>
            </a:p>
          </p:txBody>
        </p:sp>
        <p:sp>
          <p:nvSpPr>
            <p:cNvPr id="21" name="TextBox 21"/>
            <p:cNvSpPr txBox="1"/>
            <p:nvPr/>
          </p:nvSpPr>
          <p:spPr>
            <a:xfrm>
              <a:off x="7234238" y="2273141"/>
              <a:ext cx="1220095" cy="224201"/>
            </a:xfrm>
            <a:prstGeom prst="rect">
              <a:avLst/>
            </a:prstGeom>
            <a:noFill/>
            <a:ln>
              <a:noFill/>
            </a:ln>
          </p:spPr>
          <p:txBody>
            <a:bodyPr wrap="squar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$239亿 · 质检/预测维护</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2" name="TextBox 22"/>
            <p:cNvSpPr txBox="1"/>
            <p:nvPr/>
          </p:nvSpPr>
          <p:spPr>
            <a:xfrm>
              <a:off x="566738" y="2569845"/>
              <a:ext cx="251841" cy="247473"/>
            </a:xfrm>
            <a:prstGeom prst="rect">
              <a:avLst/>
            </a:prstGeom>
            <a:noFill/>
            <a:ln>
              <a:noFill/>
            </a:ln>
          </p:spPr>
          <p:txBody>
            <a:bodyPr wrap="squar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教育</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3" name="Rectangle 23"/>
            <p:cNvSpPr/>
            <p:nvPr/>
          </p:nvSpPr>
          <p:spPr>
            <a:xfrm>
              <a:off x="1524000" y="2552700"/>
              <a:ext cx="5143500" cy="209550"/>
            </a:xfrm>
            <a:prstGeom prst="roundRect">
              <a:avLst>
                <a:gd name="adj" fmla="val 50000"/>
              </a:avLst>
            </a:prstGeom>
            <a:solidFill>
              <a:schemeClr val="lt2"/>
            </a:solidFill>
            <a:ln>
              <a:noFill/>
            </a:ln>
          </p:spPr>
        </p:sp>
        <p:sp>
          <p:nvSpPr>
            <p:cNvPr id="24" name="Rectangle 24"/>
            <p:cNvSpPr/>
            <p:nvPr/>
          </p:nvSpPr>
          <p:spPr>
            <a:xfrm>
              <a:off x="1524000" y="2552700"/>
              <a:ext cx="1924050" cy="209550"/>
            </a:xfrm>
            <a:prstGeom prst="roundRect">
              <a:avLst>
                <a:gd name="adj" fmla="val 50000"/>
              </a:avLst>
            </a:prstGeom>
            <a:solidFill>
              <a:schemeClr val="accent3"/>
            </a:solidFill>
            <a:ln>
              <a:noFill/>
            </a:ln>
          </p:spPr>
        </p:sp>
        <p:sp>
          <p:nvSpPr>
            <p:cNvPr id="25" name="TextBox 25"/>
            <p:cNvSpPr txBox="1"/>
            <p:nvPr/>
          </p:nvSpPr>
          <p:spPr>
            <a:xfrm>
              <a:off x="3557588" y="2607945"/>
              <a:ext cx="244874" cy="247473"/>
            </a:xfrm>
            <a:prstGeom prst="rect">
              <a:avLst/>
            </a:prstGeom>
            <a:noFill/>
            <a:ln>
              <a:noFill/>
            </a:ln>
          </p:spPr>
          <p:txBody>
            <a:bodyPr wrap="square" lIns="0" tIns="0" rIns="0" bIns="0" anchor="t" anchorCtr="0">
              <a:spAutoFit/>
            </a:bodyPr>
            <a:lstStyle/>
            <a:p>
              <a:pPr algn="l"/>
              <a:r>
                <a:rPr lang="en-US" sz="900" b="1" dirty="0">
                  <a:solidFill>
                    <a:schemeClr val="dk1"/>
                  </a:solidFill>
                  <a:latin typeface="+mn-lt"/>
                  <a:ea typeface="+mn-ea"/>
                  <a:cs typeface="+mn-cs"/>
                </a:rPr>
                <a:t>12%</a:t>
              </a:r>
              <a:endParaRPr lang="en-US" sz="900" b="1" dirty="0">
                <a:solidFill>
                  <a:schemeClr val="dk1"/>
                </a:solidFill>
                <a:latin typeface="+mn-lt"/>
                <a:ea typeface="+mn-ea"/>
                <a:cs typeface="+mn-cs"/>
              </a:endParaRPr>
            </a:p>
          </p:txBody>
        </p:sp>
        <p:sp>
          <p:nvSpPr>
            <p:cNvPr id="26" name="TextBox 26"/>
            <p:cNvSpPr txBox="1"/>
            <p:nvPr/>
          </p:nvSpPr>
          <p:spPr>
            <a:xfrm>
              <a:off x="7234238" y="2616041"/>
              <a:ext cx="1331157" cy="224201"/>
            </a:xfrm>
            <a:prstGeom prst="rect">
              <a:avLst/>
            </a:prstGeom>
            <a:noFill/>
            <a:ln>
              <a:noFill/>
            </a:ln>
          </p:spPr>
          <p:txBody>
            <a:bodyPr wrap="squar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$159亿 · 个性化辅导/批改</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7" name="TextBox 27"/>
            <p:cNvSpPr txBox="1"/>
            <p:nvPr/>
          </p:nvSpPr>
          <p:spPr>
            <a:xfrm>
              <a:off x="566738" y="2912745"/>
              <a:ext cx="251841" cy="247473"/>
            </a:xfrm>
            <a:prstGeom prst="rect">
              <a:avLst/>
            </a:prstGeom>
            <a:noFill/>
            <a:ln>
              <a:noFill/>
            </a:ln>
          </p:spPr>
          <p:txBody>
            <a:bodyPr wrap="squar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零售</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8" name="Rectangle 28"/>
            <p:cNvSpPr/>
            <p:nvPr/>
          </p:nvSpPr>
          <p:spPr>
            <a:xfrm>
              <a:off x="1524000" y="2895600"/>
              <a:ext cx="5143500" cy="209550"/>
            </a:xfrm>
            <a:prstGeom prst="roundRect">
              <a:avLst>
                <a:gd name="adj" fmla="val 50000"/>
              </a:avLst>
            </a:prstGeom>
            <a:solidFill>
              <a:schemeClr val="lt2"/>
            </a:solidFill>
            <a:ln>
              <a:noFill/>
            </a:ln>
          </p:spPr>
        </p:sp>
        <p:sp>
          <p:nvSpPr>
            <p:cNvPr id="29" name="Rectangle 29"/>
            <p:cNvSpPr/>
            <p:nvPr/>
          </p:nvSpPr>
          <p:spPr>
            <a:xfrm>
              <a:off x="1524000" y="2895600"/>
              <a:ext cx="1285875" cy="209550"/>
            </a:xfrm>
            <a:prstGeom prst="roundRect">
              <a:avLst>
                <a:gd name="adj" fmla="val 50000"/>
              </a:avLst>
            </a:prstGeom>
            <a:solidFill>
              <a:schemeClr val="accent3"/>
            </a:solidFill>
            <a:ln>
              <a:noFill/>
            </a:ln>
          </p:spPr>
        </p:sp>
        <p:sp>
          <p:nvSpPr>
            <p:cNvPr id="30" name="TextBox 30"/>
            <p:cNvSpPr txBox="1"/>
            <p:nvPr/>
          </p:nvSpPr>
          <p:spPr>
            <a:xfrm>
              <a:off x="2919412" y="2950845"/>
              <a:ext cx="174906" cy="247473"/>
            </a:xfrm>
            <a:prstGeom prst="rect">
              <a:avLst/>
            </a:prstGeom>
            <a:noFill/>
            <a:ln>
              <a:noFill/>
            </a:ln>
          </p:spPr>
          <p:txBody>
            <a:bodyPr wrap="square" lIns="0" tIns="0" rIns="0" bIns="0" anchor="t" anchorCtr="0">
              <a:spAutoFit/>
            </a:bodyPr>
            <a:lstStyle/>
            <a:p>
              <a:pPr algn="l"/>
              <a:r>
                <a:rPr lang="en-US" sz="900" b="1" dirty="0">
                  <a:solidFill>
                    <a:schemeClr val="dk1"/>
                  </a:solidFill>
                  <a:latin typeface="+mn-lt"/>
                  <a:ea typeface="+mn-ea"/>
                  <a:cs typeface="+mn-cs"/>
                </a:rPr>
                <a:t>8%</a:t>
              </a:r>
              <a:endParaRPr lang="en-US" sz="900" b="1" dirty="0">
                <a:solidFill>
                  <a:schemeClr val="dk1"/>
                </a:solidFill>
                <a:latin typeface="+mn-lt"/>
                <a:ea typeface="+mn-ea"/>
                <a:cs typeface="+mn-cs"/>
              </a:endParaRPr>
            </a:p>
          </p:txBody>
        </p:sp>
        <p:sp>
          <p:nvSpPr>
            <p:cNvPr id="31" name="TextBox 31"/>
            <p:cNvSpPr txBox="1"/>
            <p:nvPr/>
          </p:nvSpPr>
          <p:spPr>
            <a:xfrm>
              <a:off x="7234238" y="2958941"/>
              <a:ext cx="1281179" cy="224201"/>
            </a:xfrm>
            <a:prstGeom prst="rect">
              <a:avLst/>
            </a:prstGeom>
            <a:noFill/>
            <a:ln>
              <a:noFill/>
            </a:ln>
          </p:spPr>
          <p:txBody>
            <a:bodyPr wrap="squar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$106亿 · 选品/定价/客服</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2" name="TextBox 32"/>
            <p:cNvSpPr txBox="1"/>
            <p:nvPr/>
          </p:nvSpPr>
          <p:spPr>
            <a:xfrm>
              <a:off x="566738" y="3255645"/>
              <a:ext cx="251841" cy="247473"/>
            </a:xfrm>
            <a:prstGeom prst="rect">
              <a:avLst/>
            </a:prstGeom>
            <a:noFill/>
            <a:ln>
              <a:noFill/>
            </a:ln>
          </p:spPr>
          <p:txBody>
            <a:bodyPr wrap="squar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政务</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3" name="Rectangle 33"/>
            <p:cNvSpPr/>
            <p:nvPr/>
          </p:nvSpPr>
          <p:spPr>
            <a:xfrm>
              <a:off x="1524000" y="3238500"/>
              <a:ext cx="5143500" cy="209550"/>
            </a:xfrm>
            <a:prstGeom prst="roundRect">
              <a:avLst>
                <a:gd name="adj" fmla="val 50000"/>
              </a:avLst>
            </a:prstGeom>
            <a:solidFill>
              <a:schemeClr val="lt2"/>
            </a:solidFill>
            <a:ln>
              <a:noFill/>
            </a:ln>
          </p:spPr>
        </p:sp>
        <p:sp>
          <p:nvSpPr>
            <p:cNvPr id="34" name="Rectangle 34"/>
            <p:cNvSpPr/>
            <p:nvPr/>
          </p:nvSpPr>
          <p:spPr>
            <a:xfrm>
              <a:off x="1524000" y="3238500"/>
              <a:ext cx="962025" cy="209550"/>
            </a:xfrm>
            <a:prstGeom prst="roundRect">
              <a:avLst>
                <a:gd name="adj" fmla="val 50000"/>
              </a:avLst>
            </a:prstGeom>
            <a:solidFill>
              <a:schemeClr val="accent3"/>
            </a:solidFill>
            <a:ln>
              <a:noFill/>
            </a:ln>
          </p:spPr>
        </p:sp>
        <p:sp>
          <p:nvSpPr>
            <p:cNvPr id="35" name="TextBox 35"/>
            <p:cNvSpPr txBox="1"/>
            <p:nvPr/>
          </p:nvSpPr>
          <p:spPr>
            <a:xfrm>
              <a:off x="2595562" y="3293745"/>
              <a:ext cx="174906" cy="247473"/>
            </a:xfrm>
            <a:prstGeom prst="rect">
              <a:avLst/>
            </a:prstGeom>
            <a:noFill/>
            <a:ln>
              <a:noFill/>
            </a:ln>
          </p:spPr>
          <p:txBody>
            <a:bodyPr wrap="square" lIns="0" tIns="0" rIns="0" bIns="0" anchor="t" anchorCtr="0">
              <a:spAutoFit/>
            </a:bodyPr>
            <a:lstStyle/>
            <a:p>
              <a:pPr algn="l"/>
              <a:r>
                <a:rPr lang="en-US" sz="900" b="1" dirty="0">
                  <a:solidFill>
                    <a:schemeClr val="dk1"/>
                  </a:solidFill>
                  <a:latin typeface="+mn-lt"/>
                  <a:ea typeface="+mn-ea"/>
                  <a:cs typeface="+mn-cs"/>
                </a:rPr>
                <a:t>6%</a:t>
              </a:r>
              <a:endParaRPr lang="en-US" sz="900" b="1" dirty="0">
                <a:solidFill>
                  <a:schemeClr val="dk1"/>
                </a:solidFill>
                <a:latin typeface="+mn-lt"/>
                <a:ea typeface="+mn-ea"/>
                <a:cs typeface="+mn-cs"/>
              </a:endParaRPr>
            </a:p>
          </p:txBody>
        </p:sp>
        <p:sp>
          <p:nvSpPr>
            <p:cNvPr id="36" name="TextBox 36"/>
            <p:cNvSpPr txBox="1"/>
            <p:nvPr/>
          </p:nvSpPr>
          <p:spPr>
            <a:xfrm>
              <a:off x="7234238" y="3301841"/>
              <a:ext cx="1381135" cy="224201"/>
            </a:xfrm>
            <a:prstGeom prst="rect">
              <a:avLst/>
            </a:prstGeom>
            <a:noFill/>
            <a:ln>
              <a:noFill/>
            </a:ln>
          </p:spPr>
          <p:txBody>
            <a:bodyPr wrap="squar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$80亿 · 一网通办/智能问答</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grpSp>
      <p:grpSp>
        <p:nvGrpSpPr>
          <p:cNvPr id="52" name="Group 52"/>
          <p:cNvGrpSpPr/>
          <p:nvPr/>
        </p:nvGrpSpPr>
        <p:grpSpPr>
          <a:xfrm>
            <a:off x="571500" y="4189095"/>
            <a:ext cx="5715000" cy="1714500"/>
            <a:chOff x="571500" y="3714750"/>
            <a:chExt cx="5715000" cy="1714500"/>
          </a:xfrm>
        </p:grpSpPr>
        <p:sp>
          <p:nvSpPr>
            <p:cNvPr id="38" name="Rectangle 38"/>
            <p:cNvSpPr/>
            <p:nvPr/>
          </p:nvSpPr>
          <p:spPr>
            <a:xfrm>
              <a:off x="571500" y="3714750"/>
              <a:ext cx="5715000" cy="1714500"/>
            </a:xfrm>
            <a:prstGeom prst="roundRect">
              <a:avLst>
                <a:gd name="adj" fmla="val 6667"/>
              </a:avLst>
            </a:prstGeom>
            <a:solidFill>
              <a:schemeClr val="lt2"/>
            </a:solidFill>
            <a:ln>
              <a:noFill/>
            </a:ln>
          </p:spPr>
        </p:sp>
        <p:sp>
          <p:nvSpPr>
            <p:cNvPr id="39" name="Rectangle 39"/>
            <p:cNvSpPr/>
            <p:nvPr/>
          </p:nvSpPr>
          <p:spPr>
            <a:xfrm>
              <a:off x="571500" y="3714750"/>
              <a:ext cx="76200" cy="1714500"/>
            </a:xfrm>
            <a:prstGeom prst="roundRect">
              <a:avLst>
                <a:gd name="adj" fmla="val 50000"/>
              </a:avLst>
            </a:prstGeom>
            <a:solidFill>
              <a:schemeClr val="accent1"/>
            </a:solidFill>
            <a:ln>
              <a:noFill/>
            </a:ln>
          </p:spPr>
        </p:sp>
        <p:sp>
          <p:nvSpPr>
            <p:cNvPr id="40" name="TextBox 40"/>
            <p:cNvSpPr txBox="1"/>
            <p:nvPr/>
          </p:nvSpPr>
          <p:spPr>
            <a:xfrm>
              <a:off x="832866" y="3868102"/>
              <a:ext cx="1361277"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微软雅黑" panose="020B0503020204020204" charset="-122"/>
                  <a:ea typeface="微软雅黑" panose="020B0503020204020204" charset="-122"/>
                  <a:cs typeface="微软雅黑" panose="020B0503020204020204" charset="-122"/>
                </a:rPr>
                <a:t>需求结构(企业采购)</a:t>
              </a:r>
              <a:endParaRPr lang="zh-CN" sz="10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41" name="Rectangle 41"/>
            <p:cNvSpPr/>
            <p:nvPr/>
          </p:nvSpPr>
          <p:spPr>
            <a:xfrm>
              <a:off x="838200" y="4133850"/>
              <a:ext cx="5143500" cy="209550"/>
            </a:xfrm>
            <a:prstGeom prst="roundRect">
              <a:avLst>
                <a:gd name="adj" fmla="val 50000"/>
              </a:avLst>
            </a:prstGeom>
            <a:solidFill>
              <a:schemeClr val="lt1"/>
            </a:solidFill>
            <a:ln>
              <a:noFill/>
            </a:ln>
          </p:spPr>
        </p:sp>
        <p:sp>
          <p:nvSpPr>
            <p:cNvPr id="42" name="Rectangle 42"/>
            <p:cNvSpPr/>
            <p:nvPr/>
          </p:nvSpPr>
          <p:spPr>
            <a:xfrm>
              <a:off x="838200" y="4133850"/>
              <a:ext cx="2571750" cy="209550"/>
            </a:xfrm>
            <a:prstGeom prst="roundRect">
              <a:avLst>
                <a:gd name="adj" fmla="val 50000"/>
              </a:avLst>
            </a:prstGeom>
            <a:solidFill>
              <a:schemeClr val="accent1"/>
            </a:solidFill>
            <a:ln>
              <a:noFill/>
            </a:ln>
          </p:spPr>
        </p:sp>
        <p:sp>
          <p:nvSpPr>
            <p:cNvPr id="43" name="TextBox 43"/>
            <p:cNvSpPr txBox="1"/>
            <p:nvPr/>
          </p:nvSpPr>
          <p:spPr>
            <a:xfrm>
              <a:off x="947738" y="4189095"/>
              <a:ext cx="1439189" cy="176212"/>
            </a:xfrm>
            <a:prstGeom prst="rect">
              <a:avLst/>
            </a:prstGeom>
            <a:noFill/>
            <a:ln>
              <a:noFill/>
            </a:ln>
          </p:spPr>
          <p:txBody>
            <a:bodyPr wrap="none" lIns="0" tIns="0" rIns="0" bIns="0" anchor="t" anchorCtr="0">
              <a:spAutoFit/>
            </a:bodyPr>
            <a:lstStyle/>
            <a:p>
              <a:pPr algn="l"/>
              <a:r>
                <a:rPr lang="zh-CN" sz="900" dirty="0">
                  <a:solidFill>
                    <a:srgbClr val="FFFFFF"/>
                  </a:solidFill>
                  <a:latin typeface="微软雅黑" panose="020B0503020204020204" charset="-122"/>
                  <a:ea typeface="微软雅黑" panose="020B0503020204020204" charset="-122"/>
                  <a:cs typeface="微软雅黑" panose="020B0503020204020204" charset="-122"/>
                </a:rPr>
                <a:t>基础设施(算力/存储) 50%</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4" name="Rectangle 44"/>
            <p:cNvSpPr/>
            <p:nvPr/>
          </p:nvSpPr>
          <p:spPr>
            <a:xfrm>
              <a:off x="838200" y="4419600"/>
              <a:ext cx="5143500" cy="209550"/>
            </a:xfrm>
            <a:prstGeom prst="roundRect">
              <a:avLst>
                <a:gd name="adj" fmla="val 50000"/>
              </a:avLst>
            </a:prstGeom>
            <a:solidFill>
              <a:schemeClr val="lt1"/>
            </a:solidFill>
            <a:ln>
              <a:noFill/>
            </a:ln>
          </p:spPr>
        </p:sp>
        <p:sp>
          <p:nvSpPr>
            <p:cNvPr id="45" name="Rectangle 45"/>
            <p:cNvSpPr/>
            <p:nvPr/>
          </p:nvSpPr>
          <p:spPr>
            <a:xfrm>
              <a:off x="838200" y="4419600"/>
              <a:ext cx="1543050" cy="209550"/>
            </a:xfrm>
            <a:prstGeom prst="roundRect">
              <a:avLst>
                <a:gd name="adj" fmla="val 50000"/>
              </a:avLst>
            </a:prstGeom>
            <a:solidFill>
              <a:schemeClr val="accent2"/>
            </a:solidFill>
            <a:ln>
              <a:noFill/>
            </a:ln>
          </p:spPr>
        </p:sp>
        <p:sp>
          <p:nvSpPr>
            <p:cNvPr id="46" name="TextBox 46"/>
            <p:cNvSpPr txBox="1"/>
            <p:nvPr/>
          </p:nvSpPr>
          <p:spPr>
            <a:xfrm>
              <a:off x="947738" y="4474845"/>
              <a:ext cx="633489" cy="176212"/>
            </a:xfrm>
            <a:prstGeom prst="rect">
              <a:avLst/>
            </a:prstGeom>
            <a:noFill/>
            <a:ln>
              <a:noFill/>
            </a:ln>
          </p:spPr>
          <p:txBody>
            <a:bodyPr wrap="none" lIns="0" tIns="0" rIns="0" bIns="0" anchor="t" anchorCtr="0">
              <a:spAutoFit/>
            </a:bodyPr>
            <a:lstStyle/>
            <a:p>
              <a:pPr algn="l"/>
              <a:r>
                <a:rPr lang="zh-CN" sz="900" dirty="0">
                  <a:solidFill>
                    <a:srgbClr val="FFFFFF"/>
                  </a:solidFill>
                  <a:latin typeface="微软雅黑" panose="020B0503020204020204" charset="-122"/>
                  <a:ea typeface="微软雅黑" panose="020B0503020204020204" charset="-122"/>
                  <a:cs typeface="微软雅黑" panose="020B0503020204020204" charset="-122"/>
                </a:rPr>
                <a:t>模型层 30%</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7" name="Rectangle 47"/>
            <p:cNvSpPr/>
            <p:nvPr/>
          </p:nvSpPr>
          <p:spPr>
            <a:xfrm>
              <a:off x="838200" y="4705350"/>
              <a:ext cx="5143500" cy="209550"/>
            </a:xfrm>
            <a:prstGeom prst="roundRect">
              <a:avLst>
                <a:gd name="adj" fmla="val 50000"/>
              </a:avLst>
            </a:prstGeom>
            <a:solidFill>
              <a:schemeClr val="lt1"/>
            </a:solidFill>
            <a:ln>
              <a:noFill/>
            </a:ln>
          </p:spPr>
        </p:sp>
        <p:sp>
          <p:nvSpPr>
            <p:cNvPr id="48" name="Rectangle 48"/>
            <p:cNvSpPr/>
            <p:nvPr/>
          </p:nvSpPr>
          <p:spPr>
            <a:xfrm>
              <a:off x="838200" y="4705350"/>
              <a:ext cx="1028700" cy="209550"/>
            </a:xfrm>
            <a:prstGeom prst="roundRect">
              <a:avLst>
                <a:gd name="adj" fmla="val 50000"/>
              </a:avLst>
            </a:prstGeom>
            <a:solidFill>
              <a:schemeClr val="accent3"/>
            </a:solidFill>
            <a:ln>
              <a:noFill/>
            </a:ln>
          </p:spPr>
        </p:sp>
        <p:sp>
          <p:nvSpPr>
            <p:cNvPr id="49" name="TextBox 49"/>
            <p:cNvSpPr txBox="1"/>
            <p:nvPr/>
          </p:nvSpPr>
          <p:spPr>
            <a:xfrm>
              <a:off x="947738" y="4760595"/>
              <a:ext cx="633489" cy="176212"/>
            </a:xfrm>
            <a:prstGeom prst="rect">
              <a:avLst/>
            </a:prstGeom>
            <a:noFill/>
            <a:ln>
              <a:noFill/>
            </a:ln>
          </p:spPr>
          <p:txBody>
            <a:bodyPr wrap="none" lIns="0" tIns="0" rIns="0" bIns="0" anchor="t" anchorCtr="0">
              <a:spAutoFit/>
            </a:bodyPr>
            <a:lstStyle/>
            <a:p>
              <a:pPr algn="l"/>
              <a:r>
                <a:rPr lang="zh-CN" sz="900" dirty="0">
                  <a:solidFill>
                    <a:srgbClr val="FFFFFF"/>
                  </a:solidFill>
                  <a:latin typeface="微软雅黑" panose="020B0503020204020204" charset="-122"/>
                  <a:ea typeface="微软雅黑" panose="020B0503020204020204" charset="-122"/>
                  <a:cs typeface="微软雅黑" panose="020B0503020204020204" charset="-122"/>
                </a:rPr>
                <a:t>应用层 20%</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0" name="TextBox 50"/>
            <p:cNvSpPr txBox="1"/>
            <p:nvPr/>
          </p:nvSpPr>
          <p:spPr>
            <a:xfrm>
              <a:off x="833438" y="5008245"/>
              <a:ext cx="4193911"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企业不再只买模型,而是要端到端方案:行业大模型 + Agent + 数据治理一体化</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1" name="TextBox 51"/>
            <p:cNvSpPr txBox="1"/>
            <p:nvPr/>
          </p:nvSpPr>
          <p:spPr>
            <a:xfrm>
              <a:off x="833438" y="5198745"/>
              <a:ext cx="2999613"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MaaS + 算力租赁 + 标注 + 运维的组合采购占比超 60%</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grpSp>
      <p:grpSp>
        <p:nvGrpSpPr>
          <p:cNvPr id="60" name="Group 60"/>
          <p:cNvGrpSpPr/>
          <p:nvPr/>
        </p:nvGrpSpPr>
        <p:grpSpPr>
          <a:xfrm>
            <a:off x="6481445" y="4189095"/>
            <a:ext cx="5143500" cy="1637665"/>
            <a:chOff x="6477000" y="3714750"/>
            <a:chExt cx="5143500" cy="1714500"/>
          </a:xfrm>
        </p:grpSpPr>
        <p:sp>
          <p:nvSpPr>
            <p:cNvPr id="53" name="Rectangle 53"/>
            <p:cNvSpPr/>
            <p:nvPr/>
          </p:nvSpPr>
          <p:spPr>
            <a:xfrm>
              <a:off x="6477000" y="3714750"/>
              <a:ext cx="5143500" cy="1714500"/>
            </a:xfrm>
            <a:prstGeom prst="roundRect">
              <a:avLst>
                <a:gd name="adj" fmla="val 6667"/>
              </a:avLst>
            </a:prstGeom>
            <a:solidFill>
              <a:schemeClr val="accent1"/>
            </a:solidFill>
            <a:ln>
              <a:noFill/>
            </a:ln>
          </p:spPr>
        </p:sp>
        <p:sp>
          <p:nvSpPr>
            <p:cNvPr id="54" name="TextBox 54"/>
            <p:cNvSpPr txBox="1"/>
            <p:nvPr/>
          </p:nvSpPr>
          <p:spPr>
            <a:xfrm>
              <a:off x="6738366" y="3868102"/>
              <a:ext cx="901179" cy="168857"/>
            </a:xfrm>
            <a:prstGeom prst="rect">
              <a:avLst/>
            </a:prstGeom>
            <a:noFill/>
            <a:ln>
              <a:noFill/>
            </a:ln>
          </p:spPr>
          <p:txBody>
            <a:bodyPr wrap="square" lIns="0" tIns="0" rIns="0" bIns="0" anchor="t" anchorCtr="0">
              <a:spAutoFit/>
            </a:bodyPr>
            <a:lstStyle/>
            <a:p>
              <a:pPr algn="l"/>
              <a:r>
                <a:rPr lang="zh-CN" sz="1050" b="1" dirty="0">
                  <a:solidFill>
                    <a:srgbClr val="FFFFFF"/>
                  </a:solidFill>
                  <a:latin typeface="微软雅黑" panose="020B0503020204020204" charset="-122"/>
                  <a:ea typeface="微软雅黑" panose="020B0503020204020204" charset="-122"/>
                  <a:cs typeface="微软雅黑" panose="020B0503020204020204" charset="-122"/>
                </a:rPr>
                <a:t>需求热点场景</a:t>
              </a:r>
              <a:endParaRPr lang="zh-CN" sz="105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5" name="TextBox 55"/>
            <p:cNvSpPr txBox="1"/>
            <p:nvPr/>
          </p:nvSpPr>
          <p:spPr>
            <a:xfrm>
              <a:off x="6738938" y="4150995"/>
              <a:ext cx="2596477" cy="144925"/>
            </a:xfrm>
            <a:prstGeom prst="rect">
              <a:avLst/>
            </a:prstGeom>
            <a:noFill/>
            <a:ln>
              <a:noFill/>
            </a:ln>
          </p:spPr>
          <p:txBody>
            <a:bodyPr wrap="square" lIns="0" tIns="0" rIns="0" bIns="0" anchor="t" anchorCtr="0">
              <a:spAutoFit/>
            </a:bodyPr>
            <a:lstStyle/>
            <a:p>
              <a:pPr marL="97155" indent="-97155" algn="l">
                <a:buClr>
                  <a:srgbClr val="FFFFFF"/>
                </a:buClr>
                <a:buSzTx/>
                <a:buFontTx/>
                <a:buChar char="•"/>
              </a:pPr>
              <a:r>
                <a:rPr lang="zh-CN" sz="900" dirty="0">
                  <a:solidFill>
                    <a:srgbClr val="FFFFFF"/>
                  </a:solidFill>
                  <a:latin typeface="微软雅黑" panose="020B0503020204020204" charset="-122"/>
                  <a:ea typeface="微软雅黑" panose="020B0503020204020204" charset="-122"/>
                  <a:cs typeface="微软雅黑" panose="020B0503020204020204" charset="-122"/>
                </a:rPr>
                <a:t>金融:实时风控、智能投顾、反洗钱、信贷审批</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6" name="TextBox 56"/>
            <p:cNvSpPr txBox="1"/>
            <p:nvPr/>
          </p:nvSpPr>
          <p:spPr>
            <a:xfrm>
              <a:off x="6738938" y="4379595"/>
              <a:ext cx="2628595" cy="144925"/>
            </a:xfrm>
            <a:prstGeom prst="rect">
              <a:avLst/>
            </a:prstGeom>
            <a:noFill/>
            <a:ln>
              <a:noFill/>
            </a:ln>
          </p:spPr>
          <p:txBody>
            <a:bodyPr wrap="square" lIns="0" tIns="0" rIns="0" bIns="0" anchor="t" anchorCtr="0">
              <a:spAutoFit/>
            </a:bodyPr>
            <a:lstStyle/>
            <a:p>
              <a:pPr marL="97155" indent="-97155" algn="l">
                <a:buClr>
                  <a:srgbClr val="FFFFFF"/>
                </a:buClr>
                <a:buSzTx/>
                <a:buFontTx/>
                <a:buChar char="•"/>
              </a:pPr>
              <a:r>
                <a:rPr lang="zh-CN" sz="900" dirty="0">
                  <a:solidFill>
                    <a:srgbClr val="FFFFFF"/>
                  </a:solidFill>
                  <a:latin typeface="微软雅黑" panose="020B0503020204020204" charset="-122"/>
                  <a:ea typeface="微软雅黑" panose="020B0503020204020204" charset="-122"/>
                  <a:cs typeface="微软雅黑" panose="020B0503020204020204" charset="-122"/>
                </a:rPr>
                <a:t>医疗:AI 影像、药物分子设计、电子病历摘要</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7" name="TextBox 57"/>
            <p:cNvSpPr txBox="1"/>
            <p:nvPr/>
          </p:nvSpPr>
          <p:spPr>
            <a:xfrm>
              <a:off x="6738938" y="4608195"/>
              <a:ext cx="2354161" cy="144925"/>
            </a:xfrm>
            <a:prstGeom prst="rect">
              <a:avLst/>
            </a:prstGeom>
            <a:noFill/>
            <a:ln>
              <a:noFill/>
            </a:ln>
          </p:spPr>
          <p:txBody>
            <a:bodyPr wrap="square" lIns="0" tIns="0" rIns="0" bIns="0" anchor="t" anchorCtr="0">
              <a:spAutoFit/>
            </a:bodyPr>
            <a:lstStyle/>
            <a:p>
              <a:pPr marL="97155" indent="-97155" algn="l">
                <a:buClr>
                  <a:srgbClr val="FFFFFF"/>
                </a:buClr>
                <a:buSzTx/>
                <a:buFontTx/>
                <a:buChar char="•"/>
              </a:pPr>
              <a:r>
                <a:rPr lang="zh-CN" sz="900" dirty="0">
                  <a:solidFill>
                    <a:srgbClr val="FFFFFF"/>
                  </a:solidFill>
                  <a:latin typeface="微软雅黑" panose="020B0503020204020204" charset="-122"/>
                  <a:ea typeface="微软雅黑" panose="020B0503020204020204" charset="-122"/>
                  <a:cs typeface="微软雅黑" panose="020B0503020204020204" charset="-122"/>
                </a:rPr>
                <a:t>制造:视觉质检、预测性维护、供应链优化</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8" name="TextBox 58"/>
            <p:cNvSpPr txBox="1"/>
            <p:nvPr/>
          </p:nvSpPr>
          <p:spPr>
            <a:xfrm>
              <a:off x="6738938" y="4836795"/>
              <a:ext cx="2233003" cy="144925"/>
            </a:xfrm>
            <a:prstGeom prst="rect">
              <a:avLst/>
            </a:prstGeom>
            <a:noFill/>
            <a:ln>
              <a:noFill/>
            </a:ln>
          </p:spPr>
          <p:txBody>
            <a:bodyPr wrap="square" lIns="0" tIns="0" rIns="0" bIns="0" anchor="t" anchorCtr="0">
              <a:spAutoFit/>
            </a:bodyPr>
            <a:lstStyle/>
            <a:p>
              <a:pPr marL="97155" indent="-97155" algn="l">
                <a:buClr>
                  <a:srgbClr val="FFFFFF"/>
                </a:buClr>
                <a:buSzTx/>
                <a:buFontTx/>
                <a:buChar char="•"/>
              </a:pPr>
              <a:r>
                <a:rPr lang="zh-CN" sz="900" dirty="0">
                  <a:solidFill>
                    <a:srgbClr val="FFFFFF"/>
                  </a:solidFill>
                  <a:latin typeface="微软雅黑" panose="020B0503020204020204" charset="-122"/>
                  <a:ea typeface="微软雅黑" panose="020B0503020204020204" charset="-122"/>
                  <a:cs typeface="微软雅黑" panose="020B0503020204020204" charset="-122"/>
                </a:rPr>
                <a:t>教育:自适应学习、智能批改、虚拟教师</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9" name="TextBox 59"/>
            <p:cNvSpPr txBox="1"/>
            <p:nvPr/>
          </p:nvSpPr>
          <p:spPr>
            <a:xfrm>
              <a:off x="6738938" y="5065395"/>
              <a:ext cx="2420798" cy="144925"/>
            </a:xfrm>
            <a:prstGeom prst="rect">
              <a:avLst/>
            </a:prstGeom>
            <a:noFill/>
            <a:ln>
              <a:noFill/>
            </a:ln>
          </p:spPr>
          <p:txBody>
            <a:bodyPr wrap="square" lIns="0" tIns="0" rIns="0" bIns="0" anchor="t" anchorCtr="0">
              <a:spAutoFit/>
            </a:bodyPr>
            <a:lstStyle/>
            <a:p>
              <a:pPr marL="97155" indent="-97155" algn="l">
                <a:buClr>
                  <a:srgbClr val="D6E4F5"/>
                </a:buClr>
                <a:buSzTx/>
                <a:buFontTx/>
                <a:buChar char="•"/>
              </a:pPr>
              <a:r>
                <a:rPr lang="zh-CN" sz="900" dirty="0">
                  <a:solidFill>
                    <a:srgbClr val="D6E4F5"/>
                  </a:solidFill>
                  <a:latin typeface="微软雅黑" panose="020B0503020204020204" charset="-122"/>
                  <a:ea typeface="微软雅黑" panose="020B0503020204020204" charset="-122"/>
                  <a:cs typeface="微软雅黑" panose="020B0503020204020204" charset="-122"/>
                </a:rPr>
                <a:t>零售/政务:选品定价、一网通办、政策问答</a:t>
              </a:r>
              <a:endParaRPr lang="zh-CN" sz="900" dirty="0">
                <a:solidFill>
                  <a:srgbClr val="D6E4F5"/>
                </a:solidFill>
                <a:latin typeface="微软雅黑" panose="020B0503020204020204" charset="-122"/>
                <a:ea typeface="微软雅黑" panose="020B0503020204020204" charset="-122"/>
                <a:cs typeface="微软雅黑" panose="020B0503020204020204" charset="-122"/>
              </a:endParaRPr>
            </a:p>
          </p:txBody>
        </p:sp>
      </p:grpSp>
      <p:grpSp>
        <p:nvGrpSpPr>
          <p:cNvPr id="66" name="Group 66"/>
          <p:cNvGrpSpPr/>
          <p:nvPr/>
        </p:nvGrpSpPr>
        <p:grpSpPr>
          <a:xfrm>
            <a:off x="566420" y="5969000"/>
            <a:ext cx="11049000" cy="752189"/>
            <a:chOff x="571500" y="5619750"/>
            <a:chExt cx="11049000" cy="752189"/>
          </a:xfrm>
        </p:grpSpPr>
        <p:sp>
          <p:nvSpPr>
            <p:cNvPr id="61" name="Rectangle 61"/>
            <p:cNvSpPr/>
            <p:nvPr/>
          </p:nvSpPr>
          <p:spPr>
            <a:xfrm>
              <a:off x="571500" y="5619750"/>
              <a:ext cx="11049000" cy="685800"/>
            </a:xfrm>
            <a:prstGeom prst="roundRect">
              <a:avLst>
                <a:gd name="adj" fmla="val 16667"/>
              </a:avLst>
            </a:prstGeom>
            <a:solidFill>
              <a:schemeClr val="lt2"/>
            </a:solidFill>
            <a:ln>
              <a:noFill/>
            </a:ln>
          </p:spPr>
        </p:sp>
        <p:sp>
          <p:nvSpPr>
            <p:cNvPr id="62" name="Rectangle 62"/>
            <p:cNvSpPr/>
            <p:nvPr/>
          </p:nvSpPr>
          <p:spPr>
            <a:xfrm>
              <a:off x="571500" y="5619750"/>
              <a:ext cx="76200" cy="685800"/>
            </a:xfrm>
            <a:prstGeom prst="roundRect">
              <a:avLst>
                <a:gd name="adj" fmla="val 50000"/>
              </a:avLst>
            </a:prstGeom>
            <a:solidFill>
              <a:srgbClr val="E5544B"/>
            </a:solidFill>
            <a:ln>
              <a:noFill/>
            </a:ln>
          </p:spPr>
        </p:sp>
        <p:sp>
          <p:nvSpPr>
            <p:cNvPr id="63" name="TextBox 63"/>
            <p:cNvSpPr txBox="1"/>
            <p:nvPr/>
          </p:nvSpPr>
          <p:spPr>
            <a:xfrm>
              <a:off x="832866" y="5773102"/>
              <a:ext cx="901179" cy="205359"/>
            </a:xfrm>
            <a:prstGeom prst="rect">
              <a:avLst/>
            </a:prstGeom>
            <a:noFill/>
            <a:ln>
              <a:noFill/>
            </a:ln>
          </p:spPr>
          <p:txBody>
            <a:bodyPr wrap="none" lIns="0" tIns="0" rIns="0" bIns="0" anchor="t" anchorCtr="0">
              <a:spAutoFit/>
            </a:bodyPr>
            <a:lstStyle/>
            <a:p>
              <a:pPr algn="l"/>
              <a:r>
                <a:rPr lang="zh-CN" sz="1050" b="1" dirty="0">
                  <a:solidFill>
                    <a:srgbClr val="E5544B"/>
                  </a:solidFill>
                  <a:latin typeface="微软雅黑" panose="020B0503020204020204" charset="-122"/>
                  <a:ea typeface="微软雅黑" panose="020B0503020204020204" charset="-122"/>
                  <a:cs typeface="微软雅黑" panose="020B0503020204020204" charset="-122"/>
                </a:rPr>
                <a:t>需求结构变化</a:t>
              </a:r>
              <a:endParaRPr lang="zh-CN" sz="1050" b="1" dirty="0">
                <a:solidFill>
                  <a:srgbClr val="E5544B"/>
                </a:solidFill>
                <a:latin typeface="微软雅黑" panose="020B0503020204020204" charset="-122"/>
                <a:ea typeface="微软雅黑" panose="020B0503020204020204" charset="-122"/>
                <a:cs typeface="微软雅黑" panose="020B0503020204020204" charset="-122"/>
              </a:endParaRPr>
            </a:p>
          </p:txBody>
        </p:sp>
        <p:sp>
          <p:nvSpPr>
            <p:cNvPr id="64" name="TextBox 64"/>
            <p:cNvSpPr txBox="1"/>
            <p:nvPr/>
          </p:nvSpPr>
          <p:spPr>
            <a:xfrm>
              <a:off x="833247" y="6028849"/>
              <a:ext cx="5365981" cy="190690"/>
            </a:xfrm>
            <a:prstGeom prst="rect">
              <a:avLst/>
            </a:prstGeom>
            <a:noFill/>
            <a:ln>
              <a:noFill/>
            </a:ln>
          </p:spPr>
          <p:txBody>
            <a:bodyPr wrap="none" lIns="0" tIns="0" rIns="0" bIns="0" anchor="t" anchorCtr="0">
              <a:spAutoFit/>
            </a:bodyPr>
            <a:lstStyle/>
            <a:p>
              <a:pPr algn="l"/>
              <a:r>
                <a:rPr lang="zh-CN" sz="980" dirty="0">
                  <a:solidFill>
                    <a:schemeClr val="dk2"/>
                  </a:solidFill>
                  <a:latin typeface="微软雅黑" panose="020B0503020204020204" charset="-122"/>
                  <a:ea typeface="微软雅黑" panose="020B0503020204020204" charset="-122"/>
                  <a:cs typeface="微软雅黑" panose="020B0503020204020204" charset="-122"/>
                </a:rPr>
                <a:t>从“单点工具”走向“全流程智能化”:行业大模型 + Agent + 数据治理的一体化需求成为主流;</a:t>
              </a:r>
              <a:endParaRPr lang="zh-CN" sz="98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5" name="TextBox 65"/>
            <p:cNvSpPr txBox="1"/>
            <p:nvPr/>
          </p:nvSpPr>
          <p:spPr>
            <a:xfrm>
              <a:off x="833247" y="6181249"/>
              <a:ext cx="5328437" cy="190690"/>
            </a:xfrm>
            <a:prstGeom prst="rect">
              <a:avLst/>
            </a:prstGeom>
            <a:noFill/>
            <a:ln>
              <a:noFill/>
            </a:ln>
          </p:spPr>
          <p:txBody>
            <a:bodyPr wrap="none" lIns="0" tIns="0" rIns="0" bIns="0" anchor="t" anchorCtr="0">
              <a:spAutoFit/>
            </a:bodyPr>
            <a:lstStyle/>
            <a:p>
              <a:pPr algn="l"/>
              <a:r>
                <a:rPr lang="zh-CN" sz="980" dirty="0">
                  <a:solidFill>
                    <a:schemeClr val="dk2"/>
                  </a:solidFill>
                  <a:latin typeface="微软雅黑" panose="020B0503020204020204" charset="-122"/>
                  <a:ea typeface="微软雅黑" panose="020B0503020204020204" charset="-122"/>
                  <a:cs typeface="微软雅黑" panose="020B0503020204020204" charset="-122"/>
                </a:rPr>
                <a:t>企业 AI 预算中,应用与运维占比从 15% 升至 35%,倒逼服务商从“卖模型”转向“卖结果”</a:t>
              </a:r>
              <a:endParaRPr lang="zh-CN" sz="980" dirty="0">
                <a:solidFill>
                  <a:schemeClr val="dk2"/>
                </a:solidFill>
                <a:latin typeface="微软雅黑" panose="020B0503020204020204" charset="-122"/>
                <a:ea typeface="微软雅黑" panose="020B0503020204020204" charset="-122"/>
                <a:cs typeface="微软雅黑" panose="020B0503020204020204" charset="-122"/>
              </a:endParaRPr>
            </a:p>
          </p:txBody>
        </p:sp>
      </p:grpSp>
      <p:pic>
        <p:nvPicPr>
          <p:cNvPr id="69" name="图片 68"/>
          <p:cNvPicPr/>
          <p:nvPr/>
        </p:nvPicPr>
        <p:blipFill>
          <a:blip r:embed="rId1"/>
          <a:srcRect t="8000" b="9467"/>
          <a:stretch>
            <a:fillRect/>
          </a:stretch>
        </p:blipFill>
        <p:spPr>
          <a:xfrm>
            <a:off x="6304915" y="508635"/>
            <a:ext cx="5795010" cy="36271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solidFill>
            <a:schemeClr val="accent1"/>
          </a:solidFill>
          <a:ln>
            <a:noFill/>
          </a:ln>
        </p:spPr>
      </p:sp>
      <p:sp>
        <p:nvSpPr>
          <p:cNvPr id="3" name="Rectangle 3"/>
          <p:cNvSpPr/>
          <p:nvPr/>
        </p:nvSpPr>
        <p:spPr>
          <a:xfrm>
            <a:off x="571500" y="476250"/>
            <a:ext cx="57150" cy="361950"/>
          </a:xfrm>
          <a:prstGeom prst="roundRect">
            <a:avLst>
              <a:gd name="adj" fmla="val 50000"/>
            </a:avLst>
          </a:prstGeom>
          <a:solidFill>
            <a:schemeClr val="accent1"/>
          </a:solidFill>
          <a:ln>
            <a:noFill/>
          </a:ln>
        </p:spPr>
      </p:sp>
      <p:sp>
        <p:nvSpPr>
          <p:cNvPr id="4" name="TextBox 4"/>
          <p:cNvSpPr txBox="1"/>
          <p:nvPr/>
        </p:nvSpPr>
        <p:spPr>
          <a:xfrm>
            <a:off x="750570" y="519112"/>
            <a:ext cx="1295019"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微软雅黑" panose="020B0503020204020204" charset="-122"/>
                <a:ea typeface="微软雅黑" panose="020B0503020204020204" charset="-122"/>
                <a:cs typeface="微软雅黑" panose="020B0503020204020204" charset="-122"/>
              </a:rPr>
              <a:t>人才需求</a:t>
            </a:r>
            <a:endParaRPr lang="zh-CN" sz="22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nvSpPr>
        <p:spPr>
          <a:xfrm>
            <a:off x="756666" y="896302"/>
            <a:ext cx="4312006" cy="205359"/>
          </a:xfrm>
          <a:prstGeom prst="rect">
            <a:avLst/>
          </a:prstGeom>
          <a:noFill/>
          <a:ln>
            <a:noFill/>
          </a:ln>
        </p:spPr>
        <p:txBody>
          <a:bodyPr wrap="none" lIns="0" tIns="0" rIns="0" bIns="0" anchor="t" anchorCtr="0">
            <a:spAutoFit/>
          </a:bodyPr>
          <a:lstStyle/>
          <a:p>
            <a:pPr algn="l"/>
            <a:r>
              <a:rPr lang="zh-CN" sz="1050" dirty="0">
                <a:solidFill>
                  <a:schemeClr val="dk2"/>
                </a:solidFill>
                <a:latin typeface="微软雅黑" panose="020B0503020204020204" charset="-122"/>
                <a:ea typeface="微软雅黑" panose="020B0503020204020204" charset="-122"/>
                <a:cs typeface="微软雅黑" panose="020B0503020204020204" charset="-122"/>
              </a:rPr>
              <a:t>AI 人才缺口巨大,核心岗位薪资高位运行,复合型 AI+X 人才最稀缺</a:t>
            </a:r>
            <a:endParaRPr lang="zh-CN" sz="1050" dirty="0">
              <a:solidFill>
                <a:schemeClr val="dk2"/>
              </a:solidFill>
              <a:latin typeface="微软雅黑" panose="020B0503020204020204" charset="-122"/>
              <a:ea typeface="微软雅黑" panose="020B0503020204020204" charset="-122"/>
              <a:cs typeface="微软雅黑" panose="020B0503020204020204" charset="-122"/>
            </a:endParaRPr>
          </a:p>
        </p:txBody>
      </p:sp>
      <p:grpSp>
        <p:nvGrpSpPr>
          <p:cNvPr id="34" name="Group 34"/>
          <p:cNvGrpSpPr/>
          <p:nvPr/>
        </p:nvGrpSpPr>
        <p:grpSpPr>
          <a:xfrm>
            <a:off x="571500" y="1238250"/>
            <a:ext cx="11049000" cy="1641157"/>
            <a:chOff x="571500" y="1238250"/>
            <a:chExt cx="11049000" cy="1641157"/>
          </a:xfrm>
        </p:grpSpPr>
        <p:sp>
          <p:nvSpPr>
            <p:cNvPr id="6" name="Rectangle 6"/>
            <p:cNvSpPr/>
            <p:nvPr/>
          </p:nvSpPr>
          <p:spPr>
            <a:xfrm>
              <a:off x="571500" y="1238250"/>
              <a:ext cx="2571750" cy="1619250"/>
            </a:xfrm>
            <a:prstGeom prst="roundRect">
              <a:avLst>
                <a:gd name="adj" fmla="val 8235"/>
              </a:avLst>
            </a:prstGeom>
            <a:solidFill>
              <a:schemeClr val="lt2"/>
            </a:solidFill>
            <a:ln>
              <a:noFill/>
            </a:ln>
          </p:spPr>
        </p:sp>
        <p:sp>
          <p:nvSpPr>
            <p:cNvPr id="7" name="Rectangle 7"/>
            <p:cNvSpPr/>
            <p:nvPr/>
          </p:nvSpPr>
          <p:spPr>
            <a:xfrm>
              <a:off x="571500" y="1238250"/>
              <a:ext cx="2571750" cy="76200"/>
            </a:xfrm>
            <a:prstGeom prst="roundRect">
              <a:avLst>
                <a:gd name="adj" fmla="val 50000"/>
              </a:avLst>
            </a:prstGeom>
            <a:solidFill>
              <a:schemeClr val="accent1"/>
            </a:solidFill>
            <a:ln>
              <a:noFill/>
            </a:ln>
          </p:spPr>
        </p:sp>
        <p:sp>
          <p:nvSpPr>
            <p:cNvPr id="8" name="TextBox 8"/>
            <p:cNvSpPr txBox="1"/>
            <p:nvPr/>
          </p:nvSpPr>
          <p:spPr>
            <a:xfrm>
              <a:off x="757047" y="1456849"/>
              <a:ext cx="1043102" cy="190690"/>
            </a:xfrm>
            <a:prstGeom prst="rect">
              <a:avLst/>
            </a:prstGeom>
            <a:noFill/>
            <a:ln>
              <a:noFill/>
            </a:ln>
          </p:spPr>
          <p:txBody>
            <a:bodyPr wrap="none" lIns="0" tIns="0" rIns="0" bIns="0" anchor="t" anchorCtr="0">
              <a:spAutoFit/>
            </a:bodyPr>
            <a:lstStyle/>
            <a:p>
              <a:pPr algn="l"/>
              <a:r>
                <a:rPr lang="zh-CN" sz="980" dirty="0">
                  <a:solidFill>
                    <a:schemeClr val="dk2"/>
                  </a:solidFill>
                  <a:latin typeface="微软雅黑" panose="020B0503020204020204" charset="-122"/>
                  <a:ea typeface="微软雅黑" panose="020B0503020204020204" charset="-122"/>
                  <a:cs typeface="微软雅黑" panose="020B0503020204020204" charset="-122"/>
                </a:rPr>
                <a:t>全球 AI 人才缺口</a:t>
              </a:r>
              <a:endParaRPr lang="zh-CN" sz="98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nvSpPr>
          <p:spPr>
            <a:xfrm>
              <a:off x="743712" y="1706880"/>
              <a:ext cx="1385065"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n-lt"/>
                  <a:ea typeface="+mn-ea"/>
                  <a:cs typeface="+mn-cs"/>
                </a:rPr>
                <a:t>400万</a:t>
              </a:r>
              <a:endParaRPr lang="zh-CN" sz="3600" b="1" dirty="0">
                <a:solidFill>
                  <a:schemeClr val="accent1"/>
                </a:solidFill>
                <a:latin typeface="+mn-lt"/>
                <a:ea typeface="+mn-ea"/>
                <a:cs typeface="+mn-cs"/>
              </a:endParaRPr>
            </a:p>
          </p:txBody>
        </p:sp>
        <p:sp>
          <p:nvSpPr>
            <p:cNvPr id="10" name="TextBox 10"/>
            <p:cNvSpPr txBox="1"/>
            <p:nvPr/>
          </p:nvSpPr>
          <p:spPr>
            <a:xfrm>
              <a:off x="757238" y="2273141"/>
              <a:ext cx="1080364" cy="161925"/>
            </a:xfrm>
            <a:prstGeom prst="rect">
              <a:avLst/>
            </a:prstGeom>
            <a:noFill/>
            <a:ln>
              <a:noFill/>
            </a:ln>
          </p:spPr>
          <p:txBody>
            <a:bodyPr wrap="none" lIns="0" tIns="0" rIns="0" bIns="0" anchor="t" anchorCtr="0">
              <a:spAutoFit/>
            </a:bodyPr>
            <a:lstStyle/>
            <a:p>
              <a:pPr algn="l"/>
              <a:r>
                <a:rPr lang="en-US" sz="820" dirty="0">
                  <a:solidFill>
                    <a:schemeClr val="dk2"/>
                  </a:solidFill>
                  <a:latin typeface="微软雅黑" panose="020B0503020204020204" charset="-122"/>
                  <a:ea typeface="微软雅黑" panose="020B0503020204020204" charset="-122"/>
                  <a:cs typeface="微软雅黑" panose="020B0503020204020204" charset="-122"/>
                </a:rPr>
                <a:t>LinkedIn / WEF 2025</a:t>
              </a:r>
              <a:endParaRPr lang="en-US"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1" name="TextBox 11"/>
            <p:cNvSpPr txBox="1"/>
            <p:nvPr/>
          </p:nvSpPr>
          <p:spPr>
            <a:xfrm>
              <a:off x="757238" y="2531745"/>
              <a:ext cx="1308887"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数据科学家、AI 工程师</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nvSpPr>
          <p:spPr>
            <a:xfrm>
              <a:off x="757238" y="2703195"/>
              <a:ext cx="615315"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缺口最突出</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3" name="Rectangle 13"/>
            <p:cNvSpPr/>
            <p:nvPr/>
          </p:nvSpPr>
          <p:spPr>
            <a:xfrm>
              <a:off x="3286125" y="1238250"/>
              <a:ext cx="2571750" cy="1619250"/>
            </a:xfrm>
            <a:prstGeom prst="roundRect">
              <a:avLst>
                <a:gd name="adj" fmla="val 8235"/>
              </a:avLst>
            </a:prstGeom>
            <a:solidFill>
              <a:schemeClr val="lt2"/>
            </a:solidFill>
            <a:ln>
              <a:noFill/>
            </a:ln>
          </p:spPr>
        </p:sp>
        <p:sp>
          <p:nvSpPr>
            <p:cNvPr id="14" name="Rectangle 14"/>
            <p:cNvSpPr/>
            <p:nvPr/>
          </p:nvSpPr>
          <p:spPr>
            <a:xfrm>
              <a:off x="3286125" y="1238250"/>
              <a:ext cx="2571750" cy="76200"/>
            </a:xfrm>
            <a:prstGeom prst="roundRect">
              <a:avLst>
                <a:gd name="adj" fmla="val 50000"/>
              </a:avLst>
            </a:prstGeom>
            <a:solidFill>
              <a:schemeClr val="accent2"/>
            </a:solidFill>
            <a:ln>
              <a:noFill/>
            </a:ln>
          </p:spPr>
        </p:sp>
        <p:sp>
          <p:nvSpPr>
            <p:cNvPr id="15" name="TextBox 15"/>
            <p:cNvSpPr txBox="1"/>
            <p:nvPr/>
          </p:nvSpPr>
          <p:spPr>
            <a:xfrm>
              <a:off x="3471672" y="1456849"/>
              <a:ext cx="1043102" cy="190690"/>
            </a:xfrm>
            <a:prstGeom prst="rect">
              <a:avLst/>
            </a:prstGeom>
            <a:noFill/>
            <a:ln>
              <a:noFill/>
            </a:ln>
          </p:spPr>
          <p:txBody>
            <a:bodyPr wrap="none" lIns="0" tIns="0" rIns="0" bIns="0" anchor="t" anchorCtr="0">
              <a:spAutoFit/>
            </a:bodyPr>
            <a:lstStyle/>
            <a:p>
              <a:pPr algn="l"/>
              <a:r>
                <a:rPr lang="zh-CN" sz="980" dirty="0">
                  <a:solidFill>
                    <a:schemeClr val="dk2"/>
                  </a:solidFill>
                  <a:latin typeface="微软雅黑" panose="020B0503020204020204" charset="-122"/>
                  <a:ea typeface="微软雅黑" panose="020B0503020204020204" charset="-122"/>
                  <a:cs typeface="微软雅黑" panose="020B0503020204020204" charset="-122"/>
                </a:rPr>
                <a:t>中国 AI 人才缺口</a:t>
              </a:r>
              <a:endParaRPr lang="zh-CN" sz="98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6" name="TextBox 16"/>
            <p:cNvSpPr txBox="1"/>
            <p:nvPr/>
          </p:nvSpPr>
          <p:spPr>
            <a:xfrm>
              <a:off x="3458337" y="1706880"/>
              <a:ext cx="1664940" cy="704088"/>
            </a:xfrm>
            <a:prstGeom prst="rect">
              <a:avLst/>
            </a:prstGeom>
            <a:noFill/>
            <a:ln>
              <a:noFill/>
            </a:ln>
          </p:spPr>
          <p:txBody>
            <a:bodyPr wrap="none" lIns="0" tIns="0" rIns="0" bIns="0" anchor="t" anchorCtr="0">
              <a:spAutoFit/>
            </a:bodyPr>
            <a:lstStyle/>
            <a:p>
              <a:pPr algn="l"/>
              <a:r>
                <a:rPr lang="zh-CN" sz="3600" b="1" dirty="0">
                  <a:solidFill>
                    <a:schemeClr val="accent2"/>
                  </a:solidFill>
                  <a:latin typeface="+mn-lt"/>
                  <a:ea typeface="+mn-ea"/>
                  <a:cs typeface="+mn-cs"/>
                </a:rPr>
                <a:t>500万+</a:t>
              </a:r>
              <a:endParaRPr lang="zh-CN" sz="3600" b="1" dirty="0">
                <a:solidFill>
                  <a:schemeClr val="accent2"/>
                </a:solidFill>
                <a:latin typeface="+mn-lt"/>
                <a:ea typeface="+mn-ea"/>
                <a:cs typeface="+mn-cs"/>
              </a:endParaRPr>
            </a:p>
          </p:txBody>
        </p:sp>
        <p:sp>
          <p:nvSpPr>
            <p:cNvPr id="17" name="TextBox 17"/>
            <p:cNvSpPr txBox="1"/>
            <p:nvPr/>
          </p:nvSpPr>
          <p:spPr>
            <a:xfrm>
              <a:off x="3471862" y="2273141"/>
              <a:ext cx="1025738"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人社部 / 工信部测算</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8" name="TextBox 18"/>
            <p:cNvSpPr txBox="1"/>
            <p:nvPr/>
          </p:nvSpPr>
          <p:spPr>
            <a:xfrm>
              <a:off x="3471862" y="2531745"/>
              <a:ext cx="990905"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大模型/算法/芯片</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9" name="TextBox 19"/>
            <p:cNvSpPr txBox="1"/>
            <p:nvPr/>
          </p:nvSpPr>
          <p:spPr>
            <a:xfrm>
              <a:off x="3471862" y="2703195"/>
              <a:ext cx="797052"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供需比约 1:10</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0" name="Rectangle 20"/>
            <p:cNvSpPr/>
            <p:nvPr/>
          </p:nvSpPr>
          <p:spPr>
            <a:xfrm>
              <a:off x="6000750" y="1238250"/>
              <a:ext cx="2571750" cy="1619250"/>
            </a:xfrm>
            <a:prstGeom prst="roundRect">
              <a:avLst>
                <a:gd name="adj" fmla="val 8235"/>
              </a:avLst>
            </a:prstGeom>
            <a:solidFill>
              <a:schemeClr val="lt2"/>
            </a:solidFill>
            <a:ln>
              <a:noFill/>
            </a:ln>
          </p:spPr>
        </p:sp>
        <p:sp>
          <p:nvSpPr>
            <p:cNvPr id="21" name="Rectangle 21"/>
            <p:cNvSpPr/>
            <p:nvPr/>
          </p:nvSpPr>
          <p:spPr>
            <a:xfrm>
              <a:off x="6000750" y="1238250"/>
              <a:ext cx="2571750" cy="76200"/>
            </a:xfrm>
            <a:prstGeom prst="roundRect">
              <a:avLst>
                <a:gd name="adj" fmla="val 50000"/>
              </a:avLst>
            </a:prstGeom>
            <a:solidFill>
              <a:schemeClr val="accent3"/>
            </a:solidFill>
            <a:ln>
              <a:noFill/>
            </a:ln>
          </p:spPr>
        </p:sp>
        <p:sp>
          <p:nvSpPr>
            <p:cNvPr id="22" name="TextBox 22"/>
            <p:cNvSpPr txBox="1"/>
            <p:nvPr/>
          </p:nvSpPr>
          <p:spPr>
            <a:xfrm>
              <a:off x="6186297" y="1456849"/>
              <a:ext cx="928688" cy="190690"/>
            </a:xfrm>
            <a:prstGeom prst="rect">
              <a:avLst/>
            </a:prstGeom>
            <a:noFill/>
            <a:ln>
              <a:noFill/>
            </a:ln>
          </p:spPr>
          <p:txBody>
            <a:bodyPr wrap="none" lIns="0" tIns="0" rIns="0" bIns="0" anchor="t" anchorCtr="0">
              <a:spAutoFit/>
            </a:bodyPr>
            <a:lstStyle/>
            <a:p>
              <a:pPr algn="l"/>
              <a:r>
                <a:rPr lang="zh-CN" sz="980" dirty="0">
                  <a:solidFill>
                    <a:schemeClr val="dk2"/>
                  </a:solidFill>
                  <a:latin typeface="微软雅黑" panose="020B0503020204020204" charset="-122"/>
                  <a:ea typeface="微软雅黑" panose="020B0503020204020204" charset="-122"/>
                  <a:cs typeface="微软雅黑" panose="020B0503020204020204" charset="-122"/>
                </a:rPr>
                <a:t>高校年毕业供给</a:t>
              </a:r>
              <a:endParaRPr lang="zh-CN" sz="98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3" name="TextBox 23"/>
            <p:cNvSpPr txBox="1"/>
            <p:nvPr/>
          </p:nvSpPr>
          <p:spPr>
            <a:xfrm>
              <a:off x="6172962" y="1706880"/>
              <a:ext cx="1334178" cy="704088"/>
            </a:xfrm>
            <a:prstGeom prst="rect">
              <a:avLst/>
            </a:prstGeom>
            <a:noFill/>
            <a:ln>
              <a:noFill/>
            </a:ln>
          </p:spPr>
          <p:txBody>
            <a:bodyPr wrap="none" lIns="0" tIns="0" rIns="0" bIns="0" anchor="t" anchorCtr="0">
              <a:spAutoFit/>
            </a:bodyPr>
            <a:lstStyle/>
            <a:p>
              <a:pPr algn="l"/>
              <a:r>
                <a:rPr lang="zh-CN" sz="3600" b="1" dirty="0">
                  <a:solidFill>
                    <a:schemeClr val="dk1"/>
                  </a:solidFill>
                  <a:latin typeface="+mn-lt"/>
                  <a:ea typeface="+mn-ea"/>
                  <a:cs typeface="+mn-cs"/>
                </a:rPr>
                <a:t>4万人</a:t>
              </a:r>
              <a:endParaRPr lang="zh-CN" sz="3600" b="1" dirty="0">
                <a:solidFill>
                  <a:schemeClr val="dk1"/>
                </a:solidFill>
                <a:latin typeface="+mn-lt"/>
                <a:ea typeface="+mn-ea"/>
                <a:cs typeface="+mn-cs"/>
              </a:endParaRPr>
            </a:p>
          </p:txBody>
        </p:sp>
        <p:sp>
          <p:nvSpPr>
            <p:cNvPr id="24" name="TextBox 24"/>
            <p:cNvSpPr txBox="1"/>
            <p:nvPr/>
          </p:nvSpPr>
          <p:spPr>
            <a:xfrm>
              <a:off x="6186488" y="2273141"/>
              <a:ext cx="1059790"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500+ 高校设 AI 专业</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5" name="TextBox 25"/>
            <p:cNvSpPr txBox="1"/>
            <p:nvPr/>
          </p:nvSpPr>
          <p:spPr>
            <a:xfrm>
              <a:off x="6186488" y="2531745"/>
              <a:ext cx="857631"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远低于市场需求</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6" name="TextBox 26"/>
            <p:cNvSpPr txBox="1"/>
            <p:nvPr/>
          </p:nvSpPr>
          <p:spPr>
            <a:xfrm>
              <a:off x="6186488" y="2703195"/>
              <a:ext cx="942442" cy="176212"/>
            </a:xfrm>
            <a:prstGeom prst="rect">
              <a:avLst/>
            </a:prstGeom>
            <a:noFill/>
            <a:ln>
              <a:noFill/>
            </a:ln>
          </p:spPr>
          <p:txBody>
            <a:bodyPr wrap="none" lIns="0" tIns="0" rIns="0" bIns="0" anchor="t" anchorCtr="0">
              <a:spAutoFit/>
            </a:bodyPr>
            <a:lstStyle/>
            <a:p>
              <a:pPr algn="l"/>
              <a:r>
                <a:rPr lang="zh-CN" sz="900" dirty="0">
                  <a:solidFill>
                    <a:schemeClr val="dk1"/>
                  </a:solidFill>
                  <a:latin typeface="微软雅黑" panose="020B0503020204020204" charset="-122"/>
                  <a:ea typeface="微软雅黑" panose="020B0503020204020204" charset="-122"/>
                  <a:cs typeface="微软雅黑" panose="020B0503020204020204" charset="-122"/>
                </a:rPr>
                <a:t>缺口需 10 年补齐</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7" name="Rectangle 27"/>
            <p:cNvSpPr/>
            <p:nvPr/>
          </p:nvSpPr>
          <p:spPr>
            <a:xfrm>
              <a:off x="8715375" y="1238250"/>
              <a:ext cx="2905125" cy="1619250"/>
            </a:xfrm>
            <a:prstGeom prst="roundRect">
              <a:avLst>
                <a:gd name="adj" fmla="val 8235"/>
              </a:avLst>
            </a:prstGeom>
            <a:solidFill>
              <a:schemeClr val="accent1"/>
            </a:solidFill>
            <a:ln>
              <a:noFill/>
            </a:ln>
          </p:spPr>
        </p:sp>
        <p:sp>
          <p:nvSpPr>
            <p:cNvPr id="28" name="TextBox 28"/>
            <p:cNvSpPr txBox="1"/>
            <p:nvPr/>
          </p:nvSpPr>
          <p:spPr>
            <a:xfrm>
              <a:off x="8900922" y="1456849"/>
              <a:ext cx="666179" cy="190690"/>
            </a:xfrm>
            <a:prstGeom prst="rect">
              <a:avLst/>
            </a:prstGeom>
            <a:noFill/>
            <a:ln>
              <a:noFill/>
            </a:ln>
          </p:spPr>
          <p:txBody>
            <a:bodyPr wrap="none" lIns="0" tIns="0" rIns="0" bIns="0" anchor="t" anchorCtr="0">
              <a:spAutoFit/>
            </a:bodyPr>
            <a:lstStyle/>
            <a:p>
              <a:pPr algn="l"/>
              <a:r>
                <a:rPr lang="zh-CN" sz="980" dirty="0">
                  <a:solidFill>
                    <a:srgbClr val="D6E4F5"/>
                  </a:solidFill>
                  <a:latin typeface="微软雅黑" panose="020B0503020204020204" charset="-122"/>
                  <a:ea typeface="微软雅黑" panose="020B0503020204020204" charset="-122"/>
                  <a:cs typeface="微软雅黑" panose="020B0503020204020204" charset="-122"/>
                </a:rPr>
                <a:t>最稀缺人才</a:t>
              </a:r>
              <a:endParaRPr lang="zh-CN" sz="98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29" name="TextBox 29"/>
            <p:cNvSpPr txBox="1"/>
            <p:nvPr/>
          </p:nvSpPr>
          <p:spPr>
            <a:xfrm>
              <a:off x="8900541" y="1753552"/>
              <a:ext cx="1241702"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微软雅黑" panose="020B0503020204020204" charset="-122"/>
                  <a:ea typeface="微软雅黑" panose="020B0503020204020204" charset="-122"/>
                  <a:cs typeface="微软雅黑" panose="020B0503020204020204" charset="-122"/>
                </a:rPr>
                <a:t>AI + X 复合型人才</a:t>
              </a:r>
              <a:endParaRPr lang="zh-CN" sz="105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 name="TextBox 30"/>
            <p:cNvSpPr txBox="1"/>
            <p:nvPr/>
          </p:nvSpPr>
          <p:spPr>
            <a:xfrm>
              <a:off x="8901112" y="2036445"/>
              <a:ext cx="1120978" cy="176212"/>
            </a:xfrm>
            <a:prstGeom prst="rect">
              <a:avLst/>
            </a:prstGeom>
            <a:noFill/>
            <a:ln>
              <a:noFill/>
            </a:ln>
          </p:spPr>
          <p:txBody>
            <a:bodyPr wrap="none" lIns="0" tIns="0" rIns="0" bIns="0" anchor="t" anchorCtr="0">
              <a:spAutoFit/>
            </a:bodyPr>
            <a:lstStyle/>
            <a:p>
              <a:pPr algn="l"/>
              <a:r>
                <a:rPr lang="zh-CN" sz="900" dirty="0">
                  <a:solidFill>
                    <a:srgbClr val="FFFFFF"/>
                  </a:solidFill>
                  <a:latin typeface="微软雅黑" panose="020B0503020204020204" charset="-122"/>
                  <a:ea typeface="微软雅黑" panose="020B0503020204020204" charset="-122"/>
                  <a:cs typeface="微软雅黑" panose="020B0503020204020204" charset="-122"/>
                </a:rPr>
                <a:t>既懂行业 Know-how</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1" name="TextBox 31"/>
            <p:cNvSpPr txBox="1"/>
            <p:nvPr/>
          </p:nvSpPr>
          <p:spPr>
            <a:xfrm>
              <a:off x="8901112" y="2226945"/>
              <a:ext cx="1342263" cy="176212"/>
            </a:xfrm>
            <a:prstGeom prst="rect">
              <a:avLst/>
            </a:prstGeom>
            <a:noFill/>
            <a:ln>
              <a:noFill/>
            </a:ln>
          </p:spPr>
          <p:txBody>
            <a:bodyPr wrap="none" lIns="0" tIns="0" rIns="0" bIns="0" anchor="t" anchorCtr="0">
              <a:spAutoFit/>
            </a:bodyPr>
            <a:lstStyle/>
            <a:p>
              <a:pPr algn="l"/>
              <a:r>
                <a:rPr lang="zh-CN" sz="900" dirty="0">
                  <a:solidFill>
                    <a:srgbClr val="FFFFFF"/>
                  </a:solidFill>
                  <a:latin typeface="微软雅黑" panose="020B0503020204020204" charset="-122"/>
                  <a:ea typeface="微软雅黑" panose="020B0503020204020204" charset="-122"/>
                  <a:cs typeface="微软雅黑" panose="020B0503020204020204" charset="-122"/>
                </a:rPr>
                <a:t>又能做模型落地与工程化</a:t>
              </a:r>
              <a:endParaRPr lang="zh-CN" sz="9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2" name="TextBox 32"/>
            <p:cNvSpPr txBox="1"/>
            <p:nvPr/>
          </p:nvSpPr>
          <p:spPr>
            <a:xfrm>
              <a:off x="8901112" y="2493645"/>
              <a:ext cx="1305916" cy="176212"/>
            </a:xfrm>
            <a:prstGeom prst="rect">
              <a:avLst/>
            </a:prstGeom>
            <a:noFill/>
            <a:ln>
              <a:noFill/>
            </a:ln>
          </p:spPr>
          <p:txBody>
            <a:bodyPr wrap="none" lIns="0" tIns="0" rIns="0" bIns="0" anchor="t" anchorCtr="0">
              <a:spAutoFit/>
            </a:bodyPr>
            <a:lstStyle/>
            <a:p>
              <a:pPr algn="l"/>
              <a:r>
                <a:rPr lang="zh-CN" sz="900" dirty="0">
                  <a:solidFill>
                    <a:srgbClr val="D6E4F5"/>
                  </a:solidFill>
                  <a:latin typeface="微软雅黑" panose="020B0503020204020204" charset="-122"/>
                  <a:ea typeface="微软雅黑" panose="020B0503020204020204" charset="-122"/>
                  <a:cs typeface="微软雅黑" panose="020B0503020204020204" charset="-122"/>
                </a:rPr>
                <a:t>高端算法跳槽涨幅 30%+</a:t>
              </a:r>
              <a:endParaRPr lang="zh-CN" sz="90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33" name="TextBox 33"/>
            <p:cNvSpPr txBox="1"/>
            <p:nvPr/>
          </p:nvSpPr>
          <p:spPr>
            <a:xfrm>
              <a:off x="8901112" y="2684145"/>
              <a:ext cx="1463421" cy="176212"/>
            </a:xfrm>
            <a:prstGeom prst="rect">
              <a:avLst/>
            </a:prstGeom>
            <a:noFill/>
            <a:ln>
              <a:noFill/>
            </a:ln>
          </p:spPr>
          <p:txBody>
            <a:bodyPr wrap="none" lIns="0" tIns="0" rIns="0" bIns="0" anchor="t" anchorCtr="0">
              <a:spAutoFit/>
            </a:bodyPr>
            <a:lstStyle/>
            <a:p>
              <a:pPr algn="l"/>
              <a:r>
                <a:rPr lang="zh-CN" sz="900" dirty="0">
                  <a:solidFill>
                    <a:srgbClr val="D6E4F5"/>
                  </a:solidFill>
                  <a:latin typeface="微软雅黑" panose="020B0503020204020204" charset="-122"/>
                  <a:ea typeface="微软雅黑" panose="020B0503020204020204" charset="-122"/>
                  <a:cs typeface="微软雅黑" panose="020B0503020204020204" charset="-122"/>
                </a:rPr>
                <a:t>顶尖大模型人才年薪百万起</a:t>
              </a:r>
              <a:endParaRPr lang="zh-CN" sz="900" dirty="0">
                <a:solidFill>
                  <a:srgbClr val="D6E4F5"/>
                </a:solidFill>
                <a:latin typeface="微软雅黑" panose="020B0503020204020204" charset="-122"/>
                <a:ea typeface="微软雅黑" panose="020B0503020204020204" charset="-122"/>
                <a:cs typeface="微软雅黑" panose="020B0503020204020204" charset="-122"/>
              </a:endParaRPr>
            </a:p>
          </p:txBody>
        </p:sp>
      </p:grpSp>
      <p:grpSp>
        <p:nvGrpSpPr>
          <p:cNvPr id="63" name="Group 63"/>
          <p:cNvGrpSpPr/>
          <p:nvPr/>
        </p:nvGrpSpPr>
        <p:grpSpPr>
          <a:xfrm>
            <a:off x="571500" y="3048000"/>
            <a:ext cx="6858000" cy="2381250"/>
            <a:chOff x="571500" y="3048000"/>
            <a:chExt cx="6858000" cy="2381250"/>
          </a:xfrm>
        </p:grpSpPr>
        <p:sp>
          <p:nvSpPr>
            <p:cNvPr id="35" name="Rectangle 35"/>
            <p:cNvSpPr/>
            <p:nvPr/>
          </p:nvSpPr>
          <p:spPr>
            <a:xfrm>
              <a:off x="571500" y="3048000"/>
              <a:ext cx="6858000" cy="2381250"/>
            </a:xfrm>
            <a:prstGeom prst="roundRect">
              <a:avLst>
                <a:gd name="adj" fmla="val 5600"/>
              </a:avLst>
            </a:prstGeom>
            <a:solidFill>
              <a:schemeClr val="lt2"/>
            </a:solidFill>
            <a:ln>
              <a:noFill/>
            </a:ln>
          </p:spPr>
        </p:sp>
        <p:sp>
          <p:nvSpPr>
            <p:cNvPr id="36" name="Rectangle 36"/>
            <p:cNvSpPr/>
            <p:nvPr/>
          </p:nvSpPr>
          <p:spPr>
            <a:xfrm>
              <a:off x="571500" y="3048000"/>
              <a:ext cx="76200" cy="2381250"/>
            </a:xfrm>
            <a:prstGeom prst="roundRect">
              <a:avLst>
                <a:gd name="adj" fmla="val 50000"/>
              </a:avLst>
            </a:prstGeom>
            <a:solidFill>
              <a:schemeClr val="accent1"/>
            </a:solidFill>
            <a:ln>
              <a:noFill/>
            </a:ln>
          </p:spPr>
        </p:sp>
        <p:sp>
          <p:nvSpPr>
            <p:cNvPr id="37" name="TextBox 37"/>
            <p:cNvSpPr txBox="1"/>
            <p:nvPr/>
          </p:nvSpPr>
          <p:spPr>
            <a:xfrm>
              <a:off x="832866" y="3201352"/>
              <a:ext cx="2214683"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微软雅黑" panose="020B0503020204020204" charset="-122"/>
                  <a:ea typeface="微软雅黑" panose="020B0503020204020204" charset="-122"/>
                  <a:cs typeface="微软雅黑" panose="020B0503020204020204" charset="-122"/>
                </a:rPr>
                <a:t>核心岗位年薪中位数(中国,2025)</a:t>
              </a:r>
              <a:endParaRPr lang="zh-CN" sz="10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8" name="TextBox 38"/>
            <p:cNvSpPr txBox="1"/>
            <p:nvPr/>
          </p:nvSpPr>
          <p:spPr>
            <a:xfrm>
              <a:off x="833438" y="3503295"/>
              <a:ext cx="1052855"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AI 解决方案架构师</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9" name="Rectangle 39"/>
            <p:cNvSpPr/>
            <p:nvPr/>
          </p:nvSpPr>
          <p:spPr>
            <a:xfrm>
              <a:off x="2857500" y="3486150"/>
              <a:ext cx="4286250" cy="190500"/>
            </a:xfrm>
            <a:prstGeom prst="roundRect">
              <a:avLst>
                <a:gd name="adj" fmla="val 50000"/>
              </a:avLst>
            </a:prstGeom>
            <a:solidFill>
              <a:schemeClr val="lt1"/>
            </a:solidFill>
            <a:ln>
              <a:noFill/>
            </a:ln>
          </p:spPr>
        </p:sp>
        <p:sp>
          <p:nvSpPr>
            <p:cNvPr id="40" name="Rectangle 40"/>
            <p:cNvSpPr/>
            <p:nvPr/>
          </p:nvSpPr>
          <p:spPr>
            <a:xfrm>
              <a:off x="2857500" y="3486150"/>
              <a:ext cx="3857625" cy="190500"/>
            </a:xfrm>
            <a:prstGeom prst="roundRect">
              <a:avLst>
                <a:gd name="adj" fmla="val 50000"/>
              </a:avLst>
            </a:prstGeom>
            <a:solidFill>
              <a:schemeClr val="accent1"/>
            </a:solidFill>
            <a:ln>
              <a:noFill/>
            </a:ln>
          </p:spPr>
        </p:sp>
        <p:sp>
          <p:nvSpPr>
            <p:cNvPr id="41" name="TextBox 41"/>
            <p:cNvSpPr txBox="1"/>
            <p:nvPr/>
          </p:nvSpPr>
          <p:spPr>
            <a:xfrm>
              <a:off x="6757178" y="3531870"/>
              <a:ext cx="486585"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mn-lt"/>
                  <a:ea typeface="+mn-ea"/>
                  <a:cs typeface="+mn-cs"/>
                </a:rPr>
                <a:t>¥55.2万</a:t>
              </a:r>
              <a:endParaRPr lang="zh-CN" sz="900" b="1" dirty="0">
                <a:solidFill>
                  <a:schemeClr val="accent1"/>
                </a:solidFill>
                <a:latin typeface="+mn-lt"/>
                <a:ea typeface="+mn-ea"/>
                <a:cs typeface="+mn-cs"/>
              </a:endParaRPr>
            </a:p>
          </p:txBody>
        </p:sp>
        <p:sp>
          <p:nvSpPr>
            <p:cNvPr id="42" name="TextBox 42"/>
            <p:cNvSpPr txBox="1"/>
            <p:nvPr/>
          </p:nvSpPr>
          <p:spPr>
            <a:xfrm>
              <a:off x="833438" y="3808095"/>
              <a:ext cx="978789"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大模型算法工程师</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3" name="Rectangle 43"/>
            <p:cNvSpPr/>
            <p:nvPr/>
          </p:nvSpPr>
          <p:spPr>
            <a:xfrm>
              <a:off x="2857500" y="3790950"/>
              <a:ext cx="4286250" cy="190500"/>
            </a:xfrm>
            <a:prstGeom prst="roundRect">
              <a:avLst>
                <a:gd name="adj" fmla="val 50000"/>
              </a:avLst>
            </a:prstGeom>
            <a:solidFill>
              <a:schemeClr val="lt1"/>
            </a:solidFill>
            <a:ln>
              <a:noFill/>
            </a:ln>
          </p:spPr>
        </p:sp>
        <p:sp>
          <p:nvSpPr>
            <p:cNvPr id="44" name="Rectangle 44"/>
            <p:cNvSpPr/>
            <p:nvPr/>
          </p:nvSpPr>
          <p:spPr>
            <a:xfrm>
              <a:off x="2857500" y="3790950"/>
              <a:ext cx="3381375" cy="190500"/>
            </a:xfrm>
            <a:prstGeom prst="roundRect">
              <a:avLst>
                <a:gd name="adj" fmla="val 50000"/>
              </a:avLst>
            </a:prstGeom>
            <a:solidFill>
              <a:schemeClr val="accent1"/>
            </a:solidFill>
            <a:ln>
              <a:noFill/>
            </a:ln>
          </p:spPr>
        </p:sp>
        <p:sp>
          <p:nvSpPr>
            <p:cNvPr id="45" name="TextBox 45"/>
            <p:cNvSpPr txBox="1"/>
            <p:nvPr/>
          </p:nvSpPr>
          <p:spPr>
            <a:xfrm>
              <a:off x="6757178" y="3836670"/>
              <a:ext cx="486585"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mn-lt"/>
                  <a:ea typeface="+mn-ea"/>
                  <a:cs typeface="+mn-cs"/>
                </a:rPr>
                <a:t>¥48.5万</a:t>
              </a:r>
              <a:endParaRPr lang="zh-CN" sz="900" b="1" dirty="0">
                <a:solidFill>
                  <a:schemeClr val="accent1"/>
                </a:solidFill>
                <a:latin typeface="+mn-lt"/>
                <a:ea typeface="+mn-ea"/>
                <a:cs typeface="+mn-cs"/>
              </a:endParaRPr>
            </a:p>
          </p:txBody>
        </p:sp>
        <p:sp>
          <p:nvSpPr>
            <p:cNvPr id="46" name="TextBox 46"/>
            <p:cNvSpPr txBox="1"/>
            <p:nvPr/>
          </p:nvSpPr>
          <p:spPr>
            <a:xfrm>
              <a:off x="833438" y="4112895"/>
              <a:ext cx="668807"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AI 产品经理</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7" name="Rectangle 47"/>
            <p:cNvSpPr/>
            <p:nvPr/>
          </p:nvSpPr>
          <p:spPr>
            <a:xfrm>
              <a:off x="2857500" y="4095750"/>
              <a:ext cx="4286250" cy="190500"/>
            </a:xfrm>
            <a:prstGeom prst="roundRect">
              <a:avLst>
                <a:gd name="adj" fmla="val 50000"/>
              </a:avLst>
            </a:prstGeom>
            <a:solidFill>
              <a:schemeClr val="lt1"/>
            </a:solidFill>
            <a:ln>
              <a:noFill/>
            </a:ln>
          </p:spPr>
        </p:sp>
        <p:sp>
          <p:nvSpPr>
            <p:cNvPr id="48" name="Rectangle 48"/>
            <p:cNvSpPr/>
            <p:nvPr/>
          </p:nvSpPr>
          <p:spPr>
            <a:xfrm>
              <a:off x="2857500" y="4095750"/>
              <a:ext cx="2752725" cy="190500"/>
            </a:xfrm>
            <a:prstGeom prst="roundRect">
              <a:avLst>
                <a:gd name="adj" fmla="val 50000"/>
              </a:avLst>
            </a:prstGeom>
            <a:solidFill>
              <a:schemeClr val="accent2"/>
            </a:solidFill>
            <a:ln>
              <a:noFill/>
            </a:ln>
          </p:spPr>
        </p:sp>
        <p:sp>
          <p:nvSpPr>
            <p:cNvPr id="49" name="TextBox 49"/>
            <p:cNvSpPr txBox="1"/>
            <p:nvPr/>
          </p:nvSpPr>
          <p:spPr>
            <a:xfrm>
              <a:off x="6757178" y="4141470"/>
              <a:ext cx="486585" cy="176212"/>
            </a:xfrm>
            <a:prstGeom prst="rect">
              <a:avLst/>
            </a:prstGeom>
            <a:noFill/>
            <a:ln>
              <a:noFill/>
            </a:ln>
          </p:spPr>
          <p:txBody>
            <a:bodyPr wrap="none" lIns="0" tIns="0" rIns="0" bIns="0" anchor="t" anchorCtr="0">
              <a:spAutoFit/>
            </a:bodyPr>
            <a:lstStyle/>
            <a:p>
              <a:pPr algn="r"/>
              <a:r>
                <a:rPr lang="zh-CN" sz="900" b="1" dirty="0">
                  <a:solidFill>
                    <a:schemeClr val="accent2"/>
                  </a:solidFill>
                  <a:latin typeface="+mn-lt"/>
                  <a:ea typeface="+mn-ea"/>
                  <a:cs typeface="+mn-cs"/>
                </a:rPr>
                <a:t>¥39.7万</a:t>
              </a:r>
              <a:endParaRPr lang="zh-CN" sz="900" b="1" dirty="0">
                <a:solidFill>
                  <a:schemeClr val="accent2"/>
                </a:solidFill>
                <a:latin typeface="+mn-lt"/>
                <a:ea typeface="+mn-ea"/>
                <a:cs typeface="+mn-cs"/>
              </a:endParaRPr>
            </a:p>
          </p:txBody>
        </p:sp>
        <p:sp>
          <p:nvSpPr>
            <p:cNvPr id="50" name="TextBox 50"/>
            <p:cNvSpPr txBox="1"/>
            <p:nvPr/>
          </p:nvSpPr>
          <p:spPr>
            <a:xfrm>
              <a:off x="833438" y="4417695"/>
              <a:ext cx="615315"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数据工程师</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1" name="Rectangle 51"/>
            <p:cNvSpPr/>
            <p:nvPr/>
          </p:nvSpPr>
          <p:spPr>
            <a:xfrm>
              <a:off x="2857500" y="4400550"/>
              <a:ext cx="4286250" cy="190500"/>
            </a:xfrm>
            <a:prstGeom prst="roundRect">
              <a:avLst>
                <a:gd name="adj" fmla="val 50000"/>
              </a:avLst>
            </a:prstGeom>
            <a:solidFill>
              <a:schemeClr val="lt1"/>
            </a:solidFill>
            <a:ln>
              <a:noFill/>
            </a:ln>
          </p:spPr>
        </p:sp>
        <p:sp>
          <p:nvSpPr>
            <p:cNvPr id="52" name="Rectangle 52"/>
            <p:cNvSpPr/>
            <p:nvPr/>
          </p:nvSpPr>
          <p:spPr>
            <a:xfrm>
              <a:off x="2857500" y="4400550"/>
              <a:ext cx="2228850" cy="190500"/>
            </a:xfrm>
            <a:prstGeom prst="roundRect">
              <a:avLst>
                <a:gd name="adj" fmla="val 50000"/>
              </a:avLst>
            </a:prstGeom>
            <a:solidFill>
              <a:schemeClr val="accent2"/>
            </a:solidFill>
            <a:ln>
              <a:noFill/>
            </a:ln>
          </p:spPr>
        </p:sp>
        <p:sp>
          <p:nvSpPr>
            <p:cNvPr id="53" name="TextBox 53"/>
            <p:cNvSpPr txBox="1"/>
            <p:nvPr/>
          </p:nvSpPr>
          <p:spPr>
            <a:xfrm>
              <a:off x="6757178" y="4446270"/>
              <a:ext cx="486585" cy="176212"/>
            </a:xfrm>
            <a:prstGeom prst="rect">
              <a:avLst/>
            </a:prstGeom>
            <a:noFill/>
            <a:ln>
              <a:noFill/>
            </a:ln>
          </p:spPr>
          <p:txBody>
            <a:bodyPr wrap="none" lIns="0" tIns="0" rIns="0" bIns="0" anchor="t" anchorCtr="0">
              <a:spAutoFit/>
            </a:bodyPr>
            <a:lstStyle/>
            <a:p>
              <a:pPr algn="r"/>
              <a:r>
                <a:rPr lang="zh-CN" sz="900" b="1" dirty="0">
                  <a:solidFill>
                    <a:schemeClr val="accent2"/>
                  </a:solidFill>
                  <a:latin typeface="+mn-lt"/>
                  <a:ea typeface="+mn-ea"/>
                  <a:cs typeface="+mn-cs"/>
                </a:rPr>
                <a:t>¥32.1万</a:t>
              </a:r>
              <a:endParaRPr lang="zh-CN" sz="900" b="1" dirty="0">
                <a:solidFill>
                  <a:schemeClr val="accent2"/>
                </a:solidFill>
                <a:latin typeface="+mn-lt"/>
                <a:ea typeface="+mn-ea"/>
                <a:cs typeface="+mn-cs"/>
              </a:endParaRPr>
            </a:p>
          </p:txBody>
        </p:sp>
        <p:sp>
          <p:nvSpPr>
            <p:cNvPr id="54" name="TextBox 54"/>
            <p:cNvSpPr txBox="1"/>
            <p:nvPr/>
          </p:nvSpPr>
          <p:spPr>
            <a:xfrm>
              <a:off x="833438" y="4722495"/>
              <a:ext cx="1065657"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AI 应用开发(全栈)</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5" name="Rectangle 55"/>
            <p:cNvSpPr/>
            <p:nvPr/>
          </p:nvSpPr>
          <p:spPr>
            <a:xfrm>
              <a:off x="2857500" y="4705350"/>
              <a:ext cx="4286250" cy="190500"/>
            </a:xfrm>
            <a:prstGeom prst="roundRect">
              <a:avLst>
                <a:gd name="adj" fmla="val 50000"/>
              </a:avLst>
            </a:prstGeom>
            <a:solidFill>
              <a:schemeClr val="lt1"/>
            </a:solidFill>
            <a:ln>
              <a:noFill/>
            </a:ln>
          </p:spPr>
        </p:sp>
        <p:sp>
          <p:nvSpPr>
            <p:cNvPr id="56" name="Rectangle 56"/>
            <p:cNvSpPr/>
            <p:nvPr/>
          </p:nvSpPr>
          <p:spPr>
            <a:xfrm>
              <a:off x="2857500" y="4705350"/>
              <a:ext cx="2552700" cy="190500"/>
            </a:xfrm>
            <a:prstGeom prst="roundRect">
              <a:avLst>
                <a:gd name="adj" fmla="val 50000"/>
              </a:avLst>
            </a:prstGeom>
            <a:solidFill>
              <a:schemeClr val="accent3"/>
            </a:solidFill>
            <a:ln>
              <a:noFill/>
            </a:ln>
          </p:spPr>
        </p:sp>
        <p:sp>
          <p:nvSpPr>
            <p:cNvPr id="57" name="TextBox 57"/>
            <p:cNvSpPr txBox="1"/>
            <p:nvPr/>
          </p:nvSpPr>
          <p:spPr>
            <a:xfrm>
              <a:off x="6757178" y="4751070"/>
              <a:ext cx="486585" cy="176212"/>
            </a:xfrm>
            <a:prstGeom prst="rect">
              <a:avLst/>
            </a:prstGeom>
            <a:noFill/>
            <a:ln>
              <a:noFill/>
            </a:ln>
          </p:spPr>
          <p:txBody>
            <a:bodyPr wrap="none" lIns="0" tIns="0" rIns="0" bIns="0" anchor="t" anchorCtr="0">
              <a:spAutoFit/>
            </a:bodyPr>
            <a:lstStyle/>
            <a:p>
              <a:pPr algn="r"/>
              <a:r>
                <a:rPr lang="zh-CN" sz="900" b="1" dirty="0">
                  <a:solidFill>
                    <a:schemeClr val="dk1"/>
                  </a:solidFill>
                  <a:latin typeface="+mn-lt"/>
                  <a:ea typeface="+mn-ea"/>
                  <a:cs typeface="+mn-cs"/>
                </a:rPr>
                <a:t>¥36.8万</a:t>
              </a:r>
              <a:endParaRPr lang="zh-CN" sz="900" b="1" dirty="0">
                <a:solidFill>
                  <a:schemeClr val="dk1"/>
                </a:solidFill>
                <a:latin typeface="+mn-lt"/>
                <a:ea typeface="+mn-ea"/>
                <a:cs typeface="+mn-cs"/>
              </a:endParaRPr>
            </a:p>
          </p:txBody>
        </p:sp>
        <p:sp>
          <p:nvSpPr>
            <p:cNvPr id="58" name="TextBox 58"/>
            <p:cNvSpPr txBox="1"/>
            <p:nvPr/>
          </p:nvSpPr>
          <p:spPr>
            <a:xfrm>
              <a:off x="833438" y="5027295"/>
              <a:ext cx="996963"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数据标注 / 训练师</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9" name="Rectangle 59"/>
            <p:cNvSpPr/>
            <p:nvPr/>
          </p:nvSpPr>
          <p:spPr>
            <a:xfrm>
              <a:off x="2857500" y="5010150"/>
              <a:ext cx="4286250" cy="190500"/>
            </a:xfrm>
            <a:prstGeom prst="roundRect">
              <a:avLst>
                <a:gd name="adj" fmla="val 50000"/>
              </a:avLst>
            </a:prstGeom>
            <a:solidFill>
              <a:schemeClr val="lt1"/>
            </a:solidFill>
            <a:ln>
              <a:noFill/>
            </a:ln>
          </p:spPr>
        </p:sp>
        <p:sp>
          <p:nvSpPr>
            <p:cNvPr id="60" name="Rectangle 60"/>
            <p:cNvSpPr/>
            <p:nvPr/>
          </p:nvSpPr>
          <p:spPr>
            <a:xfrm>
              <a:off x="2857500" y="5010150"/>
              <a:ext cx="1047750" cy="190500"/>
            </a:xfrm>
            <a:prstGeom prst="roundRect">
              <a:avLst>
                <a:gd name="adj" fmla="val 50000"/>
              </a:avLst>
            </a:prstGeom>
            <a:solidFill>
              <a:schemeClr val="accent3"/>
            </a:solidFill>
            <a:ln>
              <a:noFill/>
            </a:ln>
          </p:spPr>
        </p:sp>
        <p:sp>
          <p:nvSpPr>
            <p:cNvPr id="61" name="TextBox 61"/>
            <p:cNvSpPr txBox="1"/>
            <p:nvPr/>
          </p:nvSpPr>
          <p:spPr>
            <a:xfrm>
              <a:off x="6757178" y="5055870"/>
              <a:ext cx="486585" cy="176212"/>
            </a:xfrm>
            <a:prstGeom prst="rect">
              <a:avLst/>
            </a:prstGeom>
            <a:noFill/>
            <a:ln>
              <a:noFill/>
            </a:ln>
          </p:spPr>
          <p:txBody>
            <a:bodyPr wrap="none" lIns="0" tIns="0" rIns="0" bIns="0" anchor="t" anchorCtr="0">
              <a:spAutoFit/>
            </a:bodyPr>
            <a:lstStyle/>
            <a:p>
              <a:pPr algn="r"/>
              <a:r>
                <a:rPr lang="zh-CN" sz="900" b="1" dirty="0">
                  <a:solidFill>
                    <a:schemeClr val="dk1"/>
                  </a:solidFill>
                  <a:latin typeface="+mn-lt"/>
                  <a:ea typeface="+mn-ea"/>
                  <a:cs typeface="+mn-cs"/>
                </a:rPr>
                <a:t>¥15.0万</a:t>
              </a:r>
              <a:endParaRPr lang="zh-CN" sz="900" b="1" dirty="0">
                <a:solidFill>
                  <a:schemeClr val="dk1"/>
                </a:solidFill>
                <a:latin typeface="+mn-lt"/>
                <a:ea typeface="+mn-ea"/>
                <a:cs typeface="+mn-cs"/>
              </a:endParaRPr>
            </a:p>
          </p:txBody>
        </p:sp>
        <p:sp>
          <p:nvSpPr>
            <p:cNvPr id="62" name="TextBox 62"/>
            <p:cNvSpPr txBox="1"/>
            <p:nvPr/>
          </p:nvSpPr>
          <p:spPr>
            <a:xfrm>
              <a:off x="833438" y="5263991"/>
              <a:ext cx="2752744"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注:一线城市 3-5 年经验中位数,头部企业上浮 50-100%</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grpSp>
      <p:grpSp>
        <p:nvGrpSpPr>
          <p:cNvPr id="76" name="Group 76"/>
          <p:cNvGrpSpPr/>
          <p:nvPr/>
        </p:nvGrpSpPr>
        <p:grpSpPr>
          <a:xfrm>
            <a:off x="7620000" y="3048000"/>
            <a:ext cx="4000500" cy="2381250"/>
            <a:chOff x="7620000" y="3048000"/>
            <a:chExt cx="4000500" cy="2381250"/>
          </a:xfrm>
        </p:grpSpPr>
        <p:sp>
          <p:nvSpPr>
            <p:cNvPr id="64" name="Rectangle 64"/>
            <p:cNvSpPr/>
            <p:nvPr/>
          </p:nvSpPr>
          <p:spPr>
            <a:xfrm>
              <a:off x="7620000" y="3048000"/>
              <a:ext cx="4000500" cy="2381250"/>
            </a:xfrm>
            <a:prstGeom prst="roundRect">
              <a:avLst>
                <a:gd name="adj" fmla="val 5600"/>
              </a:avLst>
            </a:prstGeom>
            <a:solidFill>
              <a:schemeClr val="lt2"/>
            </a:solidFill>
            <a:ln>
              <a:noFill/>
            </a:ln>
          </p:spPr>
        </p:sp>
        <p:sp>
          <p:nvSpPr>
            <p:cNvPr id="65" name="Rectangle 65"/>
            <p:cNvSpPr/>
            <p:nvPr/>
          </p:nvSpPr>
          <p:spPr>
            <a:xfrm>
              <a:off x="7620000" y="3048000"/>
              <a:ext cx="76200" cy="2381250"/>
            </a:xfrm>
            <a:prstGeom prst="roundRect">
              <a:avLst>
                <a:gd name="adj" fmla="val 50000"/>
              </a:avLst>
            </a:prstGeom>
            <a:solidFill>
              <a:schemeClr val="accent2"/>
            </a:solidFill>
            <a:ln>
              <a:noFill/>
            </a:ln>
          </p:spPr>
        </p:sp>
        <p:sp>
          <p:nvSpPr>
            <p:cNvPr id="66" name="TextBox 66"/>
            <p:cNvSpPr txBox="1"/>
            <p:nvPr/>
          </p:nvSpPr>
          <p:spPr>
            <a:xfrm>
              <a:off x="7881366" y="3201352"/>
              <a:ext cx="1049598"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微软雅黑" panose="020B0503020204020204" charset="-122"/>
                  <a:ea typeface="微软雅黑" panose="020B0503020204020204" charset="-122"/>
                  <a:cs typeface="微软雅黑" panose="020B0503020204020204" charset="-122"/>
                </a:rPr>
                <a:t>人才分布与培养</a:t>
              </a:r>
              <a:endParaRPr lang="zh-CN" sz="10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7" name="TextBox 67"/>
            <p:cNvSpPr txBox="1"/>
            <p:nvPr/>
          </p:nvSpPr>
          <p:spPr>
            <a:xfrm>
              <a:off x="7881938" y="3484245"/>
              <a:ext cx="645604"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地域集中度</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8" name="TextBox 68"/>
            <p:cNvSpPr txBox="1"/>
            <p:nvPr/>
          </p:nvSpPr>
          <p:spPr>
            <a:xfrm>
              <a:off x="7881938" y="3674745"/>
              <a:ext cx="1796605"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北京 28% / 深圳 19% / 上海 17%</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9" name="TextBox 69"/>
            <p:cNvSpPr txBox="1"/>
            <p:nvPr/>
          </p:nvSpPr>
          <p:spPr>
            <a:xfrm>
              <a:off x="7881938" y="3865245"/>
              <a:ext cx="1729969"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杭州 12% / 广州 8% / 其他 16%</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70" name="TextBox 70"/>
            <p:cNvSpPr txBox="1"/>
            <p:nvPr/>
          </p:nvSpPr>
          <p:spPr>
            <a:xfrm>
              <a:off x="7881938" y="4170045"/>
              <a:ext cx="51838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学历结构</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1" name="TextBox 71"/>
            <p:cNvSpPr txBox="1"/>
            <p:nvPr/>
          </p:nvSpPr>
          <p:spPr>
            <a:xfrm>
              <a:off x="7881938" y="4360545"/>
              <a:ext cx="2093443"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硕士及以上 58% / 本科 36% / 其他 6%</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72" name="TextBox 72"/>
            <p:cNvSpPr txBox="1"/>
            <p:nvPr/>
          </p:nvSpPr>
          <p:spPr>
            <a:xfrm>
              <a:off x="7881938" y="4665345"/>
              <a:ext cx="51838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培养路径</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3" name="TextBox 73"/>
            <p:cNvSpPr txBox="1"/>
            <p:nvPr/>
          </p:nvSpPr>
          <p:spPr>
            <a:xfrm>
              <a:off x="7881938" y="4855845"/>
              <a:ext cx="1578521"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高校扩容(本硕博)+ 产教融合</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74" name="TextBox 74"/>
            <p:cNvSpPr txBox="1"/>
            <p:nvPr/>
          </p:nvSpPr>
          <p:spPr>
            <a:xfrm>
              <a:off x="7881938" y="5046345"/>
              <a:ext cx="1481595"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企业内训转岗 + 订单式培养</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75" name="TextBox 75"/>
            <p:cNvSpPr txBox="1"/>
            <p:nvPr/>
          </p:nvSpPr>
          <p:spPr>
            <a:xfrm>
              <a:off x="7881938" y="5236845"/>
              <a:ext cx="1360437" cy="176212"/>
            </a:xfrm>
            <a:prstGeom prst="rect">
              <a:avLst/>
            </a:prstGeom>
            <a:noFill/>
            <a:ln>
              <a:noFill/>
            </a:ln>
          </p:spPr>
          <p:txBody>
            <a:bodyPr wrap="none" lIns="0" tIns="0" rIns="0" bIns="0" anchor="t" anchorCtr="0">
              <a:spAutoFit/>
            </a:bodyPr>
            <a:lstStyle/>
            <a:p>
              <a:pPr algn="l"/>
              <a:r>
                <a:rPr lang="zh-CN" sz="900" dirty="0">
                  <a:solidFill>
                    <a:schemeClr val="dk2"/>
                  </a:solidFill>
                  <a:latin typeface="微软雅黑" panose="020B0503020204020204" charset="-122"/>
                  <a:ea typeface="微软雅黑" panose="020B0503020204020204" charset="-122"/>
                  <a:cs typeface="微软雅黑" panose="020B0503020204020204" charset="-122"/>
                </a:rPr>
                <a:t>海外引才 + 开源社区孵化</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grpSp>
      <p:grpSp>
        <p:nvGrpSpPr>
          <p:cNvPr id="81" name="Group 81"/>
          <p:cNvGrpSpPr/>
          <p:nvPr/>
        </p:nvGrpSpPr>
        <p:grpSpPr>
          <a:xfrm>
            <a:off x="571500" y="5619750"/>
            <a:ext cx="11049000" cy="685800"/>
            <a:chOff x="571500" y="5619750"/>
            <a:chExt cx="11049000" cy="685800"/>
          </a:xfrm>
        </p:grpSpPr>
        <p:sp>
          <p:nvSpPr>
            <p:cNvPr id="77" name="Rectangle 77"/>
            <p:cNvSpPr/>
            <p:nvPr/>
          </p:nvSpPr>
          <p:spPr>
            <a:xfrm>
              <a:off x="571500" y="5619750"/>
              <a:ext cx="11049000" cy="685800"/>
            </a:xfrm>
            <a:prstGeom prst="roundRect">
              <a:avLst>
                <a:gd name="adj" fmla="val 16667"/>
              </a:avLst>
            </a:prstGeom>
            <a:solidFill>
              <a:schemeClr val="accent1"/>
            </a:solidFill>
            <a:ln>
              <a:noFill/>
            </a:ln>
          </p:spPr>
        </p:sp>
        <p:sp>
          <p:nvSpPr>
            <p:cNvPr id="78" name="TextBox 78"/>
            <p:cNvSpPr txBox="1"/>
            <p:nvPr/>
          </p:nvSpPr>
          <p:spPr>
            <a:xfrm>
              <a:off x="832866" y="5773102"/>
              <a:ext cx="775024"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微软雅黑" panose="020B0503020204020204" charset="-122"/>
                  <a:ea typeface="微软雅黑" panose="020B0503020204020204" charset="-122"/>
                  <a:cs typeface="微软雅黑" panose="020B0503020204020204" charset="-122"/>
                </a:rPr>
                <a:t>缺口 = 机会</a:t>
              </a:r>
              <a:endParaRPr lang="zh-CN" sz="105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9" name="TextBox 79"/>
            <p:cNvSpPr txBox="1"/>
            <p:nvPr/>
          </p:nvSpPr>
          <p:spPr>
            <a:xfrm>
              <a:off x="2852547" y="5781199"/>
              <a:ext cx="3796598" cy="190690"/>
            </a:xfrm>
            <a:prstGeom prst="rect">
              <a:avLst/>
            </a:prstGeom>
            <a:noFill/>
            <a:ln>
              <a:noFill/>
            </a:ln>
          </p:spPr>
          <p:txBody>
            <a:bodyPr wrap="none" lIns="0" tIns="0" rIns="0" bIns="0" anchor="t" anchorCtr="0">
              <a:spAutoFit/>
            </a:bodyPr>
            <a:lstStyle/>
            <a:p>
              <a:pPr algn="l"/>
              <a:r>
                <a:rPr lang="zh-CN" sz="980" dirty="0">
                  <a:solidFill>
                    <a:srgbClr val="FFFFFF"/>
                  </a:solidFill>
                  <a:latin typeface="微软雅黑" panose="020B0503020204020204" charset="-122"/>
                  <a:ea typeface="微软雅黑" panose="020B0503020204020204" charset="-122"/>
                  <a:cs typeface="微软雅黑" panose="020B0503020204020204" charset="-122"/>
                </a:rPr>
                <a:t>教育侧扩容 + 产业侧内训 + 政策侧引才,三路并举缓解结构性短缺</a:t>
              </a:r>
              <a:endParaRPr lang="zh-CN" sz="98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0" name="TextBox 80"/>
            <p:cNvSpPr txBox="1"/>
            <p:nvPr/>
          </p:nvSpPr>
          <p:spPr>
            <a:xfrm>
              <a:off x="833247" y="6066949"/>
              <a:ext cx="5804792" cy="190690"/>
            </a:xfrm>
            <a:prstGeom prst="rect">
              <a:avLst/>
            </a:prstGeom>
            <a:noFill/>
            <a:ln>
              <a:noFill/>
            </a:ln>
          </p:spPr>
          <p:txBody>
            <a:bodyPr wrap="none" lIns="0" tIns="0" rIns="0" bIns="0" anchor="t" anchorCtr="0">
              <a:spAutoFit/>
            </a:bodyPr>
            <a:lstStyle/>
            <a:p>
              <a:pPr algn="l"/>
              <a:r>
                <a:rPr lang="zh-CN" sz="980" dirty="0">
                  <a:solidFill>
                    <a:srgbClr val="D6E4F5"/>
                  </a:solidFill>
                  <a:latin typeface="微软雅黑" panose="020B0503020204020204" charset="-122"/>
                  <a:ea typeface="微软雅黑" panose="020B0503020204020204" charset="-122"/>
                  <a:cs typeface="微软雅黑" panose="020B0503020204020204" charset="-122"/>
                </a:rPr>
                <a:t>高校年供给 4 万 vs 缺口 500 万,缺口需 10 年补齐;高端算法人才薪资年涨 20%+,倒逼校企深度协同</a:t>
              </a:r>
              <a:endParaRPr lang="zh-CN" sz="980" dirty="0">
                <a:solidFill>
                  <a:srgbClr val="D6E4F5"/>
                </a:solidFill>
                <a:latin typeface="微软雅黑" panose="020B0503020204020204" charset="-122"/>
                <a:ea typeface="微软雅黑" panose="020B0503020204020204" charset="-122"/>
                <a:cs typeface="微软雅黑" panose="020B0503020204020204" charset="-122"/>
              </a:endParaRPr>
            </a:p>
          </p:txBody>
        </p:sp>
      </p:grpSp>
      <p:sp>
        <p:nvSpPr>
          <p:cNvPr id="83" name="TextBox 83"/>
          <p:cNvSpPr txBox="1"/>
          <p:nvPr/>
        </p:nvSpPr>
        <p:spPr>
          <a:xfrm>
            <a:off x="11243681" y="6654641"/>
            <a:ext cx="381581"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05 / 07</a:t>
            </a:r>
            <a:endParaRPr lang="en-US" sz="820" dirty="0">
              <a:solidFill>
                <a:schemeClr val="accent5"/>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solidFill>
            <a:schemeClr val="accent1"/>
          </a:solidFill>
          <a:ln>
            <a:noFill/>
          </a:ln>
        </p:spPr>
      </p:sp>
      <p:sp>
        <p:nvSpPr>
          <p:cNvPr id="3" name="Rectangle 3"/>
          <p:cNvSpPr/>
          <p:nvPr/>
        </p:nvSpPr>
        <p:spPr>
          <a:xfrm>
            <a:off x="571500" y="476250"/>
            <a:ext cx="57150" cy="361950"/>
          </a:xfrm>
          <a:prstGeom prst="roundRect">
            <a:avLst>
              <a:gd name="adj" fmla="val 50000"/>
            </a:avLst>
          </a:prstGeom>
          <a:solidFill>
            <a:schemeClr val="accent1"/>
          </a:solidFill>
          <a:ln>
            <a:noFill/>
          </a:ln>
        </p:spPr>
      </p:sp>
      <p:sp>
        <p:nvSpPr>
          <p:cNvPr id="4" name="TextBox 4"/>
          <p:cNvSpPr txBox="1"/>
          <p:nvPr/>
        </p:nvSpPr>
        <p:spPr>
          <a:xfrm>
            <a:off x="750570" y="519112"/>
            <a:ext cx="1295019"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微软雅黑" panose="020B0503020204020204" charset="-122"/>
                <a:ea typeface="微软雅黑" panose="020B0503020204020204" charset="-122"/>
                <a:cs typeface="微软雅黑" panose="020B0503020204020204" charset="-122"/>
              </a:rPr>
              <a:t>服务需求</a:t>
            </a:r>
            <a:endParaRPr lang="zh-CN" sz="22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nvSpPr>
        <p:spPr>
          <a:xfrm>
            <a:off x="756666" y="896302"/>
            <a:ext cx="5424411" cy="205359"/>
          </a:xfrm>
          <a:prstGeom prst="rect">
            <a:avLst/>
          </a:prstGeom>
          <a:noFill/>
          <a:ln>
            <a:noFill/>
          </a:ln>
        </p:spPr>
        <p:txBody>
          <a:bodyPr wrap="none" lIns="0" tIns="0" rIns="0" bIns="0" anchor="t" anchorCtr="0">
            <a:spAutoFit/>
          </a:bodyPr>
          <a:lstStyle/>
          <a:p>
            <a:pPr algn="l"/>
            <a:r>
              <a:rPr lang="zh-CN" sz="1050" dirty="0">
                <a:solidFill>
                  <a:schemeClr val="dk2"/>
                </a:solidFill>
                <a:latin typeface="微软雅黑" panose="020B0503020204020204" charset="-122"/>
                <a:ea typeface="微软雅黑" panose="020B0503020204020204" charset="-122"/>
                <a:cs typeface="微软雅黑" panose="020B0503020204020204" charset="-122"/>
              </a:rPr>
              <a:t>从算力到应用全栈服务链成型,服务形态从“卖资源”演进到“卖结果”,一体化交付成主流</a:t>
            </a:r>
            <a:endParaRPr lang="zh-CN" sz="1050" dirty="0">
              <a:solidFill>
                <a:schemeClr val="dk2"/>
              </a:solidFill>
              <a:latin typeface="微软雅黑" panose="020B0503020204020204" charset="-122"/>
              <a:ea typeface="微软雅黑" panose="020B0503020204020204" charset="-122"/>
              <a:cs typeface="微软雅黑" panose="020B0503020204020204" charset="-122"/>
            </a:endParaRPr>
          </a:p>
        </p:txBody>
      </p:sp>
      <p:grpSp>
        <p:nvGrpSpPr>
          <p:cNvPr id="85" name="Group 85"/>
          <p:cNvGrpSpPr/>
          <p:nvPr/>
        </p:nvGrpSpPr>
        <p:grpSpPr>
          <a:xfrm>
            <a:off x="762000" y="1428750"/>
            <a:ext cx="10858500" cy="2762250"/>
            <a:chOff x="762000" y="1428750"/>
            <a:chExt cx="10858500" cy="2762250"/>
          </a:xfrm>
        </p:grpSpPr>
        <p:sp>
          <p:nvSpPr>
            <p:cNvPr id="6" name="Rectangle 6"/>
            <p:cNvSpPr/>
            <p:nvPr/>
          </p:nvSpPr>
          <p:spPr>
            <a:xfrm>
              <a:off x="762000" y="1428750"/>
              <a:ext cx="1952625" cy="2762250"/>
            </a:xfrm>
            <a:prstGeom prst="roundRect">
              <a:avLst>
                <a:gd name="adj" fmla="val 6829"/>
              </a:avLst>
            </a:prstGeom>
            <a:solidFill>
              <a:schemeClr val="lt2"/>
            </a:solidFill>
            <a:ln>
              <a:noFill/>
            </a:ln>
          </p:spPr>
        </p:sp>
        <p:sp>
          <p:nvSpPr>
            <p:cNvPr id="7" name="Rectangle 7"/>
            <p:cNvSpPr/>
            <p:nvPr/>
          </p:nvSpPr>
          <p:spPr>
            <a:xfrm>
              <a:off x="762000" y="1428750"/>
              <a:ext cx="1952625" cy="476250"/>
            </a:xfrm>
            <a:prstGeom prst="roundRect">
              <a:avLst>
                <a:gd name="adj" fmla="val 28000"/>
              </a:avLst>
            </a:prstGeom>
            <a:solidFill>
              <a:schemeClr val="accent1"/>
            </a:solidFill>
            <a:ln>
              <a:noFill/>
            </a:ln>
          </p:spPr>
        </p:sp>
        <p:sp>
          <p:nvSpPr>
            <p:cNvPr id="8" name="Rectangle 8"/>
            <p:cNvSpPr/>
            <p:nvPr/>
          </p:nvSpPr>
          <p:spPr>
            <a:xfrm>
              <a:off x="762000" y="1771650"/>
              <a:ext cx="1952625" cy="133350"/>
            </a:xfrm>
            <a:prstGeom prst="rect">
              <a:avLst/>
            </a:prstGeom>
            <a:solidFill>
              <a:schemeClr val="accent1"/>
            </a:solidFill>
            <a:ln>
              <a:noFill/>
            </a:ln>
          </p:spPr>
        </p:sp>
        <p:sp>
          <p:nvSpPr>
            <p:cNvPr id="9" name="Ellipse 9"/>
            <p:cNvSpPr/>
            <p:nvPr/>
          </p:nvSpPr>
          <p:spPr>
            <a:xfrm>
              <a:off x="962025" y="1524000"/>
              <a:ext cx="285750" cy="285750"/>
            </a:xfrm>
            <a:prstGeom prst="ellipse">
              <a:avLst/>
            </a:prstGeom>
            <a:solidFill>
              <a:schemeClr val="lt1"/>
            </a:solidFill>
            <a:ln>
              <a:noFill/>
            </a:ln>
          </p:spPr>
        </p:sp>
        <p:sp>
          <p:nvSpPr>
            <p:cNvPr id="10" name="TextBox 10"/>
            <p:cNvSpPr txBox="1"/>
            <p:nvPr/>
          </p:nvSpPr>
          <p:spPr>
            <a:xfrm>
              <a:off x="1058751" y="1610678"/>
              <a:ext cx="92298"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1</a:t>
              </a:r>
              <a:endParaRPr lang="en-US" sz="1050" b="1" dirty="0">
                <a:solidFill>
                  <a:schemeClr val="accent1"/>
                </a:solidFill>
                <a:latin typeface="+mn-lt"/>
                <a:ea typeface="+mn-ea"/>
                <a:cs typeface="+mn-cs"/>
              </a:endParaRPr>
            </a:p>
          </p:txBody>
        </p:sp>
        <p:sp>
          <p:nvSpPr>
            <p:cNvPr id="11" name="TextBox 11"/>
            <p:cNvSpPr txBox="1"/>
            <p:nvPr/>
          </p:nvSpPr>
          <p:spPr>
            <a:xfrm>
              <a:off x="1346073" y="1595914"/>
              <a:ext cx="373399"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微软雅黑" panose="020B0503020204020204" charset="-122"/>
                  <a:ea typeface="微软雅黑" panose="020B0503020204020204" charset="-122"/>
                  <a:cs typeface="微软雅黑" panose="020B0503020204020204" charset="-122"/>
                </a:rPr>
                <a:t>算力</a:t>
              </a:r>
              <a:endParaRPr lang="zh-CN" sz="128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nvSpPr>
          <p:spPr>
            <a:xfrm>
              <a:off x="909638" y="2074545"/>
              <a:ext cx="109830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智算中心 / GPU 云</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3" name="TextBox 13"/>
            <p:cNvSpPr txBox="1"/>
            <p:nvPr/>
          </p:nvSpPr>
          <p:spPr>
            <a:xfrm>
              <a:off x="909638" y="2311241"/>
              <a:ext cx="1114796"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训练 / 推理算力租赁</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4" name="TextBox 14"/>
            <p:cNvSpPr txBox="1"/>
            <p:nvPr/>
          </p:nvSpPr>
          <p:spPr>
            <a:xfrm>
              <a:off x="909638" y="2501741"/>
              <a:ext cx="987076"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国产芯片加速替代</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5" name="TextBox 15"/>
            <p:cNvSpPr txBox="1"/>
            <p:nvPr/>
          </p:nvSpPr>
          <p:spPr>
            <a:xfrm>
              <a:off x="909638" y="2692241"/>
              <a:ext cx="987076"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十万卡集群成标配</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6" name="TextBox 16"/>
            <p:cNvSpPr txBox="1"/>
            <p:nvPr/>
          </p:nvSpPr>
          <p:spPr>
            <a:xfrm>
              <a:off x="909638" y="2977991"/>
              <a:ext cx="242754"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微软雅黑" panose="020B0503020204020204" charset="-122"/>
                  <a:ea typeface="微软雅黑" panose="020B0503020204020204" charset="-122"/>
                  <a:cs typeface="微软雅黑" panose="020B0503020204020204" charset="-122"/>
                </a:rPr>
                <a:t>代表</a:t>
              </a:r>
              <a:endParaRPr lang="zh-CN" sz="82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 name="TextBox 17"/>
            <p:cNvSpPr txBox="1"/>
            <p:nvPr/>
          </p:nvSpPr>
          <p:spPr>
            <a:xfrm>
              <a:off x="909638" y="3187541"/>
              <a:ext cx="1300353"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NVIDIA GB300 / 华为昇腾</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8" name="TextBox 18"/>
            <p:cNvSpPr txBox="1"/>
            <p:nvPr/>
          </p:nvSpPr>
          <p:spPr>
            <a:xfrm>
              <a:off x="909638" y="3378041"/>
              <a:ext cx="1025738"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寒武纪 / 百度智能云</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9" name="TextBox 19"/>
            <p:cNvSpPr txBox="1"/>
            <p:nvPr/>
          </p:nvSpPr>
          <p:spPr>
            <a:xfrm>
              <a:off x="906780" y="3609975"/>
              <a:ext cx="92695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$1,560亿</a:t>
              </a:r>
              <a:endParaRPr lang="zh-CN" sz="1500" b="1" dirty="0">
                <a:solidFill>
                  <a:schemeClr val="accent1"/>
                </a:solidFill>
                <a:latin typeface="+mn-lt"/>
                <a:ea typeface="+mn-ea"/>
                <a:cs typeface="+mn-cs"/>
              </a:endParaRPr>
            </a:p>
          </p:txBody>
        </p:sp>
        <p:sp>
          <p:nvSpPr>
            <p:cNvPr id="20" name="TextBox 20"/>
            <p:cNvSpPr txBox="1"/>
            <p:nvPr/>
          </p:nvSpPr>
          <p:spPr>
            <a:xfrm>
              <a:off x="909638" y="3873341"/>
              <a:ext cx="1177138"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2025 全球 AI 算力市场</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1" name="Polygon 21"/>
            <p:cNvSpPr/>
            <p:nvPr/>
          </p:nvSpPr>
          <p:spPr>
            <a:xfrm>
              <a:off x="2790825" y="2743200"/>
              <a:ext cx="323850" cy="190500"/>
            </a:xfrm>
            <a:custGeom>
              <a:avLst/>
              <a:gdLst/>
              <a:ahLst/>
              <a:cxnLst/>
              <a:rect l="l" t="t" r="r" b="b"/>
              <a:pathLst>
                <a:path w="323850" h="190500">
                  <a:moveTo>
                    <a:pt x="0" y="66675"/>
                  </a:moveTo>
                  <a:lnTo>
                    <a:pt x="190500" y="66675"/>
                  </a:lnTo>
                  <a:lnTo>
                    <a:pt x="190500" y="0"/>
                  </a:lnTo>
                  <a:lnTo>
                    <a:pt x="323850" y="95250"/>
                  </a:lnTo>
                  <a:lnTo>
                    <a:pt x="190500" y="190500"/>
                  </a:lnTo>
                  <a:lnTo>
                    <a:pt x="190500" y="123825"/>
                  </a:lnTo>
                  <a:lnTo>
                    <a:pt x="0" y="123825"/>
                  </a:lnTo>
                  <a:close/>
                </a:path>
              </a:pathLst>
            </a:custGeom>
            <a:solidFill>
              <a:schemeClr val="accent2"/>
            </a:solidFill>
            <a:ln>
              <a:noFill/>
            </a:ln>
          </p:spPr>
        </p:sp>
        <p:sp>
          <p:nvSpPr>
            <p:cNvPr id="22" name="Rectangle 22"/>
            <p:cNvSpPr/>
            <p:nvPr/>
          </p:nvSpPr>
          <p:spPr>
            <a:xfrm>
              <a:off x="3162300" y="1428750"/>
              <a:ext cx="1952625" cy="2762250"/>
            </a:xfrm>
            <a:prstGeom prst="roundRect">
              <a:avLst>
                <a:gd name="adj" fmla="val 6829"/>
              </a:avLst>
            </a:prstGeom>
            <a:solidFill>
              <a:schemeClr val="lt2"/>
            </a:solidFill>
            <a:ln>
              <a:noFill/>
            </a:ln>
          </p:spPr>
        </p:sp>
        <p:sp>
          <p:nvSpPr>
            <p:cNvPr id="23" name="Rectangle 23"/>
            <p:cNvSpPr/>
            <p:nvPr/>
          </p:nvSpPr>
          <p:spPr>
            <a:xfrm>
              <a:off x="3162300" y="1428750"/>
              <a:ext cx="1952625" cy="476250"/>
            </a:xfrm>
            <a:prstGeom prst="roundRect">
              <a:avLst>
                <a:gd name="adj" fmla="val 28000"/>
              </a:avLst>
            </a:prstGeom>
            <a:solidFill>
              <a:schemeClr val="accent2"/>
            </a:solidFill>
            <a:ln>
              <a:noFill/>
            </a:ln>
          </p:spPr>
        </p:sp>
        <p:sp>
          <p:nvSpPr>
            <p:cNvPr id="24" name="Rectangle 24"/>
            <p:cNvSpPr/>
            <p:nvPr/>
          </p:nvSpPr>
          <p:spPr>
            <a:xfrm>
              <a:off x="3162300" y="1771650"/>
              <a:ext cx="1952625" cy="133350"/>
            </a:xfrm>
            <a:prstGeom prst="rect">
              <a:avLst/>
            </a:prstGeom>
            <a:solidFill>
              <a:schemeClr val="accent2"/>
            </a:solidFill>
            <a:ln>
              <a:noFill/>
            </a:ln>
          </p:spPr>
        </p:sp>
        <p:sp>
          <p:nvSpPr>
            <p:cNvPr id="25" name="Ellipse 25"/>
            <p:cNvSpPr/>
            <p:nvPr/>
          </p:nvSpPr>
          <p:spPr>
            <a:xfrm>
              <a:off x="3362325" y="1524000"/>
              <a:ext cx="285750" cy="285750"/>
            </a:xfrm>
            <a:prstGeom prst="ellipse">
              <a:avLst/>
            </a:prstGeom>
            <a:solidFill>
              <a:schemeClr val="lt1"/>
            </a:solidFill>
            <a:ln>
              <a:noFill/>
            </a:ln>
          </p:spPr>
        </p:sp>
        <p:sp>
          <p:nvSpPr>
            <p:cNvPr id="26" name="TextBox 26"/>
            <p:cNvSpPr txBox="1"/>
            <p:nvPr/>
          </p:nvSpPr>
          <p:spPr>
            <a:xfrm>
              <a:off x="3459051" y="1610678"/>
              <a:ext cx="92298"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mn-lt"/>
                  <a:ea typeface="+mn-ea"/>
                  <a:cs typeface="+mn-cs"/>
                </a:rPr>
                <a:t>2</a:t>
              </a:r>
              <a:endParaRPr lang="en-US" sz="1050" b="1" dirty="0">
                <a:solidFill>
                  <a:schemeClr val="accent2"/>
                </a:solidFill>
                <a:latin typeface="+mn-lt"/>
                <a:ea typeface="+mn-ea"/>
                <a:cs typeface="+mn-cs"/>
              </a:endParaRPr>
            </a:p>
          </p:txBody>
        </p:sp>
        <p:sp>
          <p:nvSpPr>
            <p:cNvPr id="27" name="TextBox 27"/>
            <p:cNvSpPr txBox="1"/>
            <p:nvPr/>
          </p:nvSpPr>
          <p:spPr>
            <a:xfrm>
              <a:off x="3746373" y="1595914"/>
              <a:ext cx="373399"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微软雅黑" panose="020B0503020204020204" charset="-122"/>
                  <a:ea typeface="微软雅黑" panose="020B0503020204020204" charset="-122"/>
                  <a:cs typeface="微软雅黑" panose="020B0503020204020204" charset="-122"/>
                </a:rPr>
                <a:t>数据</a:t>
              </a:r>
              <a:endParaRPr lang="zh-CN" sz="128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TextBox 28"/>
            <p:cNvSpPr txBox="1"/>
            <p:nvPr/>
          </p:nvSpPr>
          <p:spPr>
            <a:xfrm>
              <a:off x="3309938" y="2074545"/>
              <a:ext cx="900036"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数据治理与标注</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9" name="TextBox 29"/>
            <p:cNvSpPr txBox="1"/>
            <p:nvPr/>
          </p:nvSpPr>
          <p:spPr>
            <a:xfrm>
              <a:off x="3309938" y="2311241"/>
              <a:ext cx="1225858"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行业语料 / 多模态数据</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0" name="TextBox 30"/>
            <p:cNvSpPr txBox="1"/>
            <p:nvPr/>
          </p:nvSpPr>
          <p:spPr>
            <a:xfrm>
              <a:off x="3309938" y="2501741"/>
              <a:ext cx="987076"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合成数据与评测集</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1" name="TextBox 31"/>
            <p:cNvSpPr txBox="1"/>
            <p:nvPr/>
          </p:nvSpPr>
          <p:spPr>
            <a:xfrm>
              <a:off x="3309938" y="2692241"/>
              <a:ext cx="876014"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数据清洗与合规</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2" name="TextBox 32"/>
            <p:cNvSpPr txBox="1"/>
            <p:nvPr/>
          </p:nvSpPr>
          <p:spPr>
            <a:xfrm>
              <a:off x="3309938" y="2977991"/>
              <a:ext cx="242754"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微软雅黑" panose="020B0503020204020204" charset="-122"/>
                  <a:ea typeface="微软雅黑" panose="020B0503020204020204" charset="-122"/>
                  <a:cs typeface="微软雅黑" panose="020B0503020204020204" charset="-122"/>
                </a:rPr>
                <a:t>代表</a:t>
              </a:r>
              <a:endParaRPr lang="zh-CN" sz="820" b="1"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33" name="TextBox 33"/>
            <p:cNvSpPr txBox="1"/>
            <p:nvPr/>
          </p:nvSpPr>
          <p:spPr>
            <a:xfrm>
              <a:off x="3309938" y="3187541"/>
              <a:ext cx="1010575"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Scale AI / 海天瑞声</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4" name="TextBox 34"/>
            <p:cNvSpPr txBox="1"/>
            <p:nvPr/>
          </p:nvSpPr>
          <p:spPr>
            <a:xfrm>
              <a:off x="3309938" y="3378041"/>
              <a:ext cx="1025738"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百度数据 / 曼孚科技</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5" name="TextBox 35"/>
            <p:cNvSpPr txBox="1"/>
            <p:nvPr/>
          </p:nvSpPr>
          <p:spPr>
            <a:xfrm>
              <a:off x="3307080" y="3609975"/>
              <a:ext cx="693725"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$180亿</a:t>
              </a:r>
              <a:endParaRPr lang="zh-CN" sz="1500" b="1" dirty="0">
                <a:solidFill>
                  <a:schemeClr val="accent2"/>
                </a:solidFill>
                <a:latin typeface="+mn-lt"/>
                <a:ea typeface="+mn-ea"/>
                <a:cs typeface="+mn-cs"/>
              </a:endParaRPr>
            </a:p>
          </p:txBody>
        </p:sp>
        <p:sp>
          <p:nvSpPr>
            <p:cNvPr id="36" name="TextBox 36"/>
            <p:cNvSpPr txBox="1"/>
            <p:nvPr/>
          </p:nvSpPr>
          <p:spPr>
            <a:xfrm>
              <a:off x="3309938" y="3873341"/>
              <a:ext cx="953548"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2025 数据服务市场</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7" name="Polygon 37"/>
            <p:cNvSpPr/>
            <p:nvPr/>
          </p:nvSpPr>
          <p:spPr>
            <a:xfrm>
              <a:off x="5191125" y="2743200"/>
              <a:ext cx="323850" cy="190500"/>
            </a:xfrm>
            <a:custGeom>
              <a:avLst/>
              <a:gdLst/>
              <a:ahLst/>
              <a:cxnLst/>
              <a:rect l="l" t="t" r="r" b="b"/>
              <a:pathLst>
                <a:path w="323850" h="190500">
                  <a:moveTo>
                    <a:pt x="0" y="66675"/>
                  </a:moveTo>
                  <a:lnTo>
                    <a:pt x="190500" y="66675"/>
                  </a:lnTo>
                  <a:lnTo>
                    <a:pt x="190500" y="0"/>
                  </a:lnTo>
                  <a:lnTo>
                    <a:pt x="323850" y="95250"/>
                  </a:lnTo>
                  <a:lnTo>
                    <a:pt x="190500" y="190500"/>
                  </a:lnTo>
                  <a:lnTo>
                    <a:pt x="190500" y="123825"/>
                  </a:lnTo>
                  <a:lnTo>
                    <a:pt x="0" y="123825"/>
                  </a:lnTo>
                  <a:close/>
                </a:path>
              </a:pathLst>
            </a:custGeom>
            <a:solidFill>
              <a:schemeClr val="accent2"/>
            </a:solidFill>
            <a:ln>
              <a:noFill/>
            </a:ln>
          </p:spPr>
        </p:sp>
        <p:sp>
          <p:nvSpPr>
            <p:cNvPr id="38" name="Rectangle 38"/>
            <p:cNvSpPr/>
            <p:nvPr/>
          </p:nvSpPr>
          <p:spPr>
            <a:xfrm>
              <a:off x="5562600" y="1428750"/>
              <a:ext cx="1952625" cy="2762250"/>
            </a:xfrm>
            <a:prstGeom prst="roundRect">
              <a:avLst>
                <a:gd name="adj" fmla="val 6829"/>
              </a:avLst>
            </a:prstGeom>
            <a:solidFill>
              <a:schemeClr val="lt2"/>
            </a:solidFill>
            <a:ln>
              <a:noFill/>
            </a:ln>
          </p:spPr>
        </p:sp>
        <p:sp>
          <p:nvSpPr>
            <p:cNvPr id="39" name="Rectangle 39"/>
            <p:cNvSpPr/>
            <p:nvPr/>
          </p:nvSpPr>
          <p:spPr>
            <a:xfrm>
              <a:off x="5562600" y="1428750"/>
              <a:ext cx="1952625" cy="476250"/>
            </a:xfrm>
            <a:prstGeom prst="roundRect">
              <a:avLst>
                <a:gd name="adj" fmla="val 28000"/>
              </a:avLst>
            </a:prstGeom>
            <a:solidFill>
              <a:schemeClr val="accent1"/>
            </a:solidFill>
            <a:ln>
              <a:noFill/>
            </a:ln>
          </p:spPr>
        </p:sp>
        <p:sp>
          <p:nvSpPr>
            <p:cNvPr id="40" name="Rectangle 40"/>
            <p:cNvSpPr/>
            <p:nvPr/>
          </p:nvSpPr>
          <p:spPr>
            <a:xfrm>
              <a:off x="5562600" y="1771650"/>
              <a:ext cx="1952625" cy="133350"/>
            </a:xfrm>
            <a:prstGeom prst="rect">
              <a:avLst/>
            </a:prstGeom>
            <a:solidFill>
              <a:schemeClr val="accent1"/>
            </a:solidFill>
            <a:ln>
              <a:noFill/>
            </a:ln>
          </p:spPr>
        </p:sp>
        <p:sp>
          <p:nvSpPr>
            <p:cNvPr id="41" name="Ellipse 41"/>
            <p:cNvSpPr/>
            <p:nvPr/>
          </p:nvSpPr>
          <p:spPr>
            <a:xfrm>
              <a:off x="5762625" y="1524000"/>
              <a:ext cx="285750" cy="285750"/>
            </a:xfrm>
            <a:prstGeom prst="ellipse">
              <a:avLst/>
            </a:prstGeom>
            <a:solidFill>
              <a:schemeClr val="lt1"/>
            </a:solidFill>
            <a:ln>
              <a:noFill/>
            </a:ln>
          </p:spPr>
        </p:sp>
        <p:sp>
          <p:nvSpPr>
            <p:cNvPr id="42" name="TextBox 42"/>
            <p:cNvSpPr txBox="1"/>
            <p:nvPr/>
          </p:nvSpPr>
          <p:spPr>
            <a:xfrm>
              <a:off x="5859351" y="1610678"/>
              <a:ext cx="92298"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3</a:t>
              </a:r>
              <a:endParaRPr lang="en-US" sz="1050" b="1" dirty="0">
                <a:solidFill>
                  <a:schemeClr val="accent1"/>
                </a:solidFill>
                <a:latin typeface="+mn-lt"/>
                <a:ea typeface="+mn-ea"/>
                <a:cs typeface="+mn-cs"/>
              </a:endParaRPr>
            </a:p>
          </p:txBody>
        </p:sp>
        <p:sp>
          <p:nvSpPr>
            <p:cNvPr id="43" name="TextBox 43"/>
            <p:cNvSpPr txBox="1"/>
            <p:nvPr/>
          </p:nvSpPr>
          <p:spPr>
            <a:xfrm>
              <a:off x="6146673" y="1595914"/>
              <a:ext cx="373399"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微软雅黑" panose="020B0503020204020204" charset="-122"/>
                  <a:ea typeface="微软雅黑" panose="020B0503020204020204" charset="-122"/>
                  <a:cs typeface="微软雅黑" panose="020B0503020204020204" charset="-122"/>
                </a:rPr>
                <a:t>模型</a:t>
              </a:r>
              <a:endParaRPr lang="zh-CN" sz="128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4" name="TextBox 44"/>
            <p:cNvSpPr txBox="1"/>
            <p:nvPr/>
          </p:nvSpPr>
          <p:spPr>
            <a:xfrm>
              <a:off x="5710238" y="2074545"/>
              <a:ext cx="1154468"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基础模型与行业模型</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45" name="TextBox 45"/>
            <p:cNvSpPr txBox="1"/>
            <p:nvPr/>
          </p:nvSpPr>
          <p:spPr>
            <a:xfrm>
              <a:off x="5710238" y="2311241"/>
              <a:ext cx="1031500"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微调 / RAG / 蒸馏</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6" name="TextBox 46"/>
            <p:cNvSpPr txBox="1"/>
            <p:nvPr/>
          </p:nvSpPr>
          <p:spPr>
            <a:xfrm>
              <a:off x="5710238" y="2501741"/>
              <a:ext cx="977960"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MaaS 模型即服务</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7" name="TextBox 47"/>
            <p:cNvSpPr txBox="1"/>
            <p:nvPr/>
          </p:nvSpPr>
          <p:spPr>
            <a:xfrm>
              <a:off x="5710238" y="2692241"/>
              <a:ext cx="953757"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开源 vs 闭源选型</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8" name="TextBox 48"/>
            <p:cNvSpPr txBox="1"/>
            <p:nvPr/>
          </p:nvSpPr>
          <p:spPr>
            <a:xfrm>
              <a:off x="5710238" y="2977991"/>
              <a:ext cx="242754"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微软雅黑" panose="020B0503020204020204" charset="-122"/>
                  <a:ea typeface="微软雅黑" panose="020B0503020204020204" charset="-122"/>
                  <a:cs typeface="微软雅黑" panose="020B0503020204020204" charset="-122"/>
                </a:rPr>
                <a:t>代表</a:t>
              </a:r>
              <a:endParaRPr lang="zh-CN" sz="82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9" name="TextBox 49"/>
            <p:cNvSpPr txBox="1"/>
            <p:nvPr/>
          </p:nvSpPr>
          <p:spPr>
            <a:xfrm>
              <a:off x="5710238" y="3187541"/>
              <a:ext cx="1242936" cy="161925"/>
            </a:xfrm>
            <a:prstGeom prst="rect">
              <a:avLst/>
            </a:prstGeom>
            <a:noFill/>
            <a:ln>
              <a:noFill/>
            </a:ln>
          </p:spPr>
          <p:txBody>
            <a:bodyPr wrap="none" lIns="0" tIns="0" rIns="0" bIns="0" anchor="t" anchorCtr="0">
              <a:spAutoFit/>
            </a:bodyPr>
            <a:lstStyle/>
            <a:p>
              <a:pPr algn="l"/>
              <a:r>
                <a:rPr lang="en-US" sz="820" dirty="0">
                  <a:solidFill>
                    <a:schemeClr val="dk1"/>
                  </a:solidFill>
                  <a:latin typeface="微软雅黑" panose="020B0503020204020204" charset="-122"/>
                  <a:ea typeface="微软雅黑" panose="020B0503020204020204" charset="-122"/>
                  <a:cs typeface="微软雅黑" panose="020B0503020204020204" charset="-122"/>
                </a:rPr>
                <a:t>GPT-5.6 / DeepSeek V4</a:t>
              </a:r>
              <a:endParaRPr lang="en-US"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 name="TextBox 50"/>
            <p:cNvSpPr txBox="1"/>
            <p:nvPr/>
          </p:nvSpPr>
          <p:spPr>
            <a:xfrm>
              <a:off x="5710238" y="3378041"/>
              <a:ext cx="1293543"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Qwen3 / 文心 5.0 / 智谱</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1" name="TextBox 51"/>
            <p:cNvSpPr txBox="1"/>
            <p:nvPr/>
          </p:nvSpPr>
          <p:spPr>
            <a:xfrm>
              <a:off x="5707380" y="3609975"/>
              <a:ext cx="693725"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$420亿</a:t>
              </a:r>
              <a:endParaRPr lang="zh-CN" sz="1500" b="1" dirty="0">
                <a:solidFill>
                  <a:schemeClr val="accent1"/>
                </a:solidFill>
                <a:latin typeface="+mn-lt"/>
                <a:ea typeface="+mn-ea"/>
                <a:cs typeface="+mn-cs"/>
              </a:endParaRPr>
            </a:p>
          </p:txBody>
        </p:sp>
        <p:sp>
          <p:nvSpPr>
            <p:cNvPr id="52" name="TextBox 52"/>
            <p:cNvSpPr txBox="1"/>
            <p:nvPr/>
          </p:nvSpPr>
          <p:spPr>
            <a:xfrm>
              <a:off x="5710238" y="3873341"/>
              <a:ext cx="831799"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2025 MaaS 市场</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3" name="Polygon 53"/>
            <p:cNvSpPr/>
            <p:nvPr/>
          </p:nvSpPr>
          <p:spPr>
            <a:xfrm>
              <a:off x="7591425" y="2743200"/>
              <a:ext cx="323850" cy="190500"/>
            </a:xfrm>
            <a:custGeom>
              <a:avLst/>
              <a:gdLst/>
              <a:ahLst/>
              <a:cxnLst/>
              <a:rect l="l" t="t" r="r" b="b"/>
              <a:pathLst>
                <a:path w="323850" h="190500">
                  <a:moveTo>
                    <a:pt x="0" y="66675"/>
                  </a:moveTo>
                  <a:lnTo>
                    <a:pt x="190500" y="66675"/>
                  </a:lnTo>
                  <a:lnTo>
                    <a:pt x="190500" y="0"/>
                  </a:lnTo>
                  <a:lnTo>
                    <a:pt x="323850" y="95250"/>
                  </a:lnTo>
                  <a:lnTo>
                    <a:pt x="190500" y="190500"/>
                  </a:lnTo>
                  <a:lnTo>
                    <a:pt x="190500" y="123825"/>
                  </a:lnTo>
                  <a:lnTo>
                    <a:pt x="0" y="123825"/>
                  </a:lnTo>
                  <a:close/>
                </a:path>
              </a:pathLst>
            </a:custGeom>
            <a:solidFill>
              <a:schemeClr val="accent2"/>
            </a:solidFill>
            <a:ln>
              <a:noFill/>
            </a:ln>
          </p:spPr>
        </p:sp>
        <p:sp>
          <p:nvSpPr>
            <p:cNvPr id="54" name="Rectangle 54"/>
            <p:cNvSpPr/>
            <p:nvPr/>
          </p:nvSpPr>
          <p:spPr>
            <a:xfrm>
              <a:off x="7962900" y="1428750"/>
              <a:ext cx="1952625" cy="2762250"/>
            </a:xfrm>
            <a:prstGeom prst="roundRect">
              <a:avLst>
                <a:gd name="adj" fmla="val 6829"/>
              </a:avLst>
            </a:prstGeom>
            <a:solidFill>
              <a:schemeClr val="lt2"/>
            </a:solidFill>
            <a:ln>
              <a:noFill/>
            </a:ln>
          </p:spPr>
        </p:sp>
        <p:sp>
          <p:nvSpPr>
            <p:cNvPr id="55" name="Rectangle 55"/>
            <p:cNvSpPr/>
            <p:nvPr/>
          </p:nvSpPr>
          <p:spPr>
            <a:xfrm>
              <a:off x="7962900" y="1428750"/>
              <a:ext cx="1952625" cy="476250"/>
            </a:xfrm>
            <a:prstGeom prst="roundRect">
              <a:avLst>
                <a:gd name="adj" fmla="val 28000"/>
              </a:avLst>
            </a:prstGeom>
            <a:solidFill>
              <a:schemeClr val="accent2"/>
            </a:solidFill>
            <a:ln>
              <a:noFill/>
            </a:ln>
          </p:spPr>
        </p:sp>
        <p:sp>
          <p:nvSpPr>
            <p:cNvPr id="56" name="Rectangle 56"/>
            <p:cNvSpPr/>
            <p:nvPr/>
          </p:nvSpPr>
          <p:spPr>
            <a:xfrm>
              <a:off x="7962900" y="1771650"/>
              <a:ext cx="1952625" cy="133350"/>
            </a:xfrm>
            <a:prstGeom prst="rect">
              <a:avLst/>
            </a:prstGeom>
            <a:solidFill>
              <a:schemeClr val="accent2"/>
            </a:solidFill>
            <a:ln>
              <a:noFill/>
            </a:ln>
          </p:spPr>
        </p:sp>
        <p:sp>
          <p:nvSpPr>
            <p:cNvPr id="57" name="Ellipse 57"/>
            <p:cNvSpPr/>
            <p:nvPr/>
          </p:nvSpPr>
          <p:spPr>
            <a:xfrm>
              <a:off x="8162925" y="1524000"/>
              <a:ext cx="285750" cy="285750"/>
            </a:xfrm>
            <a:prstGeom prst="ellipse">
              <a:avLst/>
            </a:prstGeom>
            <a:solidFill>
              <a:schemeClr val="lt1"/>
            </a:solidFill>
            <a:ln>
              <a:noFill/>
            </a:ln>
          </p:spPr>
        </p:sp>
        <p:sp>
          <p:nvSpPr>
            <p:cNvPr id="58" name="TextBox 58"/>
            <p:cNvSpPr txBox="1"/>
            <p:nvPr/>
          </p:nvSpPr>
          <p:spPr>
            <a:xfrm>
              <a:off x="8259651" y="1610678"/>
              <a:ext cx="92298"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mn-lt"/>
                  <a:ea typeface="+mn-ea"/>
                  <a:cs typeface="+mn-cs"/>
                </a:rPr>
                <a:t>4</a:t>
              </a:r>
              <a:endParaRPr lang="en-US" sz="1050" b="1" dirty="0">
                <a:solidFill>
                  <a:schemeClr val="accent2"/>
                </a:solidFill>
                <a:latin typeface="+mn-lt"/>
                <a:ea typeface="+mn-ea"/>
                <a:cs typeface="+mn-cs"/>
              </a:endParaRPr>
            </a:p>
          </p:txBody>
        </p:sp>
        <p:sp>
          <p:nvSpPr>
            <p:cNvPr id="59" name="TextBox 59"/>
            <p:cNvSpPr txBox="1"/>
            <p:nvPr/>
          </p:nvSpPr>
          <p:spPr>
            <a:xfrm>
              <a:off x="8546973" y="1595914"/>
              <a:ext cx="373399"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微软雅黑" panose="020B0503020204020204" charset="-122"/>
                  <a:ea typeface="微软雅黑" panose="020B0503020204020204" charset="-122"/>
                  <a:cs typeface="微软雅黑" panose="020B0503020204020204" charset="-122"/>
                </a:rPr>
                <a:t>平台</a:t>
              </a:r>
              <a:endParaRPr lang="zh-CN" sz="128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0" name="TextBox 60"/>
            <p:cNvSpPr txBox="1"/>
            <p:nvPr/>
          </p:nvSpPr>
          <p:spPr>
            <a:xfrm>
              <a:off x="8110538" y="2074545"/>
              <a:ext cx="900036"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微软雅黑" panose="020B0503020204020204" charset="-122"/>
                  <a:ea typeface="微软雅黑" panose="020B0503020204020204" charset="-122"/>
                  <a:cs typeface="微软雅黑" panose="020B0503020204020204" charset="-122"/>
                </a:rPr>
                <a:t>开发与运维平台</a:t>
              </a:r>
              <a:endParaRPr lang="zh-CN" sz="9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1" name="TextBox 61"/>
            <p:cNvSpPr txBox="1"/>
            <p:nvPr/>
          </p:nvSpPr>
          <p:spPr>
            <a:xfrm>
              <a:off x="8110538" y="2311241"/>
              <a:ext cx="1131917"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Agent 编排 / 工作流</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2" name="TextBox 62"/>
            <p:cNvSpPr txBox="1"/>
            <p:nvPr/>
          </p:nvSpPr>
          <p:spPr>
            <a:xfrm>
              <a:off x="8110538" y="2501741"/>
              <a:ext cx="876014"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监控评测与安全</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3" name="TextBox 63"/>
            <p:cNvSpPr txBox="1"/>
            <p:nvPr/>
          </p:nvSpPr>
          <p:spPr>
            <a:xfrm>
              <a:off x="8110538" y="2692241"/>
              <a:ext cx="876014" cy="161925"/>
            </a:xfrm>
            <a:prstGeom prst="rect">
              <a:avLst/>
            </a:prstGeom>
            <a:noFill/>
            <a:ln>
              <a:noFill/>
            </a:ln>
          </p:spPr>
          <p:txBody>
            <a:bodyPr wrap="none" lIns="0" tIns="0" rIns="0" bIns="0" anchor="t" anchorCtr="0">
              <a:spAutoFit/>
            </a:bodyPr>
            <a:lstStyle/>
            <a:p>
              <a:pPr marL="88900" indent="-88900" algn="l">
                <a:buClr>
                  <a:schemeClr val="dk2"/>
                </a:buClr>
                <a:buSzTx/>
                <a:buFontTx/>
                <a:buChar char="•"/>
              </a:pPr>
              <a:r>
                <a:rPr lang="zh-CN" sz="820" dirty="0">
                  <a:solidFill>
                    <a:schemeClr val="dk2"/>
                  </a:solidFill>
                  <a:latin typeface="微软雅黑" panose="020B0503020204020204" charset="-122"/>
                  <a:ea typeface="微软雅黑" panose="020B0503020204020204" charset="-122"/>
                  <a:cs typeface="微软雅黑" panose="020B0503020204020204" charset="-122"/>
                </a:rPr>
                <a:t>低代码应用搭建</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4" name="TextBox 64"/>
            <p:cNvSpPr txBox="1"/>
            <p:nvPr/>
          </p:nvSpPr>
          <p:spPr>
            <a:xfrm>
              <a:off x="8110538" y="2977991"/>
              <a:ext cx="242754"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微软雅黑" panose="020B0503020204020204" charset="-122"/>
                  <a:ea typeface="微软雅黑" panose="020B0503020204020204" charset="-122"/>
                  <a:cs typeface="微软雅黑" panose="020B0503020204020204" charset="-122"/>
                </a:rPr>
                <a:t>代表</a:t>
              </a:r>
              <a:endParaRPr lang="zh-CN" sz="820" b="1"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65" name="TextBox 65"/>
            <p:cNvSpPr txBox="1"/>
            <p:nvPr/>
          </p:nvSpPr>
          <p:spPr>
            <a:xfrm>
              <a:off x="8110538" y="3187541"/>
              <a:ext cx="1292489" cy="161925"/>
            </a:xfrm>
            <a:prstGeom prst="rect">
              <a:avLst/>
            </a:prstGeom>
            <a:noFill/>
            <a:ln>
              <a:noFill/>
            </a:ln>
          </p:spPr>
          <p:txBody>
            <a:bodyPr wrap="none" lIns="0" tIns="0" rIns="0" bIns="0" anchor="t" anchorCtr="0">
              <a:spAutoFit/>
            </a:bodyPr>
            <a:lstStyle/>
            <a:p>
              <a:pPr algn="l"/>
              <a:r>
                <a:rPr lang="en-US" sz="820" dirty="0">
                  <a:solidFill>
                    <a:schemeClr val="dk1"/>
                  </a:solidFill>
                  <a:latin typeface="微软雅黑" panose="020B0503020204020204" charset="-122"/>
                  <a:ea typeface="微软雅黑" panose="020B0503020204020204" charset="-122"/>
                  <a:cs typeface="微软雅黑" panose="020B0503020204020204" charset="-122"/>
                </a:rPr>
                <a:t>Dify / Coze / LangGraph</a:t>
              </a:r>
              <a:endParaRPr lang="en-US"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6" name="TextBox 66"/>
            <p:cNvSpPr txBox="1"/>
            <p:nvPr/>
          </p:nvSpPr>
          <p:spPr>
            <a:xfrm>
              <a:off x="8110538" y="3378041"/>
              <a:ext cx="1025738"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百度千帆 / 阿里百炼</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7" name="TextBox 67"/>
            <p:cNvSpPr txBox="1"/>
            <p:nvPr/>
          </p:nvSpPr>
          <p:spPr>
            <a:xfrm>
              <a:off x="8107680" y="3609975"/>
              <a:ext cx="693725"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$260亿</a:t>
              </a:r>
              <a:endParaRPr lang="zh-CN" sz="1500" b="1" dirty="0">
                <a:solidFill>
                  <a:schemeClr val="accent2"/>
                </a:solidFill>
                <a:latin typeface="+mn-lt"/>
                <a:ea typeface="+mn-ea"/>
                <a:cs typeface="+mn-cs"/>
              </a:endParaRPr>
            </a:p>
          </p:txBody>
        </p:sp>
        <p:sp>
          <p:nvSpPr>
            <p:cNvPr id="68" name="TextBox 68"/>
            <p:cNvSpPr txBox="1"/>
            <p:nvPr/>
          </p:nvSpPr>
          <p:spPr>
            <a:xfrm>
              <a:off x="8110538" y="3873341"/>
              <a:ext cx="907237" cy="161925"/>
            </a:xfrm>
            <a:prstGeom prst="rect">
              <a:avLst/>
            </a:prstGeom>
            <a:noFill/>
            <a:ln>
              <a:noFill/>
            </a:ln>
          </p:spPr>
          <p:txBody>
            <a:bodyPr wrap="none" lIns="0" tIns="0" rIns="0" bIns="0" anchor="t" anchorCtr="0">
              <a:spAutoFit/>
            </a:bodyPr>
            <a:lstStyle/>
            <a:p>
              <a:pPr algn="l"/>
              <a:r>
                <a:rPr lang="zh-CN" sz="820" dirty="0">
                  <a:solidFill>
                    <a:schemeClr val="dk2"/>
                  </a:solidFill>
                  <a:latin typeface="微软雅黑" panose="020B0503020204020204" charset="-122"/>
                  <a:ea typeface="微软雅黑" panose="020B0503020204020204" charset="-122"/>
                  <a:cs typeface="微软雅黑" panose="020B0503020204020204" charset="-122"/>
                </a:rPr>
                <a:t>2025 AI 平台市场</a:t>
              </a:r>
              <a:endParaRPr lang="zh-CN" sz="82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69" name="Polygon 69"/>
            <p:cNvSpPr/>
            <p:nvPr/>
          </p:nvSpPr>
          <p:spPr>
            <a:xfrm>
              <a:off x="9991725" y="2743200"/>
              <a:ext cx="323850" cy="190500"/>
            </a:xfrm>
            <a:custGeom>
              <a:avLst/>
              <a:gdLst/>
              <a:ahLst/>
              <a:cxnLst/>
              <a:rect l="l" t="t" r="r" b="b"/>
              <a:pathLst>
                <a:path w="323850" h="190500">
                  <a:moveTo>
                    <a:pt x="0" y="66675"/>
                  </a:moveTo>
                  <a:lnTo>
                    <a:pt x="190500" y="66675"/>
                  </a:lnTo>
                  <a:lnTo>
                    <a:pt x="190500" y="0"/>
                  </a:lnTo>
                  <a:lnTo>
                    <a:pt x="323850" y="95250"/>
                  </a:lnTo>
                  <a:lnTo>
                    <a:pt x="190500" y="190500"/>
                  </a:lnTo>
                  <a:lnTo>
                    <a:pt x="190500" y="123825"/>
                  </a:lnTo>
                  <a:lnTo>
                    <a:pt x="0" y="123825"/>
                  </a:lnTo>
                  <a:close/>
                </a:path>
              </a:pathLst>
            </a:custGeom>
            <a:solidFill>
              <a:schemeClr val="accent2"/>
            </a:solidFill>
            <a:ln>
              <a:noFill/>
            </a:ln>
          </p:spPr>
        </p:sp>
        <p:sp>
          <p:nvSpPr>
            <p:cNvPr id="70" name="Rectangle 70"/>
            <p:cNvSpPr/>
            <p:nvPr/>
          </p:nvSpPr>
          <p:spPr>
            <a:xfrm>
              <a:off x="10363200" y="1428750"/>
              <a:ext cx="1257300" cy="2762250"/>
            </a:xfrm>
            <a:prstGeom prst="roundRect">
              <a:avLst>
                <a:gd name="adj" fmla="val 10606"/>
              </a:avLst>
            </a:prstGeom>
            <a:solidFill>
              <a:schemeClr val="dk1"/>
            </a:solidFill>
            <a:ln>
              <a:noFill/>
            </a:ln>
          </p:spPr>
        </p:sp>
        <p:sp>
          <p:nvSpPr>
            <p:cNvPr id="71" name="Rectangle 71"/>
            <p:cNvSpPr/>
            <p:nvPr/>
          </p:nvSpPr>
          <p:spPr>
            <a:xfrm>
              <a:off x="10363200" y="1428750"/>
              <a:ext cx="1257300" cy="476250"/>
            </a:xfrm>
            <a:prstGeom prst="roundRect">
              <a:avLst>
                <a:gd name="adj" fmla="val 28000"/>
              </a:avLst>
            </a:prstGeom>
            <a:solidFill>
              <a:schemeClr val="accent1"/>
            </a:solidFill>
            <a:ln>
              <a:noFill/>
            </a:ln>
          </p:spPr>
        </p:sp>
        <p:sp>
          <p:nvSpPr>
            <p:cNvPr id="72" name="Rectangle 72"/>
            <p:cNvSpPr/>
            <p:nvPr/>
          </p:nvSpPr>
          <p:spPr>
            <a:xfrm>
              <a:off x="10363200" y="1771650"/>
              <a:ext cx="1257300" cy="133350"/>
            </a:xfrm>
            <a:prstGeom prst="rect">
              <a:avLst/>
            </a:prstGeom>
            <a:solidFill>
              <a:schemeClr val="accent1"/>
            </a:solidFill>
            <a:ln>
              <a:noFill/>
            </a:ln>
          </p:spPr>
        </p:sp>
        <p:sp>
          <p:nvSpPr>
            <p:cNvPr id="73" name="Ellipse 73"/>
            <p:cNvSpPr/>
            <p:nvPr/>
          </p:nvSpPr>
          <p:spPr>
            <a:xfrm>
              <a:off x="10487025" y="1524000"/>
              <a:ext cx="285750" cy="285750"/>
            </a:xfrm>
            <a:prstGeom prst="ellipse">
              <a:avLst/>
            </a:prstGeom>
            <a:solidFill>
              <a:schemeClr val="lt1"/>
            </a:solidFill>
            <a:ln>
              <a:noFill/>
            </a:ln>
          </p:spPr>
        </p:sp>
        <p:sp>
          <p:nvSpPr>
            <p:cNvPr id="74" name="TextBox 74"/>
            <p:cNvSpPr txBox="1"/>
            <p:nvPr/>
          </p:nvSpPr>
          <p:spPr>
            <a:xfrm>
              <a:off x="10583751" y="1610678"/>
              <a:ext cx="92298"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5</a:t>
              </a:r>
              <a:endParaRPr lang="en-US" sz="1050" b="1" dirty="0">
                <a:solidFill>
                  <a:schemeClr val="accent1"/>
                </a:solidFill>
                <a:latin typeface="+mn-lt"/>
                <a:ea typeface="+mn-ea"/>
                <a:cs typeface="+mn-cs"/>
              </a:endParaRPr>
            </a:p>
          </p:txBody>
        </p:sp>
        <p:sp>
          <p:nvSpPr>
            <p:cNvPr id="75" name="TextBox 75"/>
            <p:cNvSpPr txBox="1"/>
            <p:nvPr/>
          </p:nvSpPr>
          <p:spPr>
            <a:xfrm>
              <a:off x="10832973" y="1595914"/>
              <a:ext cx="373399"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微软雅黑" panose="020B0503020204020204" charset="-122"/>
                  <a:ea typeface="微软雅黑" panose="020B0503020204020204" charset="-122"/>
                  <a:cs typeface="微软雅黑" panose="020B0503020204020204" charset="-122"/>
                </a:rPr>
                <a:t>应用</a:t>
              </a:r>
              <a:endParaRPr lang="zh-CN" sz="128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6" name="TextBox 76"/>
            <p:cNvSpPr txBox="1"/>
            <p:nvPr/>
          </p:nvSpPr>
          <p:spPr>
            <a:xfrm>
              <a:off x="10491788" y="2074545"/>
              <a:ext cx="772820" cy="176212"/>
            </a:xfrm>
            <a:prstGeom prst="rect">
              <a:avLst/>
            </a:prstGeom>
            <a:noFill/>
            <a:ln>
              <a:noFill/>
            </a:ln>
          </p:spPr>
          <p:txBody>
            <a:bodyPr wrap="none" lIns="0" tIns="0" rIns="0" bIns="0" anchor="t" anchorCtr="0">
              <a:spAutoFit/>
            </a:bodyPr>
            <a:lstStyle/>
            <a:p>
              <a:pPr algn="l"/>
              <a:r>
                <a:rPr lang="zh-CN" sz="900" b="1" dirty="0">
                  <a:solidFill>
                    <a:srgbClr val="FFFFFF"/>
                  </a:solidFill>
                  <a:latin typeface="微软雅黑" panose="020B0503020204020204" charset="-122"/>
                  <a:ea typeface="微软雅黑" panose="020B0503020204020204" charset="-122"/>
                  <a:cs typeface="微软雅黑" panose="020B0503020204020204" charset="-122"/>
                </a:rPr>
                <a:t>行业解决方案</a:t>
              </a:r>
              <a:endParaRPr lang="zh-CN" sz="9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7" name="TextBox 77"/>
            <p:cNvSpPr txBox="1"/>
            <p:nvPr/>
          </p:nvSpPr>
          <p:spPr>
            <a:xfrm>
              <a:off x="10491788" y="2311241"/>
              <a:ext cx="892673" cy="161925"/>
            </a:xfrm>
            <a:prstGeom prst="rect">
              <a:avLst/>
            </a:prstGeom>
            <a:noFill/>
            <a:ln>
              <a:noFill/>
            </a:ln>
          </p:spPr>
          <p:txBody>
            <a:bodyPr wrap="none" lIns="0" tIns="0" rIns="0" bIns="0" anchor="t" anchorCtr="0">
              <a:spAutoFit/>
            </a:bodyPr>
            <a:lstStyle/>
            <a:p>
              <a:pPr marL="88900" indent="-88900" algn="l">
                <a:buClr>
                  <a:srgbClr val="D6E4F5"/>
                </a:buClr>
                <a:buSzTx/>
                <a:buFontTx/>
                <a:buChar char="•"/>
              </a:pPr>
              <a:r>
                <a:rPr lang="zh-CN" sz="820" dirty="0">
                  <a:solidFill>
                    <a:srgbClr val="D6E4F5"/>
                  </a:solidFill>
                  <a:latin typeface="微软雅黑" panose="020B0503020204020204" charset="-122"/>
                  <a:ea typeface="微软雅黑" panose="020B0503020204020204" charset="-122"/>
                  <a:cs typeface="微软雅黑" panose="020B0503020204020204" charset="-122"/>
                </a:rPr>
                <a:t>智能客服 / 办公</a:t>
              </a:r>
              <a:endParaRPr lang="zh-CN" sz="82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78" name="TextBox 78"/>
            <p:cNvSpPr txBox="1"/>
            <p:nvPr/>
          </p:nvSpPr>
          <p:spPr>
            <a:xfrm>
              <a:off x="10491788" y="2501741"/>
              <a:ext cx="1020394" cy="161925"/>
            </a:xfrm>
            <a:prstGeom prst="rect">
              <a:avLst/>
            </a:prstGeom>
            <a:noFill/>
            <a:ln>
              <a:noFill/>
            </a:ln>
          </p:spPr>
          <p:txBody>
            <a:bodyPr wrap="none" lIns="0" tIns="0" rIns="0" bIns="0" anchor="t" anchorCtr="0">
              <a:spAutoFit/>
            </a:bodyPr>
            <a:lstStyle/>
            <a:p>
              <a:pPr marL="88900" indent="-88900" algn="l">
                <a:buClr>
                  <a:srgbClr val="D6E4F5"/>
                </a:buClr>
                <a:buSzTx/>
                <a:buFontTx/>
                <a:buChar char="•"/>
              </a:pPr>
              <a:r>
                <a:rPr lang="zh-CN" sz="820" dirty="0">
                  <a:solidFill>
                    <a:srgbClr val="D6E4F5"/>
                  </a:solidFill>
                  <a:latin typeface="微软雅黑" panose="020B0503020204020204" charset="-122"/>
                  <a:ea typeface="微软雅黑" panose="020B0503020204020204" charset="-122"/>
                  <a:cs typeface="微软雅黑" panose="020B0503020204020204" charset="-122"/>
                </a:rPr>
                <a:t>研发 / 营销 / 分析</a:t>
              </a:r>
              <a:endParaRPr lang="zh-CN" sz="82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79" name="TextBox 79"/>
            <p:cNvSpPr txBox="1"/>
            <p:nvPr/>
          </p:nvSpPr>
          <p:spPr>
            <a:xfrm>
              <a:off x="10491788" y="2692241"/>
              <a:ext cx="653891" cy="161925"/>
            </a:xfrm>
            <a:prstGeom prst="rect">
              <a:avLst/>
            </a:prstGeom>
            <a:noFill/>
            <a:ln>
              <a:noFill/>
            </a:ln>
          </p:spPr>
          <p:txBody>
            <a:bodyPr wrap="none" lIns="0" tIns="0" rIns="0" bIns="0" anchor="t" anchorCtr="0">
              <a:spAutoFit/>
            </a:bodyPr>
            <a:lstStyle/>
            <a:p>
              <a:pPr marL="88900" indent="-88900" algn="l">
                <a:buClr>
                  <a:srgbClr val="D6E4F5"/>
                </a:buClr>
                <a:buSzTx/>
                <a:buFontTx/>
                <a:buChar char="•"/>
              </a:pPr>
              <a:r>
                <a:rPr lang="zh-CN" sz="820" dirty="0">
                  <a:solidFill>
                    <a:srgbClr val="D6E4F5"/>
                  </a:solidFill>
                  <a:latin typeface="微软雅黑" panose="020B0503020204020204" charset="-122"/>
                  <a:ea typeface="微软雅黑" panose="020B0503020204020204" charset="-122"/>
                  <a:cs typeface="微软雅黑" panose="020B0503020204020204" charset="-122"/>
                </a:rPr>
                <a:t>智能体员工</a:t>
              </a:r>
              <a:endParaRPr lang="zh-CN" sz="820" dirty="0">
                <a:solidFill>
                  <a:srgbClr val="D6E4F5"/>
                </a:solidFill>
                <a:latin typeface="微软雅黑" panose="020B0503020204020204" charset="-122"/>
                <a:ea typeface="微软雅黑" panose="020B0503020204020204" charset="-122"/>
                <a:cs typeface="微软雅黑" panose="020B0503020204020204" charset="-122"/>
              </a:endParaRPr>
            </a:p>
          </p:txBody>
        </p:sp>
        <p:sp>
          <p:nvSpPr>
            <p:cNvPr id="80" name="TextBox 80"/>
            <p:cNvSpPr txBox="1"/>
            <p:nvPr/>
          </p:nvSpPr>
          <p:spPr>
            <a:xfrm>
              <a:off x="10491788" y="2977991"/>
              <a:ext cx="242754" cy="161925"/>
            </a:xfrm>
            <a:prstGeom prst="rect">
              <a:avLst/>
            </a:prstGeom>
            <a:noFill/>
            <a:ln>
              <a:noFill/>
            </a:ln>
          </p:spPr>
          <p:txBody>
            <a:bodyPr wrap="none" lIns="0" tIns="0" rIns="0" bIns="0" anchor="t" anchorCtr="0">
              <a:spAutoFit/>
            </a:bodyPr>
            <a:lstStyle/>
            <a:p>
              <a:pPr algn="l"/>
              <a:r>
                <a:rPr lang="zh-CN" sz="820" b="1" dirty="0">
                  <a:solidFill>
                    <a:schemeClr val="accent3"/>
                  </a:solidFill>
                  <a:latin typeface="微软雅黑" panose="020B0503020204020204" charset="-122"/>
                  <a:ea typeface="微软雅黑" panose="020B0503020204020204" charset="-122"/>
                  <a:cs typeface="微软雅黑" panose="020B0503020204020204" charset="-122"/>
                </a:rPr>
                <a:t>代表</a:t>
              </a:r>
              <a:endParaRPr lang="zh-CN" sz="820" b="1" dirty="0">
                <a:solidFill>
                  <a:schemeClr val="accent3"/>
                </a:solidFill>
                <a:latin typeface="微软雅黑" panose="020B0503020204020204" charset="-122"/>
                <a:ea typeface="微软雅黑" panose="020B0503020204020204" charset="-122"/>
                <a:cs typeface="微软雅黑" panose="020B0503020204020204" charset="-122"/>
              </a:endParaRPr>
            </a:p>
          </p:txBody>
        </p:sp>
        <p:sp>
          <p:nvSpPr>
            <p:cNvPr id="81" name="TextBox 81"/>
            <p:cNvSpPr txBox="1"/>
            <p:nvPr/>
          </p:nvSpPr>
          <p:spPr>
            <a:xfrm>
              <a:off x="10491788" y="3187541"/>
              <a:ext cx="642097" cy="161925"/>
            </a:xfrm>
            <a:prstGeom prst="rect">
              <a:avLst/>
            </a:prstGeom>
            <a:noFill/>
            <a:ln>
              <a:noFill/>
            </a:ln>
          </p:spPr>
          <p:txBody>
            <a:bodyPr wrap="none" lIns="0" tIns="0" rIns="0" bIns="0" anchor="t" anchorCtr="0">
              <a:spAutoFit/>
            </a:bodyPr>
            <a:lstStyle/>
            <a:p>
              <a:pPr algn="l"/>
              <a:r>
                <a:rPr lang="zh-CN" sz="820" dirty="0">
                  <a:solidFill>
                    <a:srgbClr val="FFFFFF"/>
                  </a:solidFill>
                  <a:latin typeface="微软雅黑" panose="020B0503020204020204" charset="-122"/>
                  <a:ea typeface="微软雅黑" panose="020B0503020204020204" charset="-122"/>
                  <a:cs typeface="微软雅黑" panose="020B0503020204020204" charset="-122"/>
                </a:rPr>
                <a:t>微软 Copilot</a:t>
              </a:r>
              <a:endParaRPr lang="zh-CN" sz="82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2" name="TextBox 82"/>
            <p:cNvSpPr txBox="1"/>
            <p:nvPr/>
          </p:nvSpPr>
          <p:spPr>
            <a:xfrm>
              <a:off x="10491788" y="3378041"/>
              <a:ext cx="748817" cy="161925"/>
            </a:xfrm>
            <a:prstGeom prst="rect">
              <a:avLst/>
            </a:prstGeom>
            <a:noFill/>
            <a:ln>
              <a:noFill/>
            </a:ln>
          </p:spPr>
          <p:txBody>
            <a:bodyPr wrap="none" lIns="0" tIns="0" rIns="0" bIns="0" anchor="t" anchorCtr="0">
              <a:spAutoFit/>
            </a:bodyPr>
            <a:lstStyle/>
            <a:p>
              <a:pPr algn="l"/>
              <a:r>
                <a:rPr lang="zh-CN" sz="820" dirty="0">
                  <a:solidFill>
                    <a:srgbClr val="FFFFFF"/>
                  </a:solidFill>
                  <a:latin typeface="微软雅黑" panose="020B0503020204020204" charset="-122"/>
                  <a:ea typeface="微软雅黑" panose="020B0503020204020204" charset="-122"/>
                  <a:cs typeface="微软雅黑" panose="020B0503020204020204" charset="-122"/>
                </a:rPr>
                <a:t>钉钉 / 飞书 AI</a:t>
              </a:r>
              <a:endParaRPr lang="zh-CN" sz="82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3" name="TextBox 83"/>
            <p:cNvSpPr txBox="1"/>
            <p:nvPr/>
          </p:nvSpPr>
          <p:spPr>
            <a:xfrm>
              <a:off x="10488930" y="3609975"/>
              <a:ext cx="926954"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$1,370亿</a:t>
              </a:r>
              <a:endParaRPr lang="zh-CN" sz="1500" b="1" dirty="0">
                <a:solidFill>
                  <a:srgbClr val="FFFFFF"/>
                </a:solidFill>
                <a:latin typeface="+mn-lt"/>
                <a:ea typeface="+mn-ea"/>
                <a:cs typeface="+mn-cs"/>
              </a:endParaRPr>
            </a:p>
          </p:txBody>
        </p:sp>
        <p:sp>
          <p:nvSpPr>
            <p:cNvPr id="84" name="TextBox 84"/>
            <p:cNvSpPr txBox="1"/>
            <p:nvPr/>
          </p:nvSpPr>
          <p:spPr>
            <a:xfrm>
              <a:off x="10491788" y="3873341"/>
              <a:ext cx="907237" cy="161925"/>
            </a:xfrm>
            <a:prstGeom prst="rect">
              <a:avLst/>
            </a:prstGeom>
            <a:noFill/>
            <a:ln>
              <a:noFill/>
            </a:ln>
          </p:spPr>
          <p:txBody>
            <a:bodyPr wrap="none" lIns="0" tIns="0" rIns="0" bIns="0" anchor="t" anchorCtr="0">
              <a:spAutoFit/>
            </a:bodyPr>
            <a:lstStyle/>
            <a:p>
              <a:pPr algn="l"/>
              <a:r>
                <a:rPr lang="zh-CN" sz="820" dirty="0">
                  <a:solidFill>
                    <a:srgbClr val="D6E4F5"/>
                  </a:solidFill>
                  <a:latin typeface="微软雅黑" panose="020B0503020204020204" charset="-122"/>
                  <a:ea typeface="微软雅黑" panose="020B0503020204020204" charset="-122"/>
                  <a:cs typeface="微软雅黑" panose="020B0503020204020204" charset="-122"/>
                </a:rPr>
                <a:t>2025 AI 应用市场</a:t>
              </a:r>
              <a:endParaRPr lang="zh-CN" sz="820" dirty="0">
                <a:solidFill>
                  <a:srgbClr val="D6E4F5"/>
                </a:solidFill>
                <a:latin typeface="微软雅黑" panose="020B0503020204020204" charset="-122"/>
                <a:ea typeface="微软雅黑" panose="020B0503020204020204" charset="-122"/>
                <a:cs typeface="微软雅黑" panose="020B0503020204020204" charset="-122"/>
              </a:endParaRPr>
            </a:p>
          </p:txBody>
        </p:sp>
      </p:grpSp>
      <p:grpSp>
        <p:nvGrpSpPr>
          <p:cNvPr id="92" name="Group 92"/>
          <p:cNvGrpSpPr/>
          <p:nvPr/>
        </p:nvGrpSpPr>
        <p:grpSpPr>
          <a:xfrm>
            <a:off x="571500" y="4381500"/>
            <a:ext cx="11049000" cy="993457"/>
            <a:chOff x="571500" y="4381500"/>
            <a:chExt cx="11049000" cy="993457"/>
          </a:xfrm>
        </p:grpSpPr>
        <p:sp>
          <p:nvSpPr>
            <p:cNvPr id="86" name="Rectangle 86"/>
            <p:cNvSpPr/>
            <p:nvPr/>
          </p:nvSpPr>
          <p:spPr>
            <a:xfrm>
              <a:off x="571500" y="4381500"/>
              <a:ext cx="11049000" cy="952500"/>
            </a:xfrm>
            <a:prstGeom prst="roundRect">
              <a:avLst>
                <a:gd name="adj" fmla="val 12000"/>
              </a:avLst>
            </a:prstGeom>
            <a:solidFill>
              <a:schemeClr val="lt2"/>
            </a:solidFill>
            <a:ln>
              <a:noFill/>
            </a:ln>
          </p:spPr>
        </p:sp>
        <p:sp>
          <p:nvSpPr>
            <p:cNvPr id="87" name="Rectangle 87"/>
            <p:cNvSpPr/>
            <p:nvPr/>
          </p:nvSpPr>
          <p:spPr>
            <a:xfrm>
              <a:off x="571500" y="4381500"/>
              <a:ext cx="76200" cy="952500"/>
            </a:xfrm>
            <a:prstGeom prst="roundRect">
              <a:avLst>
                <a:gd name="adj" fmla="val 50000"/>
              </a:avLst>
            </a:prstGeom>
            <a:solidFill>
              <a:schemeClr val="accent1"/>
            </a:solidFill>
            <a:ln>
              <a:noFill/>
            </a:ln>
          </p:spPr>
        </p:sp>
        <p:sp>
          <p:nvSpPr>
            <p:cNvPr id="88" name="TextBox 88"/>
            <p:cNvSpPr txBox="1"/>
            <p:nvPr/>
          </p:nvSpPr>
          <p:spPr>
            <a:xfrm>
              <a:off x="832866" y="4534852"/>
              <a:ext cx="3718107"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微软雅黑" panose="020B0503020204020204" charset="-122"/>
                  <a:ea typeface="微软雅黑" panose="020B0503020204020204" charset="-122"/>
                  <a:cs typeface="微软雅黑" panose="020B0503020204020204" charset="-122"/>
                </a:rPr>
                <a:t>服务形态演进:卖算力 -&gt; 卖模型 -&gt; 卖 Agent -&gt; 卖结果</a:t>
              </a:r>
              <a:endParaRPr lang="zh-CN" sz="10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89" name="TextBox 89"/>
            <p:cNvSpPr txBox="1"/>
            <p:nvPr/>
          </p:nvSpPr>
          <p:spPr>
            <a:xfrm>
              <a:off x="833438" y="4798695"/>
              <a:ext cx="4674337" cy="176212"/>
            </a:xfrm>
            <a:prstGeom prst="rect">
              <a:avLst/>
            </a:prstGeom>
            <a:noFill/>
            <a:ln>
              <a:noFill/>
            </a:ln>
          </p:spPr>
          <p:txBody>
            <a:bodyPr wrap="none" lIns="0" tIns="0" rIns="0" bIns="0" anchor="t" anchorCtr="0">
              <a:spAutoFit/>
            </a:bodyPr>
            <a:lstStyle/>
            <a:p>
              <a:pPr marL="97155" indent="-97155" algn="l">
                <a:buClr>
                  <a:schemeClr val="dk1"/>
                </a:buClr>
                <a:buSzTx/>
                <a:buFontTx/>
                <a:buChar char="•"/>
              </a:pPr>
              <a:r>
                <a:rPr lang="zh-CN" sz="900" dirty="0">
                  <a:solidFill>
                    <a:schemeClr val="dk1"/>
                  </a:solidFill>
                  <a:latin typeface="微软雅黑" panose="020B0503020204020204" charset="-122"/>
                  <a:ea typeface="微软雅黑" panose="020B0503020204020204" charset="-122"/>
                  <a:cs typeface="微软雅黑" panose="020B0503020204020204" charset="-122"/>
                </a:rPr>
                <a:t>颗粒度从资源走向业务成果,客户按“结果/调用/订阅”付费,而非按“卡时/token”付费</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90" name="TextBox 90"/>
            <p:cNvSpPr txBox="1"/>
            <p:nvPr/>
          </p:nvSpPr>
          <p:spPr>
            <a:xfrm>
              <a:off x="833438" y="5008245"/>
              <a:ext cx="4728858" cy="176212"/>
            </a:xfrm>
            <a:prstGeom prst="rect">
              <a:avLst/>
            </a:prstGeom>
            <a:noFill/>
            <a:ln>
              <a:noFill/>
            </a:ln>
          </p:spPr>
          <p:txBody>
            <a:bodyPr wrap="none" lIns="0" tIns="0" rIns="0" bIns="0" anchor="t" anchorCtr="0">
              <a:spAutoFit/>
            </a:bodyPr>
            <a:lstStyle/>
            <a:p>
              <a:pPr marL="97155" indent="-97155" algn="l">
                <a:buClr>
                  <a:schemeClr val="dk1"/>
                </a:buClr>
                <a:buSzTx/>
                <a:buFontTx/>
                <a:buChar char="•"/>
              </a:pPr>
              <a:r>
                <a:rPr lang="zh-CN" sz="900" dirty="0">
                  <a:solidFill>
                    <a:schemeClr val="dk1"/>
                  </a:solidFill>
                  <a:latin typeface="微软雅黑" panose="020B0503020204020204" charset="-122"/>
                  <a:ea typeface="微软雅黑" panose="020B0503020204020204" charset="-122"/>
                  <a:cs typeface="微软雅黑" panose="020B0503020204020204" charset="-122"/>
                </a:rPr>
                <a:t>行业大模型 + 算力 + 数据 + 标注的一体化交付成为政企采购主流,组合套餐占比超 60%</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91" name="TextBox 91"/>
            <p:cNvSpPr txBox="1"/>
            <p:nvPr/>
          </p:nvSpPr>
          <p:spPr>
            <a:xfrm>
              <a:off x="833438" y="5198745"/>
              <a:ext cx="3869207" cy="176212"/>
            </a:xfrm>
            <a:prstGeom prst="rect">
              <a:avLst/>
            </a:prstGeom>
            <a:noFill/>
            <a:ln>
              <a:noFill/>
            </a:ln>
          </p:spPr>
          <p:txBody>
            <a:bodyPr wrap="none" lIns="0" tIns="0" rIns="0" bIns="0" anchor="t" anchorCtr="0">
              <a:spAutoFit/>
            </a:bodyPr>
            <a:lstStyle/>
            <a:p>
              <a:pPr marL="97155" indent="-97155" algn="l">
                <a:buClr>
                  <a:schemeClr val="dk2"/>
                </a:buClr>
                <a:buSzTx/>
                <a:buFontTx/>
                <a:buChar char="•"/>
              </a:pPr>
              <a:r>
                <a:rPr lang="zh-CN" sz="900" dirty="0">
                  <a:solidFill>
                    <a:schemeClr val="dk2"/>
                  </a:solidFill>
                  <a:latin typeface="微软雅黑" panose="020B0503020204020204" charset="-122"/>
                  <a:ea typeface="微软雅黑" panose="020B0503020204020204" charset="-122"/>
                  <a:cs typeface="微软雅黑" panose="020B0503020204020204" charset="-122"/>
                </a:rPr>
                <a:t>MaaS 市场预计 2030 年超 $5,000 亿,年均增速超 40%(中国信通院)</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grpSp>
      <p:grpSp>
        <p:nvGrpSpPr>
          <p:cNvPr id="97" name="Group 97"/>
          <p:cNvGrpSpPr/>
          <p:nvPr/>
        </p:nvGrpSpPr>
        <p:grpSpPr>
          <a:xfrm>
            <a:off x="571500" y="5524500"/>
            <a:ext cx="11049000" cy="809339"/>
            <a:chOff x="571500" y="5524500"/>
            <a:chExt cx="11049000" cy="809339"/>
          </a:xfrm>
        </p:grpSpPr>
        <p:sp>
          <p:nvSpPr>
            <p:cNvPr id="93" name="Rectangle 93"/>
            <p:cNvSpPr/>
            <p:nvPr/>
          </p:nvSpPr>
          <p:spPr>
            <a:xfrm>
              <a:off x="571500" y="5524500"/>
              <a:ext cx="11049000" cy="781050"/>
            </a:xfrm>
            <a:prstGeom prst="roundRect">
              <a:avLst>
                <a:gd name="adj" fmla="val 14634"/>
              </a:avLst>
            </a:prstGeom>
            <a:solidFill>
              <a:schemeClr val="accent1"/>
            </a:solidFill>
            <a:ln>
              <a:noFill/>
            </a:ln>
          </p:spPr>
        </p:sp>
        <p:sp>
          <p:nvSpPr>
            <p:cNvPr id="94" name="TextBox 94"/>
            <p:cNvSpPr txBox="1"/>
            <p:nvPr/>
          </p:nvSpPr>
          <p:spPr>
            <a:xfrm>
              <a:off x="832866" y="5696902"/>
              <a:ext cx="752761"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微软雅黑" panose="020B0503020204020204" charset="-122"/>
                  <a:ea typeface="微软雅黑" panose="020B0503020204020204" charset="-122"/>
                  <a:cs typeface="微软雅黑" panose="020B0503020204020204" charset="-122"/>
                </a:rPr>
                <a:t>一体化趋势</a:t>
              </a:r>
              <a:endParaRPr lang="zh-CN" sz="105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5" name="TextBox 95"/>
            <p:cNvSpPr txBox="1"/>
            <p:nvPr/>
          </p:nvSpPr>
          <p:spPr>
            <a:xfrm>
              <a:off x="833247" y="5971699"/>
              <a:ext cx="5002530" cy="190690"/>
            </a:xfrm>
            <a:prstGeom prst="rect">
              <a:avLst/>
            </a:prstGeom>
            <a:noFill/>
            <a:ln>
              <a:noFill/>
            </a:ln>
          </p:spPr>
          <p:txBody>
            <a:bodyPr wrap="none" lIns="0" tIns="0" rIns="0" bIns="0" anchor="t" anchorCtr="0">
              <a:spAutoFit/>
            </a:bodyPr>
            <a:lstStyle/>
            <a:p>
              <a:pPr algn="l"/>
              <a:r>
                <a:rPr lang="zh-CN" sz="980" dirty="0">
                  <a:solidFill>
                    <a:srgbClr val="FFFFFF"/>
                  </a:solidFill>
                  <a:latin typeface="微软雅黑" panose="020B0503020204020204" charset="-122"/>
                  <a:ea typeface="微软雅黑" panose="020B0503020204020204" charset="-122"/>
                  <a:cs typeface="微软雅黑" panose="020B0503020204020204" charset="-122"/>
                </a:rPr>
                <a:t>客户要的不是单点工具,而是从算力到应用、能直接产出业务价值的一站式 AI 服务</a:t>
              </a:r>
              <a:endParaRPr lang="zh-CN" sz="98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6" name="TextBox 96"/>
            <p:cNvSpPr txBox="1"/>
            <p:nvPr/>
          </p:nvSpPr>
          <p:spPr>
            <a:xfrm>
              <a:off x="833247" y="6143149"/>
              <a:ext cx="5214147" cy="190690"/>
            </a:xfrm>
            <a:prstGeom prst="rect">
              <a:avLst/>
            </a:prstGeom>
            <a:noFill/>
            <a:ln>
              <a:noFill/>
            </a:ln>
          </p:spPr>
          <p:txBody>
            <a:bodyPr wrap="none" lIns="0" tIns="0" rIns="0" bIns="0" anchor="t" anchorCtr="0">
              <a:spAutoFit/>
            </a:bodyPr>
            <a:lstStyle/>
            <a:p>
              <a:pPr algn="l"/>
              <a:r>
                <a:rPr lang="zh-CN" sz="980" dirty="0">
                  <a:solidFill>
                    <a:srgbClr val="D6E4F5"/>
                  </a:solidFill>
                  <a:latin typeface="微软雅黑" panose="020B0503020204020204" charset="-122"/>
                  <a:ea typeface="微软雅黑" panose="020B0503020204020204" charset="-122"/>
                  <a:cs typeface="微软雅黑" panose="020B0503020204020204" charset="-122"/>
                </a:rPr>
                <a:t>头部厂商向“全栈一体化”收敛:自研芯片 + 基础模型 + 平台 + 行业应用,生态壁垒持续加深</a:t>
              </a:r>
              <a:endParaRPr lang="zh-CN" sz="980" dirty="0">
                <a:solidFill>
                  <a:srgbClr val="D6E4F5"/>
                </a:solidFill>
                <a:latin typeface="微软雅黑" panose="020B0503020204020204" charset="-122"/>
                <a:ea typeface="微软雅黑" panose="020B0503020204020204" charset="-122"/>
                <a:cs typeface="微软雅黑" panose="020B0503020204020204" charset="-122"/>
              </a:endParaRPr>
            </a:p>
          </p:txBody>
        </p:sp>
      </p:grpSp>
      <p:sp>
        <p:nvSpPr>
          <p:cNvPr id="99" name="TextBox 99"/>
          <p:cNvSpPr txBox="1"/>
          <p:nvPr/>
        </p:nvSpPr>
        <p:spPr>
          <a:xfrm>
            <a:off x="11243681" y="6654641"/>
            <a:ext cx="381581"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06 / 07</a:t>
            </a:r>
            <a:endParaRPr lang="en-US" sz="820" dirty="0">
              <a:solidFill>
                <a:schemeClr val="accent5"/>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solidFill>
            <a:schemeClr val="accent1"/>
          </a:solidFill>
          <a:ln>
            <a:noFill/>
          </a:ln>
        </p:spPr>
      </p:sp>
      <p:sp>
        <p:nvSpPr>
          <p:cNvPr id="3" name="Rectangle 3"/>
          <p:cNvSpPr/>
          <p:nvPr/>
        </p:nvSpPr>
        <p:spPr>
          <a:xfrm>
            <a:off x="571500" y="476250"/>
            <a:ext cx="57150" cy="361950"/>
          </a:xfrm>
          <a:prstGeom prst="roundRect">
            <a:avLst>
              <a:gd name="adj" fmla="val 50000"/>
            </a:avLst>
          </a:prstGeom>
          <a:solidFill>
            <a:schemeClr val="accent1"/>
          </a:solidFill>
          <a:ln>
            <a:noFill/>
          </a:ln>
        </p:spPr>
      </p:sp>
      <p:sp>
        <p:nvSpPr>
          <p:cNvPr id="4" name="TextBox 4"/>
          <p:cNvSpPr txBox="1"/>
          <p:nvPr/>
        </p:nvSpPr>
        <p:spPr>
          <a:xfrm>
            <a:off x="751332" y="535305"/>
            <a:ext cx="2396033"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微软雅黑" panose="020B0503020204020204" charset="-122"/>
                <a:ea typeface="微软雅黑" panose="020B0503020204020204" charset="-122"/>
                <a:cs typeface="微软雅黑" panose="020B0503020204020204" charset="-122"/>
              </a:rPr>
              <a:t>场景应用开发需求</a:t>
            </a:r>
            <a:endParaRPr lang="zh-CN" sz="21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nvSpPr>
        <p:spPr>
          <a:xfrm>
            <a:off x="756666" y="896302"/>
            <a:ext cx="5483352" cy="205359"/>
          </a:xfrm>
          <a:prstGeom prst="rect">
            <a:avLst/>
          </a:prstGeom>
          <a:noFill/>
          <a:ln>
            <a:noFill/>
          </a:ln>
        </p:spPr>
        <p:txBody>
          <a:bodyPr wrap="none" lIns="0" tIns="0" rIns="0" bIns="0" anchor="t" anchorCtr="0">
            <a:spAutoFit/>
          </a:bodyPr>
          <a:lstStyle/>
          <a:p>
            <a:pPr algn="l"/>
            <a:r>
              <a:rPr lang="zh-CN" sz="1050" dirty="0">
                <a:solidFill>
                  <a:schemeClr val="dk2"/>
                </a:solidFill>
                <a:latin typeface="微软雅黑" panose="020B0503020204020204" charset="-122"/>
                <a:ea typeface="微软雅黑" panose="020B0503020204020204" charset="-122"/>
                <a:cs typeface="微软雅黑" panose="020B0503020204020204" charset="-122"/>
              </a:rPr>
              <a:t>AI 应用开发走向低代码与 Agent 化,开发周期从“月级”压缩到“天级”,闭环迭代成核心</a:t>
            </a:r>
            <a:endParaRPr lang="zh-CN" sz="1050" dirty="0">
              <a:solidFill>
                <a:schemeClr val="dk2"/>
              </a:solidFill>
              <a:latin typeface="微软雅黑" panose="020B0503020204020204" charset="-122"/>
              <a:ea typeface="微软雅黑" panose="020B0503020204020204" charset="-122"/>
              <a:cs typeface="微软雅黑" panose="020B0503020204020204" charset="-122"/>
            </a:endParaRPr>
          </a:p>
        </p:txBody>
      </p:sp>
      <p:grpSp>
        <p:nvGrpSpPr>
          <p:cNvPr id="73" name="Group 73"/>
          <p:cNvGrpSpPr/>
          <p:nvPr/>
        </p:nvGrpSpPr>
        <p:grpSpPr>
          <a:xfrm>
            <a:off x="571500" y="1314450"/>
            <a:ext cx="10695099" cy="3035300"/>
            <a:chOff x="571500" y="1314450"/>
            <a:chExt cx="10695099" cy="3035300"/>
          </a:xfrm>
        </p:grpSpPr>
        <p:sp>
          <p:nvSpPr>
            <p:cNvPr id="6" name="Rectangle 6"/>
            <p:cNvSpPr/>
            <p:nvPr/>
          </p:nvSpPr>
          <p:spPr>
            <a:xfrm>
              <a:off x="571500" y="1314450"/>
              <a:ext cx="1695450" cy="1714500"/>
            </a:xfrm>
            <a:prstGeom prst="roundRect">
              <a:avLst>
                <a:gd name="adj" fmla="val 7865"/>
              </a:avLst>
            </a:prstGeom>
            <a:solidFill>
              <a:schemeClr val="lt2"/>
            </a:solidFill>
            <a:ln>
              <a:noFill/>
            </a:ln>
          </p:spPr>
        </p:sp>
        <p:sp>
          <p:nvSpPr>
            <p:cNvPr id="7" name="Rectangle 7"/>
            <p:cNvSpPr/>
            <p:nvPr/>
          </p:nvSpPr>
          <p:spPr>
            <a:xfrm>
              <a:off x="571500" y="1314450"/>
              <a:ext cx="1695450" cy="76200"/>
            </a:xfrm>
            <a:prstGeom prst="roundRect">
              <a:avLst>
                <a:gd name="adj" fmla="val 50000"/>
              </a:avLst>
            </a:prstGeom>
            <a:solidFill>
              <a:schemeClr val="accent1"/>
            </a:solidFill>
            <a:ln>
              <a:noFill/>
            </a:ln>
          </p:spPr>
        </p:sp>
        <p:sp>
          <p:nvSpPr>
            <p:cNvPr id="8" name="Ellipse 8"/>
            <p:cNvSpPr/>
            <p:nvPr/>
          </p:nvSpPr>
          <p:spPr>
            <a:xfrm>
              <a:off x="733425" y="1552575"/>
              <a:ext cx="285750" cy="285750"/>
            </a:xfrm>
            <a:prstGeom prst="ellipse">
              <a:avLst/>
            </a:prstGeom>
            <a:solidFill>
              <a:schemeClr val="accent1"/>
            </a:solidFill>
            <a:ln>
              <a:noFill/>
            </a:ln>
          </p:spPr>
        </p:sp>
        <p:sp>
          <p:nvSpPr>
            <p:cNvPr id="9" name="TextBox 9"/>
            <p:cNvSpPr txBox="1"/>
            <p:nvPr/>
          </p:nvSpPr>
          <p:spPr>
            <a:xfrm>
              <a:off x="830151" y="163925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1</a:t>
              </a:r>
              <a:endParaRPr lang="en-US" sz="1050" b="1" dirty="0">
                <a:solidFill>
                  <a:srgbClr val="FFFFFF"/>
                </a:solidFill>
                <a:latin typeface="+mn-lt"/>
                <a:ea typeface="+mn-ea"/>
                <a:cs typeface="+mn-cs"/>
              </a:endParaRPr>
            </a:p>
          </p:txBody>
        </p:sp>
        <p:sp>
          <p:nvSpPr>
            <p:cNvPr id="10" name="TextBox 10"/>
            <p:cNvSpPr txBox="1"/>
            <p:nvPr/>
          </p:nvSpPr>
          <p:spPr>
            <a:xfrm>
              <a:off x="1099185" y="1631156"/>
              <a:ext cx="647510"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微软雅黑" panose="020B0503020204020204" charset="-122"/>
                  <a:ea typeface="微软雅黑" panose="020B0503020204020204" charset="-122"/>
                  <a:cs typeface="微软雅黑" panose="020B0503020204020204" charset="-122"/>
                </a:rPr>
                <a:t>需求洞察</a:t>
              </a:r>
              <a:endParaRPr lang="zh-CN" sz="112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1" name="TextBox 11"/>
            <p:cNvSpPr txBox="1"/>
            <p:nvPr/>
          </p:nvSpPr>
          <p:spPr>
            <a:xfrm>
              <a:off x="719138" y="194929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输入</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nvSpPr>
          <p:spPr>
            <a:xfrm>
              <a:off x="719138" y="2120741"/>
              <a:ext cx="778154"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业务痛点 / KPI</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3" name="TextBox 13"/>
            <p:cNvSpPr txBox="1"/>
            <p:nvPr/>
          </p:nvSpPr>
          <p:spPr>
            <a:xfrm>
              <a:off x="719138" y="234934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工具</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14" name="TextBox 14"/>
            <p:cNvSpPr txBox="1"/>
            <p:nvPr/>
          </p:nvSpPr>
          <p:spPr>
            <a:xfrm>
              <a:off x="719138" y="2520791"/>
              <a:ext cx="914676"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价值评估 / 场景筛</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5" name="TextBox 15"/>
            <p:cNvSpPr txBox="1"/>
            <p:nvPr/>
          </p:nvSpPr>
          <p:spPr>
            <a:xfrm>
              <a:off x="719138" y="2749391"/>
              <a:ext cx="773350"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微软雅黑" panose="020B0503020204020204" charset="-122"/>
                  <a:ea typeface="微软雅黑" panose="020B0503020204020204" charset="-122"/>
                  <a:cs typeface="微软雅黑" panose="020B0503020204020204" charset="-122"/>
                </a:rPr>
                <a:t>输出:场景清单</a:t>
              </a:r>
              <a:endParaRPr lang="zh-CN" sz="82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6" name="Polygon 16"/>
            <p:cNvSpPr/>
            <p:nvPr/>
          </p:nvSpPr>
          <p:spPr>
            <a:xfrm>
              <a:off x="2314575" y="2105025"/>
              <a:ext cx="285750" cy="190500"/>
            </a:xfrm>
            <a:custGeom>
              <a:avLst/>
              <a:gdLst/>
              <a:ahLst/>
              <a:cxnLst/>
              <a:rect l="l" t="t" r="r" b="b"/>
              <a:pathLst>
                <a:path w="285750" h="190500">
                  <a:moveTo>
                    <a:pt x="0" y="66675"/>
                  </a:moveTo>
                  <a:lnTo>
                    <a:pt x="152400" y="66675"/>
                  </a:lnTo>
                  <a:lnTo>
                    <a:pt x="152400" y="0"/>
                  </a:lnTo>
                  <a:lnTo>
                    <a:pt x="285750" y="95250"/>
                  </a:lnTo>
                  <a:lnTo>
                    <a:pt x="152400" y="190500"/>
                  </a:lnTo>
                  <a:lnTo>
                    <a:pt x="152400" y="123825"/>
                  </a:lnTo>
                  <a:lnTo>
                    <a:pt x="0" y="123825"/>
                  </a:lnTo>
                  <a:close/>
                </a:path>
              </a:pathLst>
            </a:custGeom>
            <a:solidFill>
              <a:schemeClr val="accent2"/>
            </a:solidFill>
            <a:ln>
              <a:noFill/>
            </a:ln>
          </p:spPr>
        </p:sp>
        <p:sp>
          <p:nvSpPr>
            <p:cNvPr id="17" name="Rectangle 17"/>
            <p:cNvSpPr/>
            <p:nvPr/>
          </p:nvSpPr>
          <p:spPr>
            <a:xfrm>
              <a:off x="2647950" y="1314450"/>
              <a:ext cx="1695450" cy="1714500"/>
            </a:xfrm>
            <a:prstGeom prst="roundRect">
              <a:avLst>
                <a:gd name="adj" fmla="val 7865"/>
              </a:avLst>
            </a:prstGeom>
            <a:solidFill>
              <a:schemeClr val="lt2"/>
            </a:solidFill>
            <a:ln>
              <a:noFill/>
            </a:ln>
          </p:spPr>
        </p:sp>
        <p:sp>
          <p:nvSpPr>
            <p:cNvPr id="18" name="Rectangle 18"/>
            <p:cNvSpPr/>
            <p:nvPr/>
          </p:nvSpPr>
          <p:spPr>
            <a:xfrm>
              <a:off x="2647950" y="1314450"/>
              <a:ext cx="1695450" cy="76200"/>
            </a:xfrm>
            <a:prstGeom prst="roundRect">
              <a:avLst>
                <a:gd name="adj" fmla="val 50000"/>
              </a:avLst>
            </a:prstGeom>
            <a:solidFill>
              <a:schemeClr val="accent2"/>
            </a:solidFill>
            <a:ln>
              <a:noFill/>
            </a:ln>
          </p:spPr>
        </p:sp>
        <p:sp>
          <p:nvSpPr>
            <p:cNvPr id="19" name="Ellipse 19"/>
            <p:cNvSpPr/>
            <p:nvPr/>
          </p:nvSpPr>
          <p:spPr>
            <a:xfrm>
              <a:off x="2809875" y="1552575"/>
              <a:ext cx="285750" cy="285750"/>
            </a:xfrm>
            <a:prstGeom prst="ellipse">
              <a:avLst/>
            </a:prstGeom>
            <a:solidFill>
              <a:schemeClr val="accent2"/>
            </a:solidFill>
            <a:ln>
              <a:noFill/>
            </a:ln>
          </p:spPr>
        </p:sp>
        <p:sp>
          <p:nvSpPr>
            <p:cNvPr id="20" name="TextBox 20"/>
            <p:cNvSpPr txBox="1"/>
            <p:nvPr/>
          </p:nvSpPr>
          <p:spPr>
            <a:xfrm>
              <a:off x="2906601" y="163925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2</a:t>
              </a:r>
              <a:endParaRPr lang="en-US" sz="1050" b="1" dirty="0">
                <a:solidFill>
                  <a:srgbClr val="FFFFFF"/>
                </a:solidFill>
                <a:latin typeface="+mn-lt"/>
                <a:ea typeface="+mn-ea"/>
                <a:cs typeface="+mn-cs"/>
              </a:endParaRPr>
            </a:p>
          </p:txBody>
        </p:sp>
        <p:sp>
          <p:nvSpPr>
            <p:cNvPr id="21" name="TextBox 21"/>
            <p:cNvSpPr txBox="1"/>
            <p:nvPr/>
          </p:nvSpPr>
          <p:spPr>
            <a:xfrm>
              <a:off x="3175635" y="1631156"/>
              <a:ext cx="647510"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微软雅黑" panose="020B0503020204020204" charset="-122"/>
                  <a:ea typeface="微软雅黑" panose="020B0503020204020204" charset="-122"/>
                  <a:cs typeface="微软雅黑" panose="020B0503020204020204" charset="-122"/>
                </a:rPr>
                <a:t>数据准备</a:t>
              </a:r>
              <a:endParaRPr lang="zh-CN" sz="112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2" name="TextBox 22"/>
            <p:cNvSpPr txBox="1"/>
            <p:nvPr/>
          </p:nvSpPr>
          <p:spPr>
            <a:xfrm>
              <a:off x="2795588" y="194929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输入</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3" name="TextBox 23"/>
            <p:cNvSpPr txBox="1"/>
            <p:nvPr/>
          </p:nvSpPr>
          <p:spPr>
            <a:xfrm>
              <a:off x="2795588" y="2120741"/>
              <a:ext cx="914676"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业务数据 / 知识库</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4" name="TextBox 24"/>
            <p:cNvSpPr txBox="1"/>
            <p:nvPr/>
          </p:nvSpPr>
          <p:spPr>
            <a:xfrm>
              <a:off x="2795588" y="234934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工具</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25" name="TextBox 25"/>
            <p:cNvSpPr txBox="1"/>
            <p:nvPr/>
          </p:nvSpPr>
          <p:spPr>
            <a:xfrm>
              <a:off x="2795588" y="2520791"/>
              <a:ext cx="931335"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采集 / 标注 / 治理</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6" name="TextBox 26"/>
            <p:cNvSpPr txBox="1"/>
            <p:nvPr/>
          </p:nvSpPr>
          <p:spPr>
            <a:xfrm>
              <a:off x="2795588" y="2749391"/>
              <a:ext cx="656736"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微软雅黑" panose="020B0503020204020204" charset="-122"/>
                  <a:ea typeface="微软雅黑" panose="020B0503020204020204" charset="-122"/>
                  <a:cs typeface="微软雅黑" panose="020B0503020204020204" charset="-122"/>
                </a:rPr>
                <a:t>输出:评测集</a:t>
              </a:r>
              <a:endParaRPr lang="zh-CN" sz="820" b="1"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7" name="Polygon 27"/>
            <p:cNvSpPr/>
            <p:nvPr/>
          </p:nvSpPr>
          <p:spPr>
            <a:xfrm>
              <a:off x="4391025" y="2105025"/>
              <a:ext cx="285750" cy="190500"/>
            </a:xfrm>
            <a:custGeom>
              <a:avLst/>
              <a:gdLst/>
              <a:ahLst/>
              <a:cxnLst/>
              <a:rect l="l" t="t" r="r" b="b"/>
              <a:pathLst>
                <a:path w="285750" h="190500">
                  <a:moveTo>
                    <a:pt x="0" y="66675"/>
                  </a:moveTo>
                  <a:lnTo>
                    <a:pt x="152400" y="66675"/>
                  </a:lnTo>
                  <a:lnTo>
                    <a:pt x="152400" y="0"/>
                  </a:lnTo>
                  <a:lnTo>
                    <a:pt x="285750" y="95250"/>
                  </a:lnTo>
                  <a:lnTo>
                    <a:pt x="152400" y="190500"/>
                  </a:lnTo>
                  <a:lnTo>
                    <a:pt x="152400" y="123825"/>
                  </a:lnTo>
                  <a:lnTo>
                    <a:pt x="0" y="123825"/>
                  </a:lnTo>
                  <a:close/>
                </a:path>
              </a:pathLst>
            </a:custGeom>
            <a:solidFill>
              <a:schemeClr val="accent2"/>
            </a:solidFill>
            <a:ln>
              <a:noFill/>
            </a:ln>
          </p:spPr>
        </p:sp>
        <p:sp>
          <p:nvSpPr>
            <p:cNvPr id="28" name="Rectangle 28"/>
            <p:cNvSpPr/>
            <p:nvPr/>
          </p:nvSpPr>
          <p:spPr>
            <a:xfrm>
              <a:off x="4724400" y="1314450"/>
              <a:ext cx="1695450" cy="1714500"/>
            </a:xfrm>
            <a:prstGeom prst="roundRect">
              <a:avLst>
                <a:gd name="adj" fmla="val 7865"/>
              </a:avLst>
            </a:prstGeom>
            <a:solidFill>
              <a:schemeClr val="lt2"/>
            </a:solidFill>
            <a:ln>
              <a:noFill/>
            </a:ln>
          </p:spPr>
        </p:sp>
        <p:sp>
          <p:nvSpPr>
            <p:cNvPr id="29" name="Rectangle 29"/>
            <p:cNvSpPr/>
            <p:nvPr/>
          </p:nvSpPr>
          <p:spPr>
            <a:xfrm>
              <a:off x="4724400" y="1314450"/>
              <a:ext cx="1695450" cy="76200"/>
            </a:xfrm>
            <a:prstGeom prst="roundRect">
              <a:avLst>
                <a:gd name="adj" fmla="val 50000"/>
              </a:avLst>
            </a:prstGeom>
            <a:solidFill>
              <a:schemeClr val="accent1"/>
            </a:solidFill>
            <a:ln>
              <a:noFill/>
            </a:ln>
          </p:spPr>
        </p:sp>
        <p:sp>
          <p:nvSpPr>
            <p:cNvPr id="30" name="Ellipse 30"/>
            <p:cNvSpPr/>
            <p:nvPr/>
          </p:nvSpPr>
          <p:spPr>
            <a:xfrm>
              <a:off x="4886325" y="1552575"/>
              <a:ext cx="285750" cy="285750"/>
            </a:xfrm>
            <a:prstGeom prst="ellipse">
              <a:avLst/>
            </a:prstGeom>
            <a:solidFill>
              <a:schemeClr val="accent1"/>
            </a:solidFill>
            <a:ln>
              <a:noFill/>
            </a:ln>
          </p:spPr>
        </p:sp>
        <p:sp>
          <p:nvSpPr>
            <p:cNvPr id="31" name="TextBox 31"/>
            <p:cNvSpPr txBox="1"/>
            <p:nvPr/>
          </p:nvSpPr>
          <p:spPr>
            <a:xfrm>
              <a:off x="4983051" y="163925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3</a:t>
              </a:r>
              <a:endParaRPr lang="en-US" sz="1050" b="1" dirty="0">
                <a:solidFill>
                  <a:srgbClr val="FFFFFF"/>
                </a:solidFill>
                <a:latin typeface="+mn-lt"/>
                <a:ea typeface="+mn-ea"/>
                <a:cs typeface="+mn-cs"/>
              </a:endParaRPr>
            </a:p>
          </p:txBody>
        </p:sp>
        <p:sp>
          <p:nvSpPr>
            <p:cNvPr id="32" name="TextBox 32"/>
            <p:cNvSpPr txBox="1"/>
            <p:nvPr/>
          </p:nvSpPr>
          <p:spPr>
            <a:xfrm>
              <a:off x="5252085" y="1631156"/>
              <a:ext cx="647510"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微软雅黑" panose="020B0503020204020204" charset="-122"/>
                  <a:ea typeface="微软雅黑" panose="020B0503020204020204" charset="-122"/>
                  <a:cs typeface="微软雅黑" panose="020B0503020204020204" charset="-122"/>
                </a:rPr>
                <a:t>模型选型</a:t>
              </a:r>
              <a:endParaRPr lang="zh-CN" sz="112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3" name="TextBox 33"/>
            <p:cNvSpPr txBox="1"/>
            <p:nvPr/>
          </p:nvSpPr>
          <p:spPr>
            <a:xfrm>
              <a:off x="4872038" y="194929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输入</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4" name="TextBox 34"/>
            <p:cNvSpPr txBox="1"/>
            <p:nvPr/>
          </p:nvSpPr>
          <p:spPr>
            <a:xfrm>
              <a:off x="4872038" y="2120741"/>
              <a:ext cx="931335"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成本 / 精度 / 延迟</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5" name="TextBox 35"/>
            <p:cNvSpPr txBox="1"/>
            <p:nvPr/>
          </p:nvSpPr>
          <p:spPr>
            <a:xfrm>
              <a:off x="4872038" y="234934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工具</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6" name="TextBox 36"/>
            <p:cNvSpPr txBox="1"/>
            <p:nvPr/>
          </p:nvSpPr>
          <p:spPr>
            <a:xfrm>
              <a:off x="4872038" y="2520791"/>
              <a:ext cx="1042187"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基础模型对比 / RAG</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7" name="TextBox 37"/>
            <p:cNvSpPr txBox="1"/>
            <p:nvPr/>
          </p:nvSpPr>
          <p:spPr>
            <a:xfrm>
              <a:off x="4872038" y="2749391"/>
              <a:ext cx="773350"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微软雅黑" panose="020B0503020204020204" charset="-122"/>
                  <a:ea typeface="微软雅黑" panose="020B0503020204020204" charset="-122"/>
                  <a:cs typeface="微软雅黑" panose="020B0503020204020204" charset="-122"/>
                </a:rPr>
                <a:t>输出:模型方案</a:t>
              </a:r>
              <a:endParaRPr lang="zh-CN" sz="82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8" name="Polygon 38"/>
            <p:cNvSpPr/>
            <p:nvPr/>
          </p:nvSpPr>
          <p:spPr>
            <a:xfrm>
              <a:off x="6467475" y="2105025"/>
              <a:ext cx="285750" cy="190500"/>
            </a:xfrm>
            <a:custGeom>
              <a:avLst/>
              <a:gdLst/>
              <a:ahLst/>
              <a:cxnLst/>
              <a:rect l="l" t="t" r="r" b="b"/>
              <a:pathLst>
                <a:path w="285750" h="190500">
                  <a:moveTo>
                    <a:pt x="0" y="66675"/>
                  </a:moveTo>
                  <a:lnTo>
                    <a:pt x="152400" y="66675"/>
                  </a:lnTo>
                  <a:lnTo>
                    <a:pt x="152400" y="0"/>
                  </a:lnTo>
                  <a:lnTo>
                    <a:pt x="285750" y="95250"/>
                  </a:lnTo>
                  <a:lnTo>
                    <a:pt x="152400" y="190500"/>
                  </a:lnTo>
                  <a:lnTo>
                    <a:pt x="152400" y="123825"/>
                  </a:lnTo>
                  <a:lnTo>
                    <a:pt x="0" y="123825"/>
                  </a:lnTo>
                  <a:close/>
                </a:path>
              </a:pathLst>
            </a:custGeom>
            <a:solidFill>
              <a:schemeClr val="accent2"/>
            </a:solidFill>
            <a:ln>
              <a:noFill/>
            </a:ln>
          </p:spPr>
        </p:sp>
        <p:sp>
          <p:nvSpPr>
            <p:cNvPr id="39" name="Rectangle 39"/>
            <p:cNvSpPr/>
            <p:nvPr/>
          </p:nvSpPr>
          <p:spPr>
            <a:xfrm>
              <a:off x="6800850" y="1314450"/>
              <a:ext cx="1695450" cy="1714500"/>
            </a:xfrm>
            <a:prstGeom prst="roundRect">
              <a:avLst>
                <a:gd name="adj" fmla="val 7865"/>
              </a:avLst>
            </a:prstGeom>
            <a:solidFill>
              <a:schemeClr val="lt2"/>
            </a:solidFill>
            <a:ln>
              <a:noFill/>
            </a:ln>
          </p:spPr>
        </p:sp>
        <p:sp>
          <p:nvSpPr>
            <p:cNvPr id="40" name="Rectangle 40"/>
            <p:cNvSpPr/>
            <p:nvPr/>
          </p:nvSpPr>
          <p:spPr>
            <a:xfrm>
              <a:off x="6800850" y="1314450"/>
              <a:ext cx="1695450" cy="76200"/>
            </a:xfrm>
            <a:prstGeom prst="roundRect">
              <a:avLst>
                <a:gd name="adj" fmla="val 50000"/>
              </a:avLst>
            </a:prstGeom>
            <a:solidFill>
              <a:schemeClr val="accent2"/>
            </a:solidFill>
            <a:ln>
              <a:noFill/>
            </a:ln>
          </p:spPr>
        </p:sp>
        <p:sp>
          <p:nvSpPr>
            <p:cNvPr id="41" name="Ellipse 41"/>
            <p:cNvSpPr/>
            <p:nvPr/>
          </p:nvSpPr>
          <p:spPr>
            <a:xfrm>
              <a:off x="6962775" y="1552575"/>
              <a:ext cx="285750" cy="285750"/>
            </a:xfrm>
            <a:prstGeom prst="ellipse">
              <a:avLst/>
            </a:prstGeom>
            <a:solidFill>
              <a:schemeClr val="accent2"/>
            </a:solidFill>
            <a:ln>
              <a:noFill/>
            </a:ln>
          </p:spPr>
        </p:sp>
        <p:sp>
          <p:nvSpPr>
            <p:cNvPr id="42" name="TextBox 42"/>
            <p:cNvSpPr txBox="1"/>
            <p:nvPr/>
          </p:nvSpPr>
          <p:spPr>
            <a:xfrm>
              <a:off x="7059501" y="163925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4</a:t>
              </a:r>
              <a:endParaRPr lang="en-US" sz="1050" b="1" dirty="0">
                <a:solidFill>
                  <a:srgbClr val="FFFFFF"/>
                </a:solidFill>
                <a:latin typeface="+mn-lt"/>
                <a:ea typeface="+mn-ea"/>
                <a:cs typeface="+mn-cs"/>
              </a:endParaRPr>
            </a:p>
          </p:txBody>
        </p:sp>
        <p:sp>
          <p:nvSpPr>
            <p:cNvPr id="43" name="TextBox 43"/>
            <p:cNvSpPr txBox="1"/>
            <p:nvPr/>
          </p:nvSpPr>
          <p:spPr>
            <a:xfrm>
              <a:off x="7328535" y="1631156"/>
              <a:ext cx="647510" cy="220028"/>
            </a:xfrm>
            <a:prstGeom prst="rect">
              <a:avLst/>
            </a:prstGeom>
            <a:noFill/>
            <a:ln>
              <a:noFill/>
            </a:ln>
          </p:spPr>
          <p:txBody>
            <a:bodyPr wrap="none" lIns="0" tIns="0" rIns="0" bIns="0" anchor="t" anchorCtr="0">
              <a:spAutoFit/>
            </a:bodyPr>
            <a:lstStyle/>
            <a:p>
              <a:pPr algn="l"/>
              <a:r>
                <a:rPr lang="zh-CN" sz="1120" b="1" dirty="0">
                  <a:solidFill>
                    <a:schemeClr val="dk1"/>
                  </a:solidFill>
                  <a:latin typeface="微软雅黑" panose="020B0503020204020204" charset="-122"/>
                  <a:ea typeface="微软雅黑" panose="020B0503020204020204" charset="-122"/>
                  <a:cs typeface="微软雅黑" panose="020B0503020204020204" charset="-122"/>
                </a:rPr>
                <a:t>开发集成</a:t>
              </a:r>
              <a:endParaRPr lang="zh-CN" sz="112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44" name="TextBox 44"/>
            <p:cNvSpPr txBox="1"/>
            <p:nvPr/>
          </p:nvSpPr>
          <p:spPr>
            <a:xfrm>
              <a:off x="6948488" y="194929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输入</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5" name="TextBox 45"/>
            <p:cNvSpPr txBox="1"/>
            <p:nvPr/>
          </p:nvSpPr>
          <p:spPr>
            <a:xfrm>
              <a:off x="6948488" y="2120741"/>
              <a:ext cx="877481"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Agent 编排 / API</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46" name="TextBox 46"/>
            <p:cNvSpPr txBox="1"/>
            <p:nvPr/>
          </p:nvSpPr>
          <p:spPr>
            <a:xfrm>
              <a:off x="6948488" y="234934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工具</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47" name="TextBox 47"/>
            <p:cNvSpPr txBox="1"/>
            <p:nvPr/>
          </p:nvSpPr>
          <p:spPr>
            <a:xfrm>
              <a:off x="6948488" y="2520791"/>
              <a:ext cx="961275"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Dify / Coze / 代码</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48" name="TextBox 48"/>
            <p:cNvSpPr txBox="1"/>
            <p:nvPr/>
          </p:nvSpPr>
          <p:spPr>
            <a:xfrm>
              <a:off x="6948488" y="2749391"/>
              <a:ext cx="889965"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微软雅黑" panose="020B0503020204020204" charset="-122"/>
                  <a:ea typeface="微软雅黑" panose="020B0503020204020204" charset="-122"/>
                  <a:cs typeface="微软雅黑" panose="020B0503020204020204" charset="-122"/>
                </a:rPr>
                <a:t>输出:可运行应用</a:t>
              </a:r>
              <a:endParaRPr lang="zh-CN" sz="820" b="1"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49" name="Polygon 49"/>
            <p:cNvSpPr/>
            <p:nvPr/>
          </p:nvSpPr>
          <p:spPr>
            <a:xfrm>
              <a:off x="8543925" y="2105025"/>
              <a:ext cx="285750" cy="190500"/>
            </a:xfrm>
            <a:custGeom>
              <a:avLst/>
              <a:gdLst/>
              <a:ahLst/>
              <a:cxnLst/>
              <a:rect l="l" t="t" r="r" b="b"/>
              <a:pathLst>
                <a:path w="285750" h="190500">
                  <a:moveTo>
                    <a:pt x="0" y="66675"/>
                  </a:moveTo>
                  <a:lnTo>
                    <a:pt x="152400" y="66675"/>
                  </a:lnTo>
                  <a:lnTo>
                    <a:pt x="152400" y="0"/>
                  </a:lnTo>
                  <a:lnTo>
                    <a:pt x="285750" y="95250"/>
                  </a:lnTo>
                  <a:lnTo>
                    <a:pt x="152400" y="190500"/>
                  </a:lnTo>
                  <a:lnTo>
                    <a:pt x="152400" y="123825"/>
                  </a:lnTo>
                  <a:lnTo>
                    <a:pt x="0" y="123825"/>
                  </a:lnTo>
                  <a:close/>
                </a:path>
              </a:pathLst>
            </a:custGeom>
            <a:solidFill>
              <a:schemeClr val="accent2"/>
            </a:solidFill>
            <a:ln>
              <a:noFill/>
            </a:ln>
          </p:spPr>
        </p:sp>
        <p:sp>
          <p:nvSpPr>
            <p:cNvPr id="50" name="Rectangle 50"/>
            <p:cNvSpPr/>
            <p:nvPr/>
          </p:nvSpPr>
          <p:spPr>
            <a:xfrm>
              <a:off x="8877300" y="1314450"/>
              <a:ext cx="1695450" cy="1714500"/>
            </a:xfrm>
            <a:prstGeom prst="roundRect">
              <a:avLst>
                <a:gd name="adj" fmla="val 7865"/>
              </a:avLst>
            </a:prstGeom>
            <a:solidFill>
              <a:schemeClr val="lt2"/>
            </a:solidFill>
            <a:ln>
              <a:noFill/>
            </a:ln>
          </p:spPr>
        </p:sp>
        <p:sp>
          <p:nvSpPr>
            <p:cNvPr id="51" name="Rectangle 51"/>
            <p:cNvSpPr/>
            <p:nvPr/>
          </p:nvSpPr>
          <p:spPr>
            <a:xfrm>
              <a:off x="8877300" y="1314450"/>
              <a:ext cx="1695450" cy="76200"/>
            </a:xfrm>
            <a:prstGeom prst="roundRect">
              <a:avLst>
                <a:gd name="adj" fmla="val 50000"/>
              </a:avLst>
            </a:prstGeom>
            <a:solidFill>
              <a:schemeClr val="accent1"/>
            </a:solidFill>
            <a:ln>
              <a:noFill/>
            </a:ln>
          </p:spPr>
        </p:sp>
        <p:sp>
          <p:nvSpPr>
            <p:cNvPr id="52" name="Ellipse 52"/>
            <p:cNvSpPr/>
            <p:nvPr/>
          </p:nvSpPr>
          <p:spPr>
            <a:xfrm>
              <a:off x="9039225" y="1552575"/>
              <a:ext cx="285750" cy="285750"/>
            </a:xfrm>
            <a:prstGeom prst="ellipse">
              <a:avLst/>
            </a:prstGeom>
            <a:solidFill>
              <a:schemeClr val="accent1"/>
            </a:solidFill>
            <a:ln>
              <a:noFill/>
            </a:ln>
          </p:spPr>
        </p:sp>
        <p:sp>
          <p:nvSpPr>
            <p:cNvPr id="53" name="TextBox 53"/>
            <p:cNvSpPr txBox="1"/>
            <p:nvPr/>
          </p:nvSpPr>
          <p:spPr>
            <a:xfrm>
              <a:off x="9135951" y="163925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5</a:t>
              </a:r>
              <a:endParaRPr lang="en-US" sz="1050" b="1" dirty="0">
                <a:solidFill>
                  <a:srgbClr val="FFFFFF"/>
                </a:solidFill>
                <a:latin typeface="+mn-lt"/>
                <a:ea typeface="+mn-ea"/>
                <a:cs typeface="+mn-cs"/>
              </a:endParaRPr>
            </a:p>
          </p:txBody>
        </p:sp>
        <p:sp>
          <p:nvSpPr>
            <p:cNvPr id="54" name="TextBox 54"/>
            <p:cNvSpPr txBox="1"/>
            <p:nvPr/>
          </p:nvSpPr>
          <p:spPr>
            <a:xfrm>
              <a:off x="9404985" y="1631156"/>
              <a:ext cx="1137920" cy="171450"/>
            </a:xfrm>
            <a:prstGeom prst="rect">
              <a:avLst/>
            </a:prstGeom>
            <a:noFill/>
            <a:ln>
              <a:noFill/>
            </a:ln>
          </p:spPr>
          <p:txBody>
            <a:bodyPr wrap="none" lIns="0" tIns="0" rIns="0" bIns="0" anchor="t" anchorCtr="0">
              <a:spAutoFit/>
            </a:bodyPr>
            <a:lstStyle/>
            <a:p>
              <a:pPr algn="l"/>
              <a:r>
                <a:rPr lang="zh-CN" sz="1120" b="1" dirty="0">
                  <a:solidFill>
                    <a:schemeClr val="dk1"/>
                  </a:solidFill>
                  <a:latin typeface="微软雅黑" panose="020B0503020204020204" charset="-122"/>
                  <a:ea typeface="微软雅黑" panose="020B0503020204020204" charset="-122"/>
                  <a:cs typeface="微软雅黑" panose="020B0503020204020204" charset="-122"/>
                </a:rPr>
                <a:t>部署运维持续</a:t>
              </a:r>
              <a:r>
                <a:rPr lang="zh-CN" sz="1120" b="1" dirty="0">
                  <a:solidFill>
                    <a:schemeClr val="dk1"/>
                  </a:solidFill>
                  <a:latin typeface="微软雅黑" panose="020B0503020204020204" charset="-122"/>
                  <a:ea typeface="微软雅黑" panose="020B0503020204020204" charset="-122"/>
                  <a:cs typeface="微软雅黑" panose="020B0503020204020204" charset="-122"/>
                </a:rPr>
                <a:t>迭代</a:t>
              </a:r>
              <a:endParaRPr lang="zh-CN" sz="112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5" name="TextBox 55"/>
            <p:cNvSpPr txBox="1"/>
            <p:nvPr/>
          </p:nvSpPr>
          <p:spPr>
            <a:xfrm>
              <a:off x="9024938" y="194929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输入</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6" name="TextBox 56"/>
            <p:cNvSpPr txBox="1"/>
            <p:nvPr/>
          </p:nvSpPr>
          <p:spPr>
            <a:xfrm>
              <a:off x="9024938" y="2120741"/>
              <a:ext cx="931335"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灰度 / 监控 / 安全</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7" name="TextBox 57"/>
            <p:cNvSpPr txBox="1"/>
            <p:nvPr/>
          </p:nvSpPr>
          <p:spPr>
            <a:xfrm>
              <a:off x="9024938" y="2349341"/>
              <a:ext cx="242754" cy="161925"/>
            </a:xfrm>
            <a:prstGeom prst="rect">
              <a:avLst/>
            </a:prstGeom>
            <a:noFill/>
            <a:ln>
              <a:noFill/>
            </a:ln>
          </p:spPr>
          <p:txBody>
            <a:bodyPr wrap="none" lIns="0" tIns="0" rIns="0" bIns="0" anchor="t" anchorCtr="0">
              <a:spAutoFit/>
            </a:bodyPr>
            <a:lstStyle/>
            <a:p>
              <a:pPr algn="l"/>
              <a:r>
                <a:rPr lang="zh-CN" sz="820" b="1" dirty="0">
                  <a:solidFill>
                    <a:schemeClr val="dk2"/>
                  </a:solidFill>
                  <a:latin typeface="微软雅黑" panose="020B0503020204020204" charset="-122"/>
                  <a:ea typeface="微软雅黑" panose="020B0503020204020204" charset="-122"/>
                  <a:cs typeface="微软雅黑" panose="020B0503020204020204" charset="-122"/>
                </a:rPr>
                <a:t>工具</a:t>
              </a:r>
              <a:endParaRPr lang="zh-CN" sz="820" b="1"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58" name="TextBox 58"/>
            <p:cNvSpPr txBox="1"/>
            <p:nvPr/>
          </p:nvSpPr>
          <p:spPr>
            <a:xfrm>
              <a:off x="9024938" y="2520791"/>
              <a:ext cx="931335" cy="161925"/>
            </a:xfrm>
            <a:prstGeom prst="rect">
              <a:avLst/>
            </a:prstGeom>
            <a:noFill/>
            <a:ln>
              <a:noFill/>
            </a:ln>
          </p:spPr>
          <p:txBody>
            <a:bodyPr wrap="none" lIns="0" tIns="0" rIns="0" bIns="0" anchor="t" anchorCtr="0">
              <a:spAutoFit/>
            </a:bodyPr>
            <a:lstStyle/>
            <a:p>
              <a:pPr algn="l"/>
              <a:r>
                <a:rPr lang="zh-CN" sz="820" dirty="0">
                  <a:solidFill>
                    <a:schemeClr val="dk1"/>
                  </a:solidFill>
                  <a:latin typeface="微软雅黑" panose="020B0503020204020204" charset="-122"/>
                  <a:ea typeface="微软雅黑" panose="020B0503020204020204" charset="-122"/>
                  <a:cs typeface="微软雅黑" panose="020B0503020204020204" charset="-122"/>
                </a:rPr>
                <a:t>网关 / 评测 / 护栏</a:t>
              </a:r>
              <a:endParaRPr lang="zh-CN" sz="82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9" name="TextBox 59"/>
            <p:cNvSpPr txBox="1"/>
            <p:nvPr/>
          </p:nvSpPr>
          <p:spPr>
            <a:xfrm>
              <a:off x="9024938" y="2749391"/>
              <a:ext cx="773350"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微软雅黑" panose="020B0503020204020204" charset="-122"/>
                  <a:ea typeface="微软雅黑" panose="020B0503020204020204" charset="-122"/>
                  <a:cs typeface="微软雅黑" panose="020B0503020204020204" charset="-122"/>
                </a:rPr>
                <a:t>输出:线上服务</a:t>
              </a:r>
              <a:endParaRPr lang="zh-CN" sz="82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4" name="TextBox 64"/>
            <p:cNvSpPr txBox="1"/>
            <p:nvPr/>
          </p:nvSpPr>
          <p:spPr>
            <a:xfrm>
              <a:off x="11174301" y="163925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6</a:t>
              </a:r>
              <a:endParaRPr lang="en-US" sz="1050" b="1" dirty="0">
                <a:solidFill>
                  <a:srgbClr val="FFFFFF"/>
                </a:solidFill>
                <a:latin typeface="+mn-lt"/>
                <a:ea typeface="+mn-ea"/>
                <a:cs typeface="+mn-cs"/>
              </a:endParaRPr>
            </a:p>
          </p:txBody>
        </p:sp>
        <p:sp>
          <p:nvSpPr>
            <p:cNvPr id="70" name="Freeform 70"/>
            <p:cNvSpPr/>
            <p:nvPr/>
          </p:nvSpPr>
          <p:spPr>
            <a:xfrm>
              <a:off x="977900" y="3048000"/>
              <a:ext cx="9595485" cy="1301750"/>
            </a:xfrm>
            <a:custGeom>
              <a:avLst/>
              <a:gdLst/>
              <a:ahLst/>
              <a:cxnLst/>
              <a:rect l="l" t="t" r="r" b="b"/>
              <a:pathLst>
                <a:path w="10721975" h="1301750">
                  <a:moveTo>
                    <a:pt x="10309225" y="0"/>
                  </a:moveTo>
                  <a:cubicBezTo>
                    <a:pt x="10721975" y="381000"/>
                    <a:pt x="10721975" y="730250"/>
                    <a:pt x="10309225" y="1047750"/>
                  </a:cubicBezTo>
                  <a:cubicBezTo>
                    <a:pt x="6594475" y="1301750"/>
                    <a:pt x="3302000" y="1301750"/>
                    <a:pt x="431800" y="1047750"/>
                  </a:cubicBezTo>
                  <a:cubicBezTo>
                    <a:pt x="0" y="730250"/>
                    <a:pt x="0" y="381000"/>
                    <a:pt x="431800" y="0"/>
                  </a:cubicBezTo>
                </a:path>
              </a:pathLst>
            </a:custGeom>
            <a:noFill/>
            <a:ln w="28575">
              <a:solidFill>
                <a:srgbClr val="E5544B"/>
              </a:solidFill>
              <a:custDash>
                <a:ds d="200000" sp="133333"/>
              </a:custDash>
            </a:ln>
          </p:spPr>
        </p:sp>
        <p:sp>
          <p:nvSpPr>
            <p:cNvPr id="71" name="Polygon 71"/>
            <p:cNvSpPr/>
            <p:nvPr/>
          </p:nvSpPr>
          <p:spPr>
            <a:xfrm>
              <a:off x="1314450" y="3048000"/>
              <a:ext cx="209550" cy="114300"/>
            </a:xfrm>
            <a:custGeom>
              <a:avLst/>
              <a:gdLst/>
              <a:ahLst/>
              <a:cxnLst/>
              <a:rect l="l" t="t" r="r" b="b"/>
              <a:pathLst>
                <a:path w="209550" h="114300">
                  <a:moveTo>
                    <a:pt x="95250" y="0"/>
                  </a:moveTo>
                  <a:lnTo>
                    <a:pt x="0" y="114300"/>
                  </a:lnTo>
                  <a:lnTo>
                    <a:pt x="209550" y="114300"/>
                  </a:lnTo>
                  <a:close/>
                </a:path>
              </a:pathLst>
            </a:custGeom>
            <a:solidFill>
              <a:srgbClr val="E5544B"/>
            </a:solidFill>
            <a:ln>
              <a:noFill/>
            </a:ln>
          </p:spPr>
        </p:sp>
        <p:sp>
          <p:nvSpPr>
            <p:cNvPr id="72" name="TextBox 72"/>
            <p:cNvSpPr txBox="1"/>
            <p:nvPr/>
          </p:nvSpPr>
          <p:spPr>
            <a:xfrm>
              <a:off x="5109099" y="3723799"/>
              <a:ext cx="1973801" cy="190690"/>
            </a:xfrm>
            <a:prstGeom prst="rect">
              <a:avLst/>
            </a:prstGeom>
            <a:noFill/>
            <a:ln>
              <a:noFill/>
            </a:ln>
          </p:spPr>
          <p:txBody>
            <a:bodyPr wrap="none" lIns="0" tIns="0" rIns="0" bIns="0" anchor="t" anchorCtr="0">
              <a:spAutoFit/>
            </a:bodyPr>
            <a:lstStyle/>
            <a:p>
              <a:pPr algn="ctr"/>
              <a:r>
                <a:rPr lang="zh-CN" sz="980" b="1" dirty="0">
                  <a:solidFill>
                    <a:srgbClr val="E5544B"/>
                  </a:solidFill>
                  <a:latin typeface="微软雅黑" panose="020B0503020204020204" charset="-122"/>
                  <a:ea typeface="微软雅黑" panose="020B0503020204020204" charset="-122"/>
                  <a:cs typeface="微软雅黑" panose="020B0503020204020204" charset="-122"/>
                </a:rPr>
                <a:t>数据回流 · 持续迭代优化(闭环)</a:t>
              </a:r>
              <a:endParaRPr lang="zh-CN" sz="980" b="1" dirty="0">
                <a:solidFill>
                  <a:srgbClr val="E5544B"/>
                </a:solidFill>
                <a:latin typeface="微软雅黑" panose="020B0503020204020204" charset="-122"/>
                <a:ea typeface="微软雅黑" panose="020B0503020204020204" charset="-122"/>
                <a:cs typeface="微软雅黑" panose="020B0503020204020204" charset="-122"/>
              </a:endParaRPr>
            </a:p>
          </p:txBody>
        </p:sp>
      </p:grpSp>
      <p:grpSp>
        <p:nvGrpSpPr>
          <p:cNvPr id="88" name="Group 88"/>
          <p:cNvGrpSpPr/>
          <p:nvPr/>
        </p:nvGrpSpPr>
        <p:grpSpPr>
          <a:xfrm>
            <a:off x="571500" y="4191000"/>
            <a:ext cx="11049000" cy="1352550"/>
            <a:chOff x="571500" y="4191000"/>
            <a:chExt cx="11049000" cy="1352550"/>
          </a:xfrm>
        </p:grpSpPr>
        <p:sp>
          <p:nvSpPr>
            <p:cNvPr id="74" name="Rectangle 74"/>
            <p:cNvSpPr/>
            <p:nvPr/>
          </p:nvSpPr>
          <p:spPr>
            <a:xfrm>
              <a:off x="571500" y="4191000"/>
              <a:ext cx="5524500" cy="1352550"/>
            </a:xfrm>
            <a:prstGeom prst="roundRect">
              <a:avLst>
                <a:gd name="adj" fmla="val 8451"/>
              </a:avLst>
            </a:prstGeom>
            <a:solidFill>
              <a:schemeClr val="lt2"/>
            </a:solidFill>
            <a:ln>
              <a:noFill/>
            </a:ln>
          </p:spPr>
        </p:sp>
        <p:sp>
          <p:nvSpPr>
            <p:cNvPr id="75" name="Rectangle 75"/>
            <p:cNvSpPr/>
            <p:nvPr/>
          </p:nvSpPr>
          <p:spPr>
            <a:xfrm>
              <a:off x="571500" y="4191000"/>
              <a:ext cx="76200" cy="1352550"/>
            </a:xfrm>
            <a:prstGeom prst="roundRect">
              <a:avLst>
                <a:gd name="adj" fmla="val 50000"/>
              </a:avLst>
            </a:prstGeom>
            <a:solidFill>
              <a:schemeClr val="accent1"/>
            </a:solidFill>
            <a:ln>
              <a:noFill/>
            </a:ln>
          </p:spPr>
        </p:sp>
        <p:sp>
          <p:nvSpPr>
            <p:cNvPr id="76" name="TextBox 76"/>
            <p:cNvSpPr txBox="1"/>
            <p:nvPr/>
          </p:nvSpPr>
          <p:spPr>
            <a:xfrm>
              <a:off x="832866" y="4344352"/>
              <a:ext cx="901179"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微软雅黑" panose="020B0503020204020204" charset="-122"/>
                  <a:ea typeface="微软雅黑" panose="020B0503020204020204" charset="-122"/>
                  <a:cs typeface="微软雅黑" panose="020B0503020204020204" charset="-122"/>
                </a:rPr>
                <a:t>开发模式变革</a:t>
              </a:r>
              <a:endParaRPr lang="zh-CN" sz="10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7" name="TextBox 77"/>
            <p:cNvSpPr txBox="1"/>
            <p:nvPr/>
          </p:nvSpPr>
          <p:spPr>
            <a:xfrm>
              <a:off x="833438" y="4608195"/>
              <a:ext cx="2802446" cy="176212"/>
            </a:xfrm>
            <a:prstGeom prst="rect">
              <a:avLst/>
            </a:prstGeom>
            <a:noFill/>
            <a:ln>
              <a:noFill/>
            </a:ln>
          </p:spPr>
          <p:txBody>
            <a:bodyPr wrap="none" lIns="0" tIns="0" rIns="0" bIns="0" anchor="t" anchorCtr="0">
              <a:spAutoFit/>
            </a:bodyPr>
            <a:lstStyle/>
            <a:p>
              <a:pPr marL="97155" indent="-97155" algn="l">
                <a:buClr>
                  <a:schemeClr val="dk1"/>
                </a:buClr>
                <a:buSzTx/>
                <a:buFontTx/>
                <a:buChar char="•"/>
              </a:pPr>
              <a:r>
                <a:rPr lang="zh-CN" sz="900" dirty="0">
                  <a:solidFill>
                    <a:schemeClr val="dk1"/>
                  </a:solidFill>
                  <a:latin typeface="微软雅黑" panose="020B0503020204020204" charset="-122"/>
                  <a:ea typeface="微软雅黑" panose="020B0503020204020204" charset="-122"/>
                  <a:cs typeface="微软雅黑" panose="020B0503020204020204" charset="-122"/>
                </a:rPr>
                <a:t>低代码 / 零代码:业务人员自助搭建,门槛大幅降低</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8" name="TextBox 78"/>
            <p:cNvSpPr txBox="1"/>
            <p:nvPr/>
          </p:nvSpPr>
          <p:spPr>
            <a:xfrm>
              <a:off x="833438" y="4817745"/>
              <a:ext cx="3162324" cy="176212"/>
            </a:xfrm>
            <a:prstGeom prst="rect">
              <a:avLst/>
            </a:prstGeom>
            <a:noFill/>
            <a:ln>
              <a:noFill/>
            </a:ln>
          </p:spPr>
          <p:txBody>
            <a:bodyPr wrap="none" lIns="0" tIns="0" rIns="0" bIns="0" anchor="t" anchorCtr="0">
              <a:spAutoFit/>
            </a:bodyPr>
            <a:lstStyle/>
            <a:p>
              <a:pPr marL="97155" indent="-97155" algn="l">
                <a:buClr>
                  <a:schemeClr val="dk1"/>
                </a:buClr>
                <a:buSzTx/>
                <a:buFontTx/>
                <a:buChar char="•"/>
              </a:pPr>
              <a:r>
                <a:rPr lang="zh-CN" sz="900" dirty="0">
                  <a:solidFill>
                    <a:schemeClr val="dk1"/>
                  </a:solidFill>
                  <a:latin typeface="微软雅黑" panose="020B0503020204020204" charset="-122"/>
                  <a:ea typeface="微软雅黑" panose="020B0503020204020204" charset="-122"/>
                  <a:cs typeface="微软雅黑" panose="020B0503020204020204" charset="-122"/>
                </a:rPr>
                <a:t>Agent 框架(Coze/Dify/LangGraph)成主流,声明式编排</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9" name="TextBox 79"/>
            <p:cNvSpPr txBox="1"/>
            <p:nvPr/>
          </p:nvSpPr>
          <p:spPr>
            <a:xfrm>
              <a:off x="833438" y="5027295"/>
              <a:ext cx="2590419" cy="176212"/>
            </a:xfrm>
            <a:prstGeom prst="rect">
              <a:avLst/>
            </a:prstGeom>
            <a:noFill/>
            <a:ln>
              <a:noFill/>
            </a:ln>
          </p:spPr>
          <p:txBody>
            <a:bodyPr wrap="none" lIns="0" tIns="0" rIns="0" bIns="0" anchor="t" anchorCtr="0">
              <a:spAutoFit/>
            </a:bodyPr>
            <a:lstStyle/>
            <a:p>
              <a:pPr marL="97155" indent="-97155" algn="l">
                <a:buClr>
                  <a:schemeClr val="dk1"/>
                </a:buClr>
                <a:buSzTx/>
                <a:buFontTx/>
                <a:buChar char="•"/>
              </a:pPr>
              <a:r>
                <a:rPr lang="zh-CN" sz="900" dirty="0">
                  <a:solidFill>
                    <a:schemeClr val="dk1"/>
                  </a:solidFill>
                  <a:latin typeface="微软雅黑" panose="020B0503020204020204" charset="-122"/>
                  <a:ea typeface="微软雅黑" panose="020B0503020204020204" charset="-122"/>
                  <a:cs typeface="微软雅黑" panose="020B0503020204020204" charset="-122"/>
                </a:rPr>
                <a:t>周期压缩:月级 -&gt; 周级 -&gt; 天级,试错成本骤降</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80" name="TextBox 80"/>
            <p:cNvSpPr txBox="1"/>
            <p:nvPr/>
          </p:nvSpPr>
          <p:spPr>
            <a:xfrm>
              <a:off x="833438" y="5293995"/>
              <a:ext cx="3220441" cy="176212"/>
            </a:xfrm>
            <a:prstGeom prst="rect">
              <a:avLst/>
            </a:prstGeom>
            <a:noFill/>
            <a:ln>
              <a:noFill/>
            </a:ln>
          </p:spPr>
          <p:txBody>
            <a:bodyPr wrap="none" lIns="0" tIns="0" rIns="0" bIns="0" anchor="t" anchorCtr="0">
              <a:spAutoFit/>
            </a:bodyPr>
            <a:lstStyle/>
            <a:p>
              <a:pPr marL="97155" indent="-97155" algn="l">
                <a:buClr>
                  <a:schemeClr val="dk2"/>
                </a:buClr>
                <a:buSzTx/>
                <a:buFontTx/>
                <a:buChar char="•"/>
              </a:pPr>
              <a:r>
                <a:rPr lang="zh-CN" sz="900" dirty="0">
                  <a:solidFill>
                    <a:schemeClr val="dk2"/>
                  </a:solidFill>
                  <a:latin typeface="微软雅黑" panose="020B0503020204020204" charset="-122"/>
                  <a:ea typeface="微软雅黑" panose="020B0503020204020204" charset="-122"/>
                  <a:cs typeface="微软雅黑" panose="020B0503020204020204" charset="-122"/>
                </a:rPr>
                <a:t>开发者角色:从“写代码”转向“编排智能体 + 调优 prompt”</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81" name="Rectangle 81"/>
            <p:cNvSpPr/>
            <p:nvPr/>
          </p:nvSpPr>
          <p:spPr>
            <a:xfrm>
              <a:off x="6286500" y="4191000"/>
              <a:ext cx="5334000" cy="1352550"/>
            </a:xfrm>
            <a:prstGeom prst="roundRect">
              <a:avLst>
                <a:gd name="adj" fmla="val 8451"/>
              </a:avLst>
            </a:prstGeom>
            <a:solidFill>
              <a:schemeClr val="lt2"/>
            </a:solidFill>
            <a:ln>
              <a:noFill/>
            </a:ln>
          </p:spPr>
        </p:sp>
        <p:sp>
          <p:nvSpPr>
            <p:cNvPr id="82" name="Rectangle 82"/>
            <p:cNvSpPr/>
            <p:nvPr/>
          </p:nvSpPr>
          <p:spPr>
            <a:xfrm>
              <a:off x="6286500" y="4191000"/>
              <a:ext cx="76200" cy="1352550"/>
            </a:xfrm>
            <a:prstGeom prst="roundRect">
              <a:avLst>
                <a:gd name="adj" fmla="val 50000"/>
              </a:avLst>
            </a:prstGeom>
            <a:solidFill>
              <a:schemeClr val="accent2"/>
            </a:solidFill>
            <a:ln>
              <a:noFill/>
            </a:ln>
          </p:spPr>
        </p:sp>
        <p:sp>
          <p:nvSpPr>
            <p:cNvPr id="83" name="TextBox 83"/>
            <p:cNvSpPr txBox="1"/>
            <p:nvPr/>
          </p:nvSpPr>
          <p:spPr>
            <a:xfrm>
              <a:off x="6547866" y="4344352"/>
              <a:ext cx="901179" cy="205359"/>
            </a:xfrm>
            <a:prstGeom prst="rect">
              <a:avLst/>
            </a:prstGeom>
            <a:noFill/>
            <a:ln>
              <a:noFill/>
            </a:ln>
          </p:spPr>
          <p:txBody>
            <a:bodyPr wrap="none" lIns="0" tIns="0" rIns="0" bIns="0" anchor="t" anchorCtr="0">
              <a:spAutoFit/>
            </a:bodyPr>
            <a:lstStyle/>
            <a:p>
              <a:pPr algn="l"/>
              <a:r>
                <a:rPr lang="zh-CN" sz="1050" b="1" dirty="0">
                  <a:solidFill>
                    <a:schemeClr val="dk1"/>
                  </a:solidFill>
                  <a:latin typeface="微软雅黑" panose="020B0503020204020204" charset="-122"/>
                  <a:ea typeface="微软雅黑" panose="020B0503020204020204" charset="-122"/>
                  <a:cs typeface="微软雅黑" panose="020B0503020204020204" charset="-122"/>
                </a:rPr>
                <a:t>场景需求热点</a:t>
              </a:r>
              <a:endParaRPr lang="zh-CN" sz="105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84" name="TextBox 84"/>
            <p:cNvSpPr txBox="1"/>
            <p:nvPr/>
          </p:nvSpPr>
          <p:spPr>
            <a:xfrm>
              <a:off x="6548438" y="4608195"/>
              <a:ext cx="2772156" cy="176212"/>
            </a:xfrm>
            <a:prstGeom prst="rect">
              <a:avLst/>
            </a:prstGeom>
            <a:noFill/>
            <a:ln>
              <a:noFill/>
            </a:ln>
          </p:spPr>
          <p:txBody>
            <a:bodyPr wrap="none" lIns="0" tIns="0" rIns="0" bIns="0" anchor="t" anchorCtr="0">
              <a:spAutoFit/>
            </a:bodyPr>
            <a:lstStyle/>
            <a:p>
              <a:pPr marL="97155" indent="-97155" algn="l">
                <a:buClr>
                  <a:schemeClr val="dk1"/>
                </a:buClr>
                <a:buSzTx/>
                <a:buFontTx/>
                <a:buChar char="•"/>
              </a:pPr>
              <a:r>
                <a:rPr lang="zh-CN" sz="900" dirty="0">
                  <a:solidFill>
                    <a:schemeClr val="dk1"/>
                  </a:solidFill>
                  <a:latin typeface="微软雅黑" panose="020B0503020204020204" charset="-122"/>
                  <a:ea typeface="微软雅黑" panose="020B0503020204020204" charset="-122"/>
                  <a:cs typeface="微软雅黑" panose="020B0503020204020204" charset="-122"/>
                </a:rPr>
                <a:t>智能体员工:客服 / 分析师 / 编程助手 / 销售陪练</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85" name="TextBox 85"/>
            <p:cNvSpPr txBox="1"/>
            <p:nvPr/>
          </p:nvSpPr>
          <p:spPr>
            <a:xfrm>
              <a:off x="6548438" y="4817745"/>
              <a:ext cx="2506686" cy="176212"/>
            </a:xfrm>
            <a:prstGeom prst="rect">
              <a:avLst/>
            </a:prstGeom>
            <a:noFill/>
            <a:ln>
              <a:noFill/>
            </a:ln>
          </p:spPr>
          <p:txBody>
            <a:bodyPr wrap="none" lIns="0" tIns="0" rIns="0" bIns="0" anchor="t" anchorCtr="0">
              <a:spAutoFit/>
            </a:bodyPr>
            <a:lstStyle/>
            <a:p>
              <a:pPr marL="97155" indent="-97155" algn="l">
                <a:buClr>
                  <a:schemeClr val="dk1"/>
                </a:buClr>
                <a:buSzTx/>
                <a:buFontTx/>
                <a:buChar char="•"/>
              </a:pPr>
              <a:r>
                <a:rPr lang="zh-CN" sz="900" dirty="0">
                  <a:solidFill>
                    <a:schemeClr val="dk1"/>
                  </a:solidFill>
                  <a:latin typeface="微软雅黑" panose="020B0503020204020204" charset="-122"/>
                  <a:ea typeface="微软雅黑" panose="020B0503020204020204" charset="-122"/>
                  <a:cs typeface="微软雅黑" panose="020B0503020204020204" charset="-122"/>
                </a:rPr>
                <a:t>行业 Copilot:办公 / 研发 / 营销 / 法务嵌入</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86" name="TextBox 86"/>
            <p:cNvSpPr txBox="1"/>
            <p:nvPr/>
          </p:nvSpPr>
          <p:spPr>
            <a:xfrm>
              <a:off x="6548438" y="5027295"/>
              <a:ext cx="2699004" cy="176212"/>
            </a:xfrm>
            <a:prstGeom prst="rect">
              <a:avLst/>
            </a:prstGeom>
            <a:noFill/>
            <a:ln>
              <a:noFill/>
            </a:ln>
          </p:spPr>
          <p:txBody>
            <a:bodyPr wrap="none" lIns="0" tIns="0" rIns="0" bIns="0" anchor="t" anchorCtr="0">
              <a:spAutoFit/>
            </a:bodyPr>
            <a:lstStyle/>
            <a:p>
              <a:pPr marL="97155" indent="-97155" algn="l">
                <a:buClr>
                  <a:schemeClr val="dk1"/>
                </a:buClr>
                <a:buSzTx/>
                <a:buFontTx/>
                <a:buChar char="•"/>
              </a:pPr>
              <a:r>
                <a:rPr lang="zh-CN" sz="900" dirty="0">
                  <a:solidFill>
                    <a:schemeClr val="dk1"/>
                  </a:solidFill>
                  <a:latin typeface="微软雅黑" panose="020B0503020204020204" charset="-122"/>
                  <a:ea typeface="微软雅黑" panose="020B0503020204020204" charset="-122"/>
                  <a:cs typeface="微软雅黑" panose="020B0503020204020204" charset="-122"/>
                </a:rPr>
                <a:t>端侧 AI:手机 / PC / 车机 / 机器人本地化推理</a:t>
              </a:r>
              <a:endParaRPr lang="zh-CN" sz="9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87" name="TextBox 87"/>
            <p:cNvSpPr txBox="1"/>
            <p:nvPr/>
          </p:nvSpPr>
          <p:spPr>
            <a:xfrm>
              <a:off x="6548438" y="5293995"/>
              <a:ext cx="2753982" cy="176212"/>
            </a:xfrm>
            <a:prstGeom prst="rect">
              <a:avLst/>
            </a:prstGeom>
            <a:noFill/>
            <a:ln>
              <a:noFill/>
            </a:ln>
          </p:spPr>
          <p:txBody>
            <a:bodyPr wrap="none" lIns="0" tIns="0" rIns="0" bIns="0" anchor="t" anchorCtr="0">
              <a:spAutoFit/>
            </a:bodyPr>
            <a:lstStyle/>
            <a:p>
              <a:pPr marL="97155" indent="-97155" algn="l">
                <a:buClr>
                  <a:schemeClr val="dk2"/>
                </a:buClr>
                <a:buSzTx/>
                <a:buFontTx/>
                <a:buChar char="•"/>
              </a:pPr>
              <a:r>
                <a:rPr lang="zh-CN" sz="900" dirty="0">
                  <a:solidFill>
                    <a:schemeClr val="dk2"/>
                  </a:solidFill>
                  <a:latin typeface="微软雅黑" panose="020B0503020204020204" charset="-122"/>
                  <a:ea typeface="微软雅黑" panose="020B0503020204020204" charset="-122"/>
                  <a:cs typeface="微软雅黑" panose="020B0503020204020204" charset="-122"/>
                </a:rPr>
                <a:t>行业大模型:金融 / 医疗 / 法律垂直定制需求爆发</a:t>
              </a:r>
              <a:endParaRPr lang="zh-CN" sz="900" dirty="0">
                <a:solidFill>
                  <a:schemeClr val="dk2"/>
                </a:solidFill>
                <a:latin typeface="微软雅黑" panose="020B0503020204020204" charset="-122"/>
                <a:ea typeface="微软雅黑" panose="020B0503020204020204" charset="-122"/>
                <a:cs typeface="微软雅黑" panose="020B0503020204020204" charset="-122"/>
              </a:endParaRPr>
            </a:p>
          </p:txBody>
        </p:sp>
      </p:grpSp>
      <p:grpSp>
        <p:nvGrpSpPr>
          <p:cNvPr id="91" name="Group 91"/>
          <p:cNvGrpSpPr/>
          <p:nvPr/>
        </p:nvGrpSpPr>
        <p:grpSpPr>
          <a:xfrm>
            <a:off x="571500" y="5734050"/>
            <a:ext cx="11049000" cy="571500"/>
            <a:chOff x="571500" y="5734050"/>
            <a:chExt cx="11049000" cy="571500"/>
          </a:xfrm>
        </p:grpSpPr>
        <p:sp>
          <p:nvSpPr>
            <p:cNvPr id="89" name="Rectangle 89"/>
            <p:cNvSpPr/>
            <p:nvPr/>
          </p:nvSpPr>
          <p:spPr>
            <a:xfrm>
              <a:off x="571500" y="5734050"/>
              <a:ext cx="11049000" cy="571500"/>
            </a:xfrm>
            <a:prstGeom prst="roundRect">
              <a:avLst>
                <a:gd name="adj" fmla="val 20000"/>
              </a:avLst>
            </a:prstGeom>
            <a:solidFill>
              <a:schemeClr val="accent1"/>
            </a:solidFill>
            <a:ln>
              <a:noFill/>
            </a:ln>
          </p:spPr>
        </p:sp>
        <p:sp>
          <p:nvSpPr>
            <p:cNvPr id="90" name="TextBox 90"/>
            <p:cNvSpPr txBox="1"/>
            <p:nvPr/>
          </p:nvSpPr>
          <p:spPr>
            <a:xfrm>
              <a:off x="3197344" y="5963602"/>
              <a:ext cx="579731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微软雅黑" panose="020B0503020204020204" charset="-122"/>
                  <a:ea typeface="微软雅黑" panose="020B0503020204020204" charset="-122"/>
                  <a:cs typeface="微软雅黑" panose="020B0503020204020204" charset="-122"/>
                </a:rPr>
                <a:t>AI 应用开发正从“写代码”走向“编排智能体”,场景化、低代码化、闭环化是核心趋势</a:t>
              </a:r>
              <a:endParaRPr lang="zh-CN" sz="105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93" name="TextBox 93"/>
          <p:cNvSpPr txBox="1"/>
          <p:nvPr/>
        </p:nvSpPr>
        <p:spPr>
          <a:xfrm>
            <a:off x="11243681" y="6654641"/>
            <a:ext cx="381581"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07 / 07</a:t>
            </a:r>
            <a:endParaRPr lang="en-US" sz="820" dirty="0">
              <a:solidFill>
                <a:schemeClr val="accent5"/>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ags/tag1.xml><?xml version="1.0" encoding="utf-8"?>
<p:tagLst xmlns:p="http://schemas.openxmlformats.org/presentationml/2006/main">
  <p:tag name="KSO_WM_DIAGRAM_VIRTUALLY_FRAME" val="{&quot;height&quot;:340.4307086614173,&quot;left&quot;:134.87362204724408,&quot;top&quot;:99.78464566929134,&quot;width&quot;:687.2645669291338}"/>
</p:tagLst>
</file>

<file path=ppt/tags/tag2.xml><?xml version="1.0" encoding="utf-8"?>
<p:tagLst xmlns:p="http://schemas.openxmlformats.org/presentationml/2006/main">
  <p:tag name="KSO_WM_DIAGRAM_VIRTUALLY_FRAME" val="{&quot;height&quot;:340.4307086614173,&quot;left&quot;:134.87362204724408,&quot;top&quot;:99.78464566929134,&quot;width&quot;:687.2645669291338}"/>
</p:tagLst>
</file>

<file path=ppt/tags/tag3.xml><?xml version="1.0" encoding="utf-8"?>
<p:tagLst xmlns:p="http://schemas.openxmlformats.org/presentationml/2006/main">
  <p:tag name="KSO_WM_DIAGRAM_VIRTUALLY_FRAME" val="{&quot;height&quot;:340.4307086614173,&quot;left&quot;:134.87362204724408,&quot;top&quot;:99.78464566929134,&quot;width&quot;:687.2645669291338}"/>
</p:tagLst>
</file>

<file path=ppt/tags/tag4.xml><?xml version="1.0" encoding="utf-8"?>
<p:tagLst xmlns:p="http://schemas.openxmlformats.org/presentationml/2006/main">
  <p:tag name="KSO_WM_DIAGRAM_VIRTUALLY_FRAME" val="{&quot;height&quot;:340.4307086614173,&quot;left&quot;:134.87362204724408,&quot;top&quot;:99.78464566929134,&quot;width&quot;:687.2645669291338}"/>
</p:tagLst>
</file>

<file path=ppt/tags/tag5.xml><?xml version="1.0" encoding="utf-8"?>
<p:tagLst xmlns:p="http://schemas.openxmlformats.org/presentationml/2006/main">
  <p:tag name="KSO_WM_DIAGRAM_VIRTUALLY_FRAME" val="{&quot;height&quot;:340.4307086614173,&quot;left&quot;:134.87362204724408,&quot;top&quot;:99.78464566929134,&quot;width&quot;:687.2645669291338}"/>
</p:tagLst>
</file>

<file path=ppt/tags/tag6.xml><?xml version="1.0" encoding="utf-8"?>
<p:tagLst xmlns:p="http://schemas.openxmlformats.org/presentationml/2006/main">
  <p:tag name="KSO_WM_DIAGRAM_VIRTUALLY_FRAME" val="{&quot;height&quot;:340.4307086614173,&quot;left&quot;:134.87362204724408,&quot;top&quot;:99.78464566929134,&quot;width&quot;:687.2645669291338}"/>
</p:tagLst>
</file>

<file path=ppt/tags/tag7.xml><?xml version="1.0" encoding="utf-8"?>
<p:tagLst xmlns:p="http://schemas.openxmlformats.org/presentationml/2006/main">
  <p:tag name="KSO_WM_DIAGRAM_VIRTUALLY_FRAME" val="{&quot;height&quot;:340.4307086614173,&quot;left&quot;:134.87362204724408,&quot;top&quot;:99.78464566929134,&quot;width&quot;:687.2645669291338}"/>
</p:tagLst>
</file>

<file path=ppt/tags/tag8.xml><?xml version="1.0" encoding="utf-8"?>
<p:tagLst xmlns:p="http://schemas.openxmlformats.org/presentationml/2006/main">
  <p:tag name="KSO_WM_DIAGRAM_VIRTUALLY_FRAME" val="{&quot;height&quot;:340.4307086614173,&quot;left&quot;:134.87362204724408,&quot;top&quot;:99.78464566929134,&quot;width&quot;:687.2645669291338}"/>
</p:tagLst>
</file>

<file path=ppt/tags/tag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7_3*l_h_f*1_1_1"/>
  <p:tag name="KSO_WM_TEMPLATE_CATEGORY" val="diagram"/>
  <p:tag name="KSO_WM_TEMPLATE_INDEX" val="20231967"/>
  <p:tag name="KSO_WM_UNIT_LAYERLEVEL" val="1_1_1"/>
  <p:tag name="KSO_WM_TAG_VERSION" val="3.0"/>
  <p:tag name="KSO_WM_BEAUTIFY_FLAG" val="#wm#"/>
  <p:tag name="KSO_WM_UNIT_VALUE" val="88"/>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内容，简明扼要地阐述您的观点。根据需要增减文字，准确地理解您传达的思想。"/>
  <p:tag name="KSO_WM_UNIT_TEXT_TYPE" val="1"/>
  <p:tag name="KSO_WM_DIAGRAM_USE_COLOR_VALUE" val="{&quot;color_scheme&quot;:1,&quot;color_type&quot;:1,&quot;theme_color_indexes&quot;:[]}"/>
  <p:tag name="KSO_WM_UNIT_PLACING_PICTURE_USER_VIEWPORT" val="{&quot;height&quot;:971,&quot;width&quot;:11852}"/>
</p:tagLst>
</file>

<file path=ppt/tags/tag1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7_3*l_h_a*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9"/>
  <p:tag name="KSO_WM_UNIT_TEXT_FILL_FORE_SCHEMECOLOR_INDEX" val="1"/>
  <p:tag name="KSO_WM_UNIT_TEXT_FILL_TYPE" val="1"/>
  <p:tag name="KSO_WM_UNIT_PRESET_TEXT" val="单击此处添加标题"/>
  <p:tag name="KSO_WM_UNIT_TEXT_TYPE" val="1"/>
  <p:tag name="KSO_WM_DIAGRAM_USE_COLOR_VALUE" val="{&quot;color_scheme&quot;:1,&quot;color_type&quot;:1,&quot;theme_color_indexes&quot;:[]}"/>
  <p:tag name="KSO_WM_UNIT_PLACING_PICTURE_USER_VIEWPORT" val="{&quot;height&quot;:698,&quot;width&quot;:11840}"/>
</p:tagLst>
</file>

<file path=ppt/tags/tag1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67_3*l_h_i*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 name="KSO_WM_UNIT_PLACING_PICTURE_USER_VIEWPORT" val="{&quot;height&quot;:875.8820801965509,&quot;width&quot;:875.8820801965524}"/>
</p:tagLst>
</file>

<file path=ppt/tags/tag1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7_3*l_h_f*1_2_1"/>
  <p:tag name="KSO_WM_TEMPLATE_CATEGORY" val="diagram"/>
  <p:tag name="KSO_WM_TEMPLATE_INDEX" val="20231967"/>
  <p:tag name="KSO_WM_UNIT_LAYERLEVEL" val="1_1_1"/>
  <p:tag name="KSO_WM_TAG_VERSION" val="3.0"/>
  <p:tag name="KSO_WM_BEAUTIFY_FLAG" val="#wm#"/>
  <p:tag name="KSO_WM_UNIT_VALUE" val="88"/>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内容，简明扼要地阐述您的观点。根据需要增减文字，准确地理解您传达的思想。"/>
  <p:tag name="KSO_WM_UNIT_TEXT_TYPE" val="1"/>
  <p:tag name="KSO_WM_DIAGRAM_USE_COLOR_VALUE" val="{&quot;color_scheme&quot;:1,&quot;color_type&quot;:1,&quot;theme_color_indexes&quot;:[]}"/>
  <p:tag name="KSO_WM_UNIT_PLACING_PICTURE_USER_VIEWPORT" val="{&quot;height&quot;:971,&quot;width&quot;:11840}"/>
</p:tagLst>
</file>

<file path=ppt/tags/tag1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67_3*l_h_a*1_2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 name="KSO_WM_DIAGRAM_USE_COLOR_VALUE" val="{&quot;color_scheme&quot;:1,&quot;color_type&quot;:1,&quot;theme_color_indexes&quot;:[]}"/>
  <p:tag name="KSO_WM_UNIT_PLACING_PICTURE_USER_VIEWPORT" val="{&quot;height&quot;:698,&quot;width&quot;:11840}"/>
</p:tagLst>
</file>

<file path=ppt/tags/tag1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67_3*l_h_i*1_2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 name="KSO_WM_UNIT_PLACING_PICTURE_USER_VIEWPORT" val="{&quot;height&quot;:875.8820801965509,&quot;width&quot;:875.8820801965524}"/>
</p:tagLst>
</file>

<file path=ppt/tags/tag1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67_3*l_h_i*1_3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967_3*l_h_f*1_4_1"/>
  <p:tag name="KSO_WM_TEMPLATE_CATEGORY" val="diagram"/>
  <p:tag name="KSO_WM_TEMPLATE_INDEX" val="20231967"/>
  <p:tag name="KSO_WM_UNIT_LAYERLEVEL" val="1_1_1"/>
  <p:tag name="KSO_WM_TAG_VERSION" val="3.0"/>
  <p:tag name="KSO_WM_BEAUTIFY_FLAG" val="#wm#"/>
  <p:tag name="KSO_WM_UNIT_VALUE" val="88"/>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内容，简明扼要地阐述您的观点。根据需要增减文字，准确地理解您传达的思想。"/>
  <p:tag name="KSO_WM_UNIT_TEXT_TYPE" val="1"/>
  <p:tag name="KSO_WM_DIAGRAM_USE_COLOR_VALUE" val="{&quot;color_scheme&quot;:1,&quot;color_type&quot;:1,&quot;theme_color_indexes&quot;:[]}"/>
</p:tagLst>
</file>

<file path=ppt/tags/tag1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1967_3*l_h_a*1_4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 name="KSO_WM_DIAGRAM_USE_COLOR_VALUE" val="{&quot;color_scheme&quot;:1,&quot;color_type&quot;:1,&quot;theme_color_indexes&quot;:[]}"/>
</p:tagLst>
</file>

<file path=ppt/tags/tag18.xml><?xml version="1.0" encoding="utf-8"?>
<p:tagLst xmlns:p="http://schemas.openxmlformats.org/presentationml/2006/main">
  <p:tag name="KSO_WM_DIAGRAM_VIRTUALLY_FRAME" val="{&quot;height&quot;:487.2,&quot;left&quot;:-65.85,&quot;top&quot;:39.7,&quot;width&quot;:1050.0216522216797}"/>
  <p:tag name="KSO_WM_UNIT_VALUE" val="761*1354"/>
  <p:tag name="KSO_WM_UNIT_HIGHLIGHT" val="0"/>
  <p:tag name="KSO_WM_UNIT_DIAGRAM_ISNUMVISUAL" val="0"/>
  <p:tag name="KSO_WM_UNIT_DIAGRAM_ISREFERUNIT" val="0"/>
  <p:tag name="KSO_WM_UNIT_TYPE" val="d"/>
  <p:tag name="KSO_WM_UNIT_INDEX" val="1"/>
  <p:tag name="KSO_WM_UNIT_ID" val="diagram20211919_1*d*1"/>
  <p:tag name="KSO_WM_TEMPLATE_CATEGORY" val="diagram"/>
  <p:tag name="KSO_WM_TEMPLATE_INDEX" val="20211919"/>
  <p:tag name="KSO_WM_UNIT_LAYERLEVEL" val="1"/>
  <p:tag name="KSO_WM_TAG_VERSION" val="1.0"/>
  <p:tag name="KSO_WM_BEAUTIFY_FLAG" val="#wm#"/>
  <p:tag name="KSO_WM_CHIP_GROUPID" val="5e7310da9a230a26b9e88a19"/>
  <p:tag name="KSO_WM_CHIP_XID" val="5e7310da9a230a26b9e88a1a"/>
  <p:tag name="KSO_WM_UNIT_DEC_AREA_ID" val="4039ffacf8a04f7a9fe95474914dc70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b46a5ded9f054d938f178f453e75bfee"/>
  <p:tag name="KSO_WM_UNIT_PLACING_PICTURE" val="b46a5ded9f054d938f178f453e75bfee"/>
  <p:tag name="KSO_WM_UNIT_SUPPORT_UNIT_TYPE" val="[&quot;d&quot;,&quot;α&quot;,&quot;β&quot;]"/>
  <p:tag name="KSO_WM_TEMPLATE_ASSEMBLE_XID" val="60656f194054ed1e2fb8037c"/>
  <p:tag name="KSO_WM_TEMPLATE_ASSEMBLE_GROUPID" val="60656f194054ed1e2fb8037c"/>
  <p:tag name="KSO_WM_UNIT_PLACING_PICTURE_USER_VIEWPORT" val="{&quot;height&quot;:2748.151181102362,&quot;width&quot;:5031.615748031496}"/>
  <p:tag name="KSO_WM_UNIT_PLACING_PICTURE_INFO" val="{&quot;code&quot;:&quot;&quot;,&quot;full_picture&quot;:false,&quot;margin&quot;:{&quot;left&quot;:16.589721861882026,&quot;right&quot;:16.83245364431673},&quot;scheme&quot;:&quot;2-0&quot;,&quot;spacing&quot;:5}"/>
  <p:tag name="KSO_WM_UNIT_PLACING_PICTURE_USER_VIEWPORT_SMARTMENU" val="{&quot;height&quot;:2748.150808619432,&quot;width&quot;:5031.616304329149}"/>
  <p:tag name="KSO_WM_UNIT_PLACING_PICTURE_USER_RELATIVERECTANGLE_SMARTMENU" val="{&quot;bottom&quot;:0.012342370579141566,&quot;left&quot;:0,&quot;right&quot;:0,&quot;top&quot;:0.012342370579141566}"/>
</p:tagLst>
</file>

<file path=ppt/tags/tag1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67_3*l_h_i*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474.0255118110237,&quot;left&quot;:15.744287109375,&quot;top&quot;:73.64566929133858,&quot;width&quot;:748.692169583538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 name="KSO_WM_UNIT_PLACING_PICTURE_USER_VIEWPORT" val="{&quot;height&quot;:875.8820801965509,&quot;width&quot;:875.8820801965524}"/>
</p:tagLst>
</file>

<file path=ppt/tags/tag20.xml><?xml version="1.0" encoding="utf-8"?>
<p:tagLst xmlns:p="http://schemas.openxmlformats.org/presentationml/2006/main">
  <p:tag name="DATA_TYPE" val="OfficePlusSmartComponent"/>
  <p:tag name="OP_SCP_TAG_VERSION" val="1.0"/>
  <p:tag name="OP_SCP_CHANGE_COLOR" val="N"/>
  <p:tag name="OP_SCP_COMPONENT_TYPE" val="Relation"/>
  <p:tag name="OP_SCP_CONTENT_ID" val="MatlComponentContent-10000"/>
  <p:tag name="OP_SCP_COMPONENT_INFO" val="{&quot;title&quot;:&quot;蓝白色环形3项总分总结PPT组件&quot;,&quot;description&quot;:&quot;蓝白色环形3项总分总结PPT组件&quot;,&quot;keywords&quot;:[&quot;蓝色&quot;,&quot;白色&quot;,&quot;环形&quot;,&quot;3项&quot;,&quot;总分&quot;,&quot;总结&quot;,&quot;PPT组件&quot;],&quot;labels&quot;:[]}"/>
  <p:tag name="OP_SCP_GROUP_ID" val="bd8919d8-8d42-7ebd-7984-07bfa7a2e4c0"/>
  <p:tag name="OP_SCP_ITEM_COUNT" val="3"/>
</p:tagLst>
</file>

<file path=ppt/tags/tag21.xml><?xml version="1.0" encoding="utf-8"?>
<p:tagLst xmlns:p="http://schemas.openxmlformats.org/presentationml/2006/main">
  <p:tag name="OP_SCP_SHAPE_TYPE" val="Index"/>
  <p:tag name="OP_SCP_ITEM_INDEX" val="0"/>
  <p:tag name="OP_SCP_DEFAULT_TEXT" val="03"/>
</p:tagLst>
</file>

<file path=ppt/tags/tag22.xml><?xml version="1.0" encoding="utf-8"?>
<p:tagLst xmlns:p="http://schemas.openxmlformats.org/presentationml/2006/main">
  <p:tag name="OP_SCP_SHAPE_TYPE" val="Title"/>
  <p:tag name="OP_SCP_ITEM_INDEX" val="1"/>
  <p:tag name="OP_SCP_DEFAULT_TEXT" val="添加标题"/>
</p:tagLst>
</file>

<file path=ppt/tags/tag23.xml><?xml version="1.0" encoding="utf-8"?>
<p:tagLst xmlns:p="http://schemas.openxmlformats.org/presentationml/2006/main">
  <p:tag name="OP_SCP_SHAPE_TYPE" val="Body"/>
  <p:tag name="OP_SCP_ITEM_INDEX" val="1"/>
  <p:tag name="OP_SCP_DEFAULT_TEXT" val="单击此处添加文本"/>
</p:tagLst>
</file>

<file path=ppt/tags/tag24.xml><?xml version="1.0" encoding="utf-8"?>
<p:tagLst xmlns:p="http://schemas.openxmlformats.org/presentationml/2006/main">
  <p:tag name="OP_SCP_SHAPE_TYPE" val="Title"/>
  <p:tag name="OP_SCP_ITEM_INDEX" val="2"/>
  <p:tag name="OP_SCP_DEFAULT_TEXT" val="添加标题"/>
</p:tagLst>
</file>

<file path=ppt/tags/tag25.xml><?xml version="1.0" encoding="utf-8"?>
<p:tagLst xmlns:p="http://schemas.openxmlformats.org/presentationml/2006/main">
  <p:tag name="OP_SCP_SHAPE_TYPE" val="Body"/>
  <p:tag name="OP_SCP_ITEM_INDEX" val="2"/>
  <p:tag name="OP_SCP_DEFAULT_TEXT" val="单击此处添加文本"/>
</p:tagLst>
</file>

<file path=ppt/tags/tag26.xml><?xml version="1.0" encoding="utf-8"?>
<p:tagLst xmlns:p="http://schemas.openxmlformats.org/presentationml/2006/main">
  <p:tag name="OP_SCP_SHAPE_TYPE" val="Title"/>
  <p:tag name="OP_SCP_ITEM_INDEX" val="3"/>
  <p:tag name="OP_SCP_DEFAULT_TEXT" val="添加标题"/>
</p:tagLst>
</file>

<file path=ppt/tags/tag27.xml><?xml version="1.0" encoding="utf-8"?>
<p:tagLst xmlns:p="http://schemas.openxmlformats.org/presentationml/2006/main">
  <p:tag name="OP_SCP_SHAPE_TYPE" val="Body"/>
  <p:tag name="OP_SCP_ITEM_INDEX" val="3"/>
  <p:tag name="OP_SCP_DEFAULT_TEXT" val="单击此处添加文本"/>
</p:tagLst>
</file>

<file path=ppt/tags/tag28.xml><?xml version="1.0" encoding="utf-8"?>
<p:tagLst xmlns:p="http://schemas.openxmlformats.org/presentationml/2006/main">
  <p:tag name="TYPE" val="icon"/>
</p:tagLst>
</file>

<file path=ppt/tags/tag29.xml><?xml version="1.0" encoding="utf-8"?>
<p:tagLst xmlns:p="http://schemas.openxmlformats.org/presentationml/2006/main">
  <p:tag name="TYPE" val="icon"/>
</p:tagLst>
</file>

<file path=ppt/tags/tag30.xml><?xml version="1.0" encoding="utf-8"?>
<p:tagLst xmlns:p="http://schemas.openxmlformats.org/presentationml/2006/main">
  <p:tag name="TYPE" val="icon"/>
</p:tagLst>
</file>

<file path=ppt/theme/theme1.xml><?xml version="1.0" encoding="utf-8"?>
<a:theme xmlns:a="http://schemas.openxmlformats.org/drawingml/2006/main" name="ai-industry">
  <a:themeElements>
    <a:clrScheme name="ai-industry">
      <a:dk1>
        <a:srgbClr val="1F2A37"/>
      </a:dk1>
      <a:lt1>
        <a:srgbClr val="FFFFFF"/>
      </a:lt1>
      <a:dk2>
        <a:srgbClr val="5B6B7B"/>
      </a:dk2>
      <a:lt2>
        <a:srgbClr val="EAF2FB"/>
      </a:lt2>
      <a:accent1>
        <a:srgbClr val="2E6BE6"/>
      </a:accent1>
      <a:accent2>
        <a:srgbClr val="4F9DFF"/>
      </a:accent2>
      <a:accent3>
        <a:srgbClr val="7AB8FF"/>
      </a:accent3>
      <a:accent4>
        <a:srgbClr val="D6E4F5"/>
      </a:accent4>
      <a:accent5>
        <a:srgbClr val="9AA7B5"/>
      </a:accent5>
      <a:accent6>
        <a:srgbClr val="2BB673"/>
      </a:accent6>
      <a:hlink>
        <a:srgbClr val="4F9DFF"/>
      </a:hlink>
      <a:folHlink>
        <a:srgbClr val="7AB8FF"/>
      </a:folHlink>
    </a:clrScheme>
    <a:fontScheme name="ai-industry">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i-indust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veerpa5">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ai-industry">
  <a:themeElements>
    <a:clrScheme name="ai-industry">
      <a:dk1>
        <a:srgbClr val="1F2A37"/>
      </a:dk1>
      <a:lt1>
        <a:srgbClr val="FFFFFF"/>
      </a:lt1>
      <a:dk2>
        <a:srgbClr val="5B6B7B"/>
      </a:dk2>
      <a:lt2>
        <a:srgbClr val="EAF2FB"/>
      </a:lt2>
      <a:accent1>
        <a:srgbClr val="2E6BE6"/>
      </a:accent1>
      <a:accent2>
        <a:srgbClr val="4F9DFF"/>
      </a:accent2>
      <a:accent3>
        <a:srgbClr val="7AB8FF"/>
      </a:accent3>
      <a:accent4>
        <a:srgbClr val="D6E4F5"/>
      </a:accent4>
      <a:accent5>
        <a:srgbClr val="9AA7B5"/>
      </a:accent5>
      <a:accent6>
        <a:srgbClr val="2BB673"/>
      </a:accent6>
      <a:hlink>
        <a:srgbClr val="4F9DFF"/>
      </a:hlink>
      <a:folHlink>
        <a:srgbClr val="7AB8FF"/>
      </a:folHlink>
    </a:clrScheme>
    <a:fontScheme name="ai-industry">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i-indust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5506</Words>
  <Application>WPS 演示</Application>
  <PresentationFormat>On-screen Show (16:9)</PresentationFormat>
  <Paragraphs>817</Paragraphs>
  <Slides>10</Slides>
  <Notes>0</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10</vt:i4>
      </vt:variant>
    </vt:vector>
  </HeadingPairs>
  <TitlesOfParts>
    <vt:vector size="22" baseType="lpstr">
      <vt:lpstr>Arial</vt:lpstr>
      <vt:lpstr>宋体</vt:lpstr>
      <vt:lpstr>Wingdings</vt:lpstr>
      <vt:lpstr>Arial</vt:lpstr>
      <vt:lpstr>微软雅黑</vt:lpstr>
      <vt:lpstr>等线</vt:lpstr>
      <vt:lpstr>ui-sans-serif</vt:lpstr>
      <vt:lpstr>Calibri</vt:lpstr>
      <vt:lpstr>Arial Unicode MS</vt:lpstr>
      <vt:lpstr>ai-industry</vt:lpstr>
      <vt:lpstr>3_Office 主题​​</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就这样</cp:lastModifiedBy>
  <cp:revision>5</cp:revision>
  <dcterms:created xsi:type="dcterms:W3CDTF">2026-07-20T06:34:00Z</dcterms:created>
  <dcterms:modified xsi:type="dcterms:W3CDTF">2026-07-25T12:31:08Z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5E2BD15E844B45E9A9845F85627374DA_12</vt:lpwstr>
  </property>
</Properties>
</file>