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7" r:id="rId4"/>
    <p:sldId id="256" r:id="rId5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年深度学习算法突破</a:t>
            </a:r>
            <a:r>
              <a:rPr lang="en-US" altLang="zh-CN" dirty="0"/>
              <a:t>+</a:t>
            </a:r>
            <a:r>
              <a:rPr lang="zh-CN" altLang="en-US" dirty="0"/>
              <a:t>创业热潮，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AlphaGo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击败围棋世界冠军李世石；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年美国发布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国家人工智能研究与发展战略计划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从企业行为上升为国家战略，各国开始抢占技术与产业制高点；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架构的推出不仅是一次技术创新，更是人工智能领域的 “范式革命！后面催生大模型！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月，国家发布</a:t>
            </a:r>
            <a:r>
              <a:rPr lang="en-US" altLang="zh-CN" dirty="0"/>
              <a:t>《</a:t>
            </a:r>
            <a:r>
              <a:rPr lang="zh-CN" altLang="en-US" dirty="0"/>
              <a:t>新一代人工智能发展规划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</a:rPr>
              <a:t>西安：高校总量达</a:t>
            </a:r>
            <a:r>
              <a:rPr lang="en-US" altLang="zh-CN" dirty="0">
                <a:effectLst/>
              </a:rPr>
              <a:t>65</a:t>
            </a:r>
            <a:r>
              <a:rPr lang="zh-CN" altLang="en-US" dirty="0">
                <a:effectLst/>
              </a:rPr>
              <a:t>所，双一流、</a:t>
            </a:r>
            <a:r>
              <a:rPr lang="en-US" altLang="zh-CN" dirty="0">
                <a:effectLst/>
              </a:rPr>
              <a:t>985/211</a:t>
            </a:r>
            <a:r>
              <a:rPr lang="zh-CN" altLang="en-US" dirty="0">
                <a:effectLst/>
              </a:rPr>
              <a:t>高校集聚，核心重点高校包括西安交通大学、西北工业大学、西安电子科技大学等，理工科优势突出，尤其在电子信息、航空航天、人工智能领域实力强劲，产学研政策完善（如“四主体一联合”模式推广）</a:t>
            </a:r>
            <a:r>
              <a:rPr lang="en-US" altLang="zh-CN" dirty="0">
                <a:effectLst/>
              </a:rPr>
              <a:t>[superscript:2][superscript:3]</a:t>
            </a:r>
            <a:r>
              <a:rPr lang="zh-CN" altLang="en-US" dirty="0">
                <a:effectLst/>
              </a:rPr>
              <a:t>。 杭州：核心重点高校包括浙江大学、杭州电子科技大学、浙江工业大学等，其中浙江大学为全国顶尖双一流高校，杭州电子科技大学等聚焦电子信息、人工智能领域，且多所高校新增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相关中外合作办学专业，互联网产业联动性强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C00A-26C1-4169-B235-F0584503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000"/>
            <a:ext cx="12192000" cy="6858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0D4F-7AC1-496A-BD1C-0546BD489CF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30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29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具身智能场景开发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4935" y="253487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86717" y="253478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介绍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519020" y="4949300"/>
            <a:ext cx="6699073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明确指出将“推动量子科技、生物制造、氢能和核聚变能、脑机接口、</a:t>
            </a:r>
            <a:r>
              <a:rPr kumimoji="0" lang="zh-CN" altLang="en-US" sz="12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具身智能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第六代移动通信等成为新的经济增长点”。这一表述直接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将具身智能纳入“十五五”时期国家重点培育的未来产业范畴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，确立了其在国家战略中的重要地位。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518385" y="4581000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《中共中央关于制定国民经济和社会发展第十五个五年规划的建议》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655322" y="4644254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26640" y="6338839"/>
            <a:ext cx="6698772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明确“突破具身智能控制、人机共融等核心技术”，“</a:t>
            </a:r>
            <a:r>
              <a:rPr kumimoji="0" lang="zh-CN" altLang="en-US" sz="120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加强智能机器人领域高技能人才培养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”，要求职业院校与企业共建“双元”育人平台。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26005" y="5893704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《广东省培育智能机器人战略性新兴产业集群行动计划（2023—2025年）》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63243" y="5957477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35984" y="937175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99379" y="1380435"/>
            <a:ext cx="6584619" cy="1760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中国首个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国家级顶层设计文件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，提出 “三步走” 战略（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年与世界同步、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年部分领先、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年成全球创新中心），明确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核心产业规模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年超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万亿元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国内产业方向明确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为中国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发展划定清晰路径，推动 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制造”“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医疗” 等场景落地，激发企业（如百度、腾讯等）的技术投入与场景探索；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产教融合加速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政策推动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高校设立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学科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、建设创新基地，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解决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人才短缺问题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，为产业爆发储备核心资源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【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广东：华师大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2018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年；广工大、华农大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2019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年；中大、华工大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年；还有大量学校今年汕大、嘉应学院，珠江学院等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…..】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598744" y="935300"/>
            <a:ext cx="638521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核心战略文件：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新一代人工智能发展规划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</a:t>
            </a:r>
            <a:r>
              <a:rPr kumimoji="0" lang="en-US" altLang="zh-CN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2017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kumimoji="0" lang="zh-CN" altLang="en-US" sz="1400" b="1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20" descr="placingpictureplaceholder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1234" b="1234"/>
          <a:stretch>
            <a:fillRect/>
          </a:stretch>
        </p:blipFill>
        <p:spPr>
          <a:xfrm>
            <a:off x="8642142" y="822864"/>
            <a:ext cx="2866858" cy="15658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" t="25837" r="7788" b="13919"/>
          <a:stretch>
            <a:fillRect/>
          </a:stretch>
        </p:blipFill>
        <p:spPr>
          <a:xfrm>
            <a:off x="8603458" y="2508665"/>
            <a:ext cx="2905542" cy="401521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0035778" y="5836019"/>
            <a:ext cx="719666" cy="204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3000" y="856878"/>
            <a:ext cx="7717000" cy="2572122"/>
          </a:xfrm>
          <a:prstGeom prst="rect">
            <a:avLst/>
          </a:prstGeom>
          <a:noFill/>
          <a:ln w="254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26005" y="3566139"/>
            <a:ext cx="6657993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 “十四五” 规划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：将 “新一代人工智能”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列为科技前沿攻关的七大领域之一，明确 “加强原创性引领性科技攻关”，推动人工智能与实体经济深度融合；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月份国务院发布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关于深入实施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“人工智能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+”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行动的意见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97072" y="3609123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4551FF-272A-4B62-AA4C-4A17E4F9482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2000" y="663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</a:rPr>
              <a:t>国家政策及行业发展背景</a:t>
            </a:r>
            <a:endParaRPr lang="en-US" altLang="zh-CN" sz="2400" b="1" dirty="0">
              <a:solidFill>
                <a:srgbClr val="0028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09836" y="1125000"/>
            <a:ext cx="10730164" cy="5307760"/>
            <a:chOff x="1024292" y="1216201"/>
            <a:chExt cx="10730164" cy="5620418"/>
          </a:xfrm>
        </p:grpSpPr>
        <p:grpSp>
          <p:nvGrpSpPr>
            <p:cNvPr id="10" name="组合 0"/>
            <p:cNvGrpSpPr/>
            <p:nvPr/>
          </p:nvGrpSpPr>
          <p:grpSpPr>
            <a:xfrm>
              <a:off x="1867123" y="1216201"/>
              <a:ext cx="8457754" cy="3509295"/>
              <a:chOff x="1867123" y="1216201"/>
              <a:chExt cx="8457754" cy="3509295"/>
            </a:xfrm>
          </p:grpSpPr>
          <p:sp>
            <p:nvSpPr>
              <p:cNvPr id="39" name="0"/>
              <p:cNvSpPr/>
              <p:nvPr/>
            </p:nvSpPr>
            <p:spPr>
              <a:xfrm>
                <a:off x="1867123" y="2565799"/>
                <a:ext cx="8457754" cy="2159697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4CD2FF"/>
                  </a:gs>
                  <a:gs pos="80000">
                    <a:schemeClr val="accent5"/>
                  </a:gs>
                  <a:gs pos="0">
                    <a:srgbClr val="BAE9F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0"/>
              <p:cNvSpPr/>
              <p:nvPr/>
            </p:nvSpPr>
            <p:spPr>
              <a:xfrm>
                <a:off x="2165037" y="2477669"/>
                <a:ext cx="7861926" cy="19947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  <a:gs pos="38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产教深度融合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1" name="0"/>
              <p:cNvSpPr/>
              <p:nvPr/>
            </p:nvSpPr>
            <p:spPr>
              <a:xfrm>
                <a:off x="3263854" y="2667396"/>
                <a:ext cx="5664292" cy="1199482"/>
              </a:xfrm>
              <a:prstGeom prst="ellipse">
                <a:avLst/>
              </a:prstGeom>
              <a:noFill/>
              <a:ln w="38100" cap="rnd" cmpd="sng">
                <a:gradFill>
                  <a:gsLst>
                    <a:gs pos="50000">
                      <a:schemeClr val="accent5"/>
                    </a:gs>
                    <a:gs pos="84000">
                      <a:schemeClr val="accent1">
                        <a:lumMod val="20000"/>
                        <a:lumOff val="80000"/>
                      </a:schemeClr>
                    </a:gs>
                    <a:gs pos="1000">
                      <a:srgbClr val="4CD2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16200000" scaled="0"/>
                </a:gra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2" name="0"/>
              <p:cNvSpPr/>
              <p:nvPr/>
            </p:nvSpPr>
            <p:spPr>
              <a:xfrm>
                <a:off x="5120071" y="1344269"/>
                <a:ext cx="1988663" cy="1988663"/>
              </a:xfrm>
              <a:prstGeom prst="ellipse">
                <a:avLst/>
              </a:prstGeom>
              <a:gradFill>
                <a:gsLst>
                  <a:gs pos="75000">
                    <a:srgbClr val="75A3FD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2"/>
                  </a:gs>
                </a:gsLst>
                <a:lin ang="3600000" scaled="0"/>
              </a:gradFill>
              <a:ln>
                <a:noFill/>
              </a:ln>
              <a:effectLst>
                <a:outerShdw blurRad="38100" algn="ctr" rotWithShape="0">
                  <a:schemeClr val="accent1">
                    <a:alpha val="4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3" name="0"/>
              <p:cNvSpPr/>
              <p:nvPr/>
            </p:nvSpPr>
            <p:spPr>
              <a:xfrm rot="16200000">
                <a:off x="4974922" y="121620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0"/>
              <p:cNvSpPr/>
              <p:nvPr/>
            </p:nvSpPr>
            <p:spPr>
              <a:xfrm rot="5400000">
                <a:off x="6080887" y="233519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0"/>
              <p:cNvSpPr/>
              <p:nvPr/>
            </p:nvSpPr>
            <p:spPr>
              <a:xfrm>
                <a:off x="5445415" y="1669612"/>
                <a:ext cx="1337974" cy="1337976"/>
              </a:xfrm>
              <a:prstGeom prst="ellipse">
                <a:avLst/>
              </a:prstGeom>
              <a:gradFill flip="none" rotWithShape="1">
                <a:gsLst>
                  <a:gs pos="6400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0"/>
              <p:cNvSpPr/>
              <p:nvPr/>
            </p:nvSpPr>
            <p:spPr>
              <a:xfrm>
                <a:off x="5261157" y="1485354"/>
                <a:ext cx="1706490" cy="1706492"/>
              </a:xfrm>
              <a:prstGeom prst="ellipse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8400000" scaled="0"/>
                </a:gra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Index-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80215" y="1892749"/>
                <a:ext cx="1431569" cy="513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具身</a:t>
                </a:r>
                <a:endParaRPr lang="en-US" altLang="zh-CN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智能</a:t>
                </a:r>
                <a:endParaRPr lang="zh-CN" altLang="en-US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组合 1"/>
            <p:cNvGrpSpPr/>
            <p:nvPr/>
          </p:nvGrpSpPr>
          <p:grpSpPr>
            <a:xfrm>
              <a:off x="1024292" y="3620025"/>
              <a:ext cx="3023999" cy="2611758"/>
              <a:chOff x="254754" y="3108949"/>
              <a:chExt cx="3023999" cy="2611758"/>
            </a:xfrm>
          </p:grpSpPr>
          <p:sp>
            <p:nvSpPr>
              <p:cNvPr id="34" name="Title-1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795987" y="4103408"/>
                <a:ext cx="2103291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国家战略高度定位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5" name="Body-1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254754" y="4472740"/>
                <a:ext cx="3023999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2025 年首次写入《政府工作报告》，2026 年再次明确为重点培育的未来产业。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“十五五” 规划将其列为新经济增长点，定位为全球科技竞争的核心赛道</a:t>
                </a:r>
                <a:r>
                  <a:rPr kumimoji="0" lang="en-US" altLang="zh-CN" sz="3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.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政策目标：2030 年市场规模约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4000 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，2035 年突破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万亿元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ctr"/>
                <a:endParaRPr lang="zh-CN" altLang="en-US" sz="1000" dirty="0">
                  <a:effectLst/>
                  <a:latin typeface="+mj-ea"/>
                  <a:ea typeface="+mj-ea"/>
                </a:endParaRPr>
              </a:p>
            </p:txBody>
          </p:sp>
          <p:sp>
            <p:nvSpPr>
              <p:cNvPr id="36" name="1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7" name="1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2"/>
            <p:cNvGrpSpPr/>
            <p:nvPr/>
          </p:nvGrpSpPr>
          <p:grpSpPr>
            <a:xfrm>
              <a:off x="4770453" y="4238580"/>
              <a:ext cx="3456001" cy="2598039"/>
              <a:chOff x="567866" y="3108949"/>
              <a:chExt cx="3456001" cy="2598039"/>
            </a:xfrm>
          </p:grpSpPr>
          <p:sp>
            <p:nvSpPr>
              <p:cNvPr id="29" name="Title-2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639868" y="4032668"/>
                <a:ext cx="2736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技术成熟度：快速迭代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0" name="Body-2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67866" y="4459021"/>
                <a:ext cx="3456001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核心突破：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大模型 + 机器人本体 + 多模态感知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深度融合，实现 “感知 - 决策 - 执行” 闭环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硬件：人形 / 四足 / 机械臂等载体成熟，灵巧手、关节模组、力觉传感等关键部件快速迭代。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软件：具身 VLA 大模型、大小脑分离架构、数字孪生仿真训练，大幅降低落地门槛。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2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2" name="2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3"/>
            <p:cNvGrpSpPr/>
            <p:nvPr/>
          </p:nvGrpSpPr>
          <p:grpSpPr>
            <a:xfrm flipH="1">
              <a:off x="8730456" y="3581935"/>
              <a:ext cx="3024000" cy="2649848"/>
              <a:chOff x="-15856" y="3108949"/>
              <a:chExt cx="3024000" cy="2649848"/>
            </a:xfrm>
          </p:grpSpPr>
          <p:sp>
            <p:nvSpPr>
              <p:cNvPr id="16" name="Title-3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60144" y="4055155"/>
                <a:ext cx="2448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产业生态与资本热度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7" name="Body-3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-15856" y="4472739"/>
                <a:ext cx="3024000" cy="12860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国内超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150 家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人形机器人企业，产业链（核心部件 - 整机 - 场景应用）初步成型。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投融资活跃：天使轮 / Pre-A 轮融资密集，产业资本与地方基金加速布局。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阶段判断：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6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-202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年工业场景规模化落地，202</a:t>
                </a:r>
                <a:r>
                  <a:rPr kumimoji="0" lang="en-US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年后家庭 / 服务场景逐步渗透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3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7" name="3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pic>
        <p:nvPicPr>
          <p:cNvPr id="52" name="图形 5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8079" y="4141165"/>
            <a:ext cx="558278" cy="558278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215798" y="6535756"/>
            <a:ext cx="7760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资本与智力都快速聚集到该领域，硬件、软件、模型快速迭代，在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3-5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年内即将迎来具身智能的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ChatGPT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时刻！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4675" y="318214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AI+</a:t>
            </a:r>
            <a:r>
              <a:rPr lang="zh-CN" altLang="en-US" b="1" dirty="0"/>
              <a:t>机器人</a:t>
            </a:r>
            <a:endParaRPr lang="zh-CN" altLang="en-US" b="1" dirty="0"/>
          </a:p>
        </p:txBody>
      </p:sp>
      <p:pic>
        <p:nvPicPr>
          <p:cNvPr id="14" name="图形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72067" y="3502166"/>
            <a:ext cx="622065" cy="62206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53900" y="3459831"/>
            <a:ext cx="575252" cy="5752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3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52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3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3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40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3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3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3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7_3*l_h_f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7_3*l_h_a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IRTUALLY_FRAME" val="{&quot;height&quot;:487.2,&quot;left&quot;:-65.85,&quot;top&quot;:39.7,&quot;width&quot;:1050.0216522216797}"/>
  <p:tag name="KSO_WM_UNIT_VALUE" val="761*135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919_1*d*1"/>
  <p:tag name="KSO_WM_TEMPLATE_CATEGORY" val="diagram"/>
  <p:tag name="KSO_WM_TEMPLATE_INDEX" val="20211919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4039ffacf8a04f7a9fe95474914dc7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46a5ded9f054d938f178f453e75bfee"/>
  <p:tag name="KSO_WM_UNIT_PLACING_PICTURE" val="b46a5ded9f054d938f178f453e75bfee"/>
  <p:tag name="KSO_WM_UNIT_SUPPORT_UNIT_TYPE" val="[&quot;d&quot;,&quot;α&quot;,&quot;β&quot;]"/>
  <p:tag name="KSO_WM_TEMPLATE_ASSEMBLE_XID" val="60656f194054ed1e2fb8037c"/>
  <p:tag name="KSO_WM_TEMPLATE_ASSEMBLE_GROUPID" val="60656f194054ed1e2fb8037c"/>
  <p:tag name="KSO_WM_UNIT_PLACING_PICTURE_USER_VIEWPORT" val="{&quot;height&quot;:2748.151181102362,&quot;width&quot;:5031.615748031496}"/>
  <p:tag name="KSO_WM_UNIT_PLACING_PICTURE_INFO" val="{&quot;code&quot;:&quot;&quot;,&quot;full_picture&quot;:false,&quot;margin&quot;:{&quot;left&quot;:16.589721861882026,&quot;right&quot;:16.83245364431673},&quot;scheme&quot;:&quot;2-0&quot;,&quot;spacing&quot;:5}"/>
  <p:tag name="KSO_WM_UNIT_PLACING_PICTURE_USER_VIEWPORT_SMARTMENU" val="{&quot;height&quot;:2748.150808619432,&quot;width&quot;:5031.616304329149}"/>
  <p:tag name="KSO_WM_UNIT_PLACING_PICTURE_USER_RELATIVERECTANGLE_SMARTMENU" val="{&quot;bottom&quot;:0.012342370579141566,&quot;left&quot;:0,&quot;right&quot;:0,&quot;top&quot;:0.012342370579141566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20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0000"/>
  <p:tag name="OP_SCP_COMPONENT_INFO" val="{&quot;title&quot;:&quot;蓝白色环形3项总分总结PPT组件&quot;,&quot;description&quot;:&quot;蓝白色环形3项总分总结PPT组件&quot;,&quot;keywords&quot;:[&quot;蓝色&quot;,&quot;白色&quot;,&quot;环形&quot;,&quot;3项&quot;,&quot;总分&quot;,&quot;总结&quot;,&quot;PPT组件&quot;],&quot;labels&quot;:[]}"/>
  <p:tag name="OP_SCP_GROUP_ID" val="bd8919d8-8d42-7ebd-7984-07bfa7a2e4c0"/>
  <p:tag name="OP_SCP_ITEM_COUNT" val="3"/>
</p:tagLst>
</file>

<file path=ppt/tags/tag21.xml><?xml version="1.0" encoding="utf-8"?>
<p:tagLst xmlns:p="http://schemas.openxmlformats.org/presentationml/2006/main">
  <p:tag name="OP_SCP_SHAPE_TYPE" val="Index"/>
  <p:tag name="OP_SCP_ITEM_INDEX" val="0"/>
  <p:tag name="OP_SCP_DEFAULT_TEXT" val="03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"/>
</p:tagLst>
</file>

<file path=ppt/tags/tag2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"/>
</p:tagLst>
</file>

<file path=ppt/tags/tag26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TYPE" val="icon"/>
</p:tagLst>
</file>

<file path=ppt/tags/tag30.xml><?xml version="1.0" encoding="utf-8"?>
<p:tagLst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veerpa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WPS 演示</Application>
  <PresentationFormat>宽屏</PresentationFormat>
  <Paragraphs>79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等线</vt:lpstr>
      <vt:lpstr>ui-sans-serif</vt:lpstr>
      <vt:lpstr>ui-sans-serif</vt:lpstr>
      <vt:lpstr>Microsoft Sans Serif</vt:lpstr>
      <vt:lpstr>WPS</vt:lpstr>
      <vt:lpstr>3_Office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6</cp:revision>
  <dcterms:created xsi:type="dcterms:W3CDTF">2023-08-09T12:44:00Z</dcterms:created>
  <dcterms:modified xsi:type="dcterms:W3CDTF">2026-07-25T12:02:26Z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2544446F31DC4AF095D0A5D66B3D6360_12</vt:lpwstr>
  </property>
</Properties>
</file>