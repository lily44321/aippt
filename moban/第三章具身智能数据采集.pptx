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7"/>
  </p:notesMasterIdLst>
  <p:sldIdLst>
    <p:sldId id="272" r:id="rId5"/>
    <p:sldId id="258" r:id="rId6"/>
    <p:sldId id="260" r:id="rId8"/>
    <p:sldId id="261" r:id="rId9"/>
    <p:sldId id="262" r:id="rId10"/>
    <p:sldId id="264" r:id="rId11"/>
    <p:sldId id="265" r:id="rId12"/>
    <p:sldId id="266" r:id="rId13"/>
    <p:sldId id="268" r:id="rId14"/>
    <p:sldId id="269" r:id="rId15"/>
    <p:sldId id="271" r:id="rId16"/>
    <p:sldId id="273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49650" initials="4" lastIdx="0" clrIdx="0"/>
  <p:cmAuthor id="2" name="tonydong" initials="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直观地展示了具身智能数据采集与应用的完整闭环。从广泛的数据采集开始，经过离线预训练和模型优化，最终在真机上部署并通过真实场景数据回流，不断扩展数据集，形成一个持续进化的飞轮。接下来，我们将深入每个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规划阶段，我们首先要明确我们为什么要采集数据，它能带来什么业务价值。然后，我们需要精确地定义数据需求，包括数据类型、规模和质量标准。同时，我们必须在真实性、规模和成本之间做出权衡，并建立一套完善的项目管理框架来确保项目顺利进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规划阶段的关键任务包括三个方面。首先是需求拆解，我们需要将复杂任务分解为机器人可执行的原子动作，并定义好数据需求文档。其次是制定数据策略，选择合适的采集技术路线并设计数据闭环。最后，建立项目管理框架，明确分工和质量标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规划阶段，有几个最佳实践需要注意。首先是在数据的真实性、规模和成本之间做好权衡。其次，要高度重视失败样本的采集，它们对于模型的鲁棒性至关重要。此外，必须从一开始就建立数据血缘追溯机制。最后，加强数据团队和算法团队的协作是项目成功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采集的第一步是硬件选型。我们需要根据任务需求选择合适的传感器，如RGB-D相机、LiDAR、IMU和力传感器等。同时，必须选择性能足够的计算平台，并建立高精度的同步机制，以保证多模态数据在时间和空间上的一致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主流的数据采集技术路线有四种。真机遥操作能获得最真实的数据，但成本高、规模小。仿真生成可以低成本、大规模地生成数据，但存在仿真与现实的差距。动作捕捉是一种轻量级方案，而人类自我中心视角采集则能提供海量的通用先验知识。在实际项目中，通常需要组合使用这些技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数据采集阶段，有几个技术要点需要注意。首先，要保证多视角覆盖，避免遮挡。其次，传感器的采集频率要足够高，以捕捉完整的动态过程。同时，要做好数据压缩与存储，以降低成本。最后，在真机采集时，安全机制是重中之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处理与标注的关键任务包括三个方面。首先是数据预处理，包括清洗、对齐和标准化。其次是数据标注，这是一个耗时但至关重要的环节，需要对任务步骤、轨迹和奖励进行精细标注。最后，我们可以利用AI辅助标注和主动学习技术，大幅提升标注效率和质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数据处理与标注阶段，我们需要选择专业的标注工具，并建立严格的质量控制体系，如双盲交叉验证和定期抽检。同时，必须采用标准化的数据格式。最理想的状态是建立一个自动化的主动学习闭环，让数据和模型相互促进，共同进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数据应用与迭代阶段的关键任务包括四个方面。首先是建立高效的模型训练流水线，通常采用多阶段训练的方式。其次，要解决Sim-to-Real Gap问题，让仿真模型能在真实世界中有效工作。第三，要建立全面的模型评估体系，不能只看成功率。最后，也是最重要的一点，是构建数据闭环，通过部署后的数据回流，实现模型的持续迭代和进化。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5.svg"/><Relationship Id="rId7" Type="http://schemas.openxmlformats.org/officeDocument/2006/relationships/image" Target="../media/image14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9.svg"/><Relationship Id="rId7" Type="http://schemas.openxmlformats.org/officeDocument/2006/relationships/image" Target="../media/image28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5.svg"/><Relationship Id="rId7" Type="http://schemas.openxmlformats.org/officeDocument/2006/relationships/image" Target="../media/image34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Relationship Id="rId3" Type="http://schemas.openxmlformats.org/officeDocument/2006/relationships/image" Target="../media/image30.png"/><Relationship Id="rId2" Type="http://schemas.openxmlformats.org/officeDocument/2006/relationships/image" Target="../media/image7.sv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3.svg"/><Relationship Id="rId7" Type="http://schemas.openxmlformats.org/officeDocument/2006/relationships/image" Target="../media/image42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47.svg"/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.svg"/><Relationship Id="rId7" Type="http://schemas.openxmlformats.org/officeDocument/2006/relationships/image" Target="../media/image4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3.svg"/><Relationship Id="rId3" Type="http://schemas.openxmlformats.org/officeDocument/2006/relationships/image" Target="../media/image42.png"/><Relationship Id="rId2" Type="http://schemas.openxmlformats.org/officeDocument/2006/relationships/image" Target="../media/image49.sv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.svg"/><Relationship Id="rId7" Type="http://schemas.openxmlformats.org/officeDocument/2006/relationships/image" Target="../media/image4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53.sv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647152" y="2500515"/>
            <a:ext cx="1513800" cy="365125"/>
          </a:xfrm>
        </p:spPr>
        <p:txBody>
          <a:bodyPr/>
          <a:lstStyle/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  <p:sp>
        <p:nvSpPr>
          <p:cNvPr id="17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 defTabSz="914400">
              <a:spcBef>
                <a:spcPct val="0"/>
              </a:spcBef>
              <a:spcAft>
                <a:spcPct val="0"/>
              </a:spcAft>
            </a:pPr>
            <a:r>
              <a:rPr lang="zh-CN" sz="1600" kern="12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  <a:cs typeface="+mn-cs"/>
                <a:sym typeface="+mn-ea"/>
              </a:rPr>
              <a:t>AI 生成</a:t>
            </a:r>
            <a:endParaRPr lang="zh-CN" sz="1600" kern="12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3" name="Rectangle 1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59328" y="439098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支撑“具身智能</a:t>
            </a:r>
            <a:r>
              <a:rPr kumimoji="1" lang="en-US" altLang="zh-CN" sz="24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“</a:t>
            </a:r>
            <a:r>
              <a:rPr kumimoji="1" lang="zh-CN" altLang="en-US" sz="24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建设的配套资源</a:t>
            </a:r>
            <a:endParaRPr kumimoji="1" lang="zh-CN" altLang="en-US" sz="2400" b="1" kern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4" name="Rectangle 1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71110" y="4390887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4</a:t>
            </a:r>
            <a:endParaRPr lang="en-US" altLang="zh-CN" sz="2400" b="1" kern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75160" y="1722745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图灵智新</a:t>
            </a:r>
            <a:r>
              <a:rPr kumimoji="1" lang="zh-CN" altLang="en-US" sz="24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介绍</a:t>
            </a:r>
            <a:endParaRPr kumimoji="1" lang="zh-CN" altLang="en-US" sz="2400" b="1" kern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3" name="Rectangle 1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86942" y="1722652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1</a:t>
            </a:r>
            <a:endParaRPr lang="en-US" altLang="zh-CN" sz="2400" b="1" kern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5" name="Rectangle 1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59060" y="3526112"/>
            <a:ext cx="7365995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具身智能数据采集全流程指南</a:t>
            </a:r>
            <a:endParaRPr kumimoji="1"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Rectangle 1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270842" y="3526019"/>
            <a:ext cx="517283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Rectangle 1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59920" y="259714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l" defTabSz="91440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具身智能</a:t>
            </a:r>
            <a:r>
              <a:rPr kumimoji="1" lang="zh-CN" altLang="en-US" sz="24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机器人产业背景及国家政策</a:t>
            </a:r>
            <a:endParaRPr kumimoji="1" lang="zh-CN" altLang="en-US" sz="2400" b="1" kern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8" name="Rectangle 12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271702" y="2597047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2</a:t>
            </a:r>
            <a:endParaRPr lang="en-US" altLang="zh-CN" sz="2400" b="1" kern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52C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0052C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具身智能数据采集全流程概览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231" r="231"/>
          <a:stretch>
            <a:fillRect/>
          </a:stretch>
        </p:blipFill>
        <p:spPr>
          <a:xfrm>
            <a:off x="711200" y="1651000"/>
            <a:ext cx="5334000" cy="2857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11200" y="4826000"/>
            <a:ext cx="533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直观呈现了具身智能从数据源头汇聚、模型训练优化到真机部署应用的全链路闭环。这一流程不仅是数据的流转，更是模型从理论学习到实践应用、并通过真实反馈持续进化的核心逻辑，构成了具身智能系统不断自我完善的基础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0" y="16510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0052CC">
              <a:alpha val="6000"/>
            </a:srgbClr>
          </a:solidFill>
          <a:ln w="12700" cap="flat" cmpd="sng">
            <a:solidFill>
              <a:srgbClr val="0052CC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0200" y="18542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62800" y="18288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多源异构数据汇聚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80200" y="2286000"/>
            <a:ext cx="4673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融合手工精细采集、高保真仿真数据、互联网海量开源数据与真实场景动态回流，打破单一数据源局限，构建多模态、高质量的具身智能训练底座。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32766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0052CC">
              <a:alpha val="6000"/>
            </a:srgbClr>
          </a:solidFill>
          <a:ln w="12700" cap="flat" cmpd="sng">
            <a:solidFill>
              <a:srgbClr val="0052CC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0200" y="34798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62800" y="3454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闭环式模型进化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80200" y="3911600"/>
            <a:ext cx="4673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从离线预训练习得通用能力，到下游任务在线微调适配场景；结合真实场景虚拟化与生成式数据增广技术，弥补数据稀疏性，实现模型决策能力的持续迭代。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49022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0052CC">
              <a:alpha val="6000"/>
            </a:srgbClr>
          </a:solidFill>
          <a:ln w="12700" cap="flat" cmpd="sng">
            <a:solidFill>
              <a:srgbClr val="0052CC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80200" y="51054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62800" y="5080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端到端真机落地飞轮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80200" y="5537200"/>
            <a:ext cx="4673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将优化后的模型部署至实体机器人，在真实物理环境中执行任务并实时反馈环境数据，形成“采集-训练-部署-反馈”的正向闭环，持续驱动系统智能升级。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52C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0052C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定义与核心目标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397000"/>
            <a:ext cx="10769600" cy="1270000"/>
          </a:xfrm>
          <a:prstGeom prst="roundRect">
            <a:avLst>
              <a:gd name="adj" fmla="val 0"/>
            </a:avLst>
          </a:prstGeom>
          <a:solidFill>
            <a:srgbClr val="0052CC">
              <a:alpha val="8000"/>
            </a:srgbClr>
          </a:solidFill>
          <a:ln cap="flat" cmpd="sng">
            <a:solidFill>
              <a:srgbClr val="0048B3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14400" y="1549400"/>
            <a:ext cx="10363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项目起点：规划与定义的核心内涵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与定义是具身智能数据项目的基石，通过系统性的业务拆解与需求分析，锚定数据采集的目标方向、覆盖边界、质量基准与实施路径，为后续全流程提供清晰的行动纲领与评判标准，避免盲目采集导致的资源浪费与方向偏差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11200" y="3048000"/>
            <a:ext cx="5207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2CC">
                <a:alpha val="15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33020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33401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明确业务价值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873500"/>
            <a:ext cx="4597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聚焦数据采集的核心驱动力，锁定业务场景中的关键痛点（如任务成功率低、场景泛化能力弱等），量化数据投入对业务指标的提升预期，确保采集目标与真实业务价值强绑定，拒绝无目的的数据堆积。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73800" y="3048000"/>
            <a:ext cx="5207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2CC">
                <a:alpha val="15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8600" y="3302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213600" y="33401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定义数据需求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78600" y="3873500"/>
            <a:ext cx="4597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将抽象需求转化为可执行的量化指标：明确数据的类型规格（图像/点云/文本）、规模量级、质量红线与具体采集场景，制定清晰的标注标准与验收规范，让采集工作有章可循，从源头保障数据有效性。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11200" y="5143500"/>
            <a:ext cx="5207000" cy="17145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2CC">
                <a:alpha val="15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397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54102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制定采集策略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59055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破解数据采集的“不可能三角”，在数据真实性、规模化量级与采集成本之间寻找最优平衡点。结合场景特性选择实地采集或仿真合成，设计高效、经济且符合伦理规范的采集实施路径。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73800" y="5143500"/>
            <a:ext cx="5207000" cy="17145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2CC">
                <a:alpha val="15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78600" y="5397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213600" y="54102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建立管理框架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578600" y="59055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搭建全流程管控体系，明确角色分工、任务排期与质量审核节点。建立数据安全规范与风险应对机制，保障数据的合规采集与使用，确保项目按时、按质、按量交付。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7620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关键任务：需求拆解与策略制定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3048000" cy="381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2CC">
                <a:alpha val="40000"/>
              </a:srgbClr>
            </a:solidFill>
            <a:prstDash val="solid"/>
            <a:round/>
          </a:ln>
          <a:effectLst>
            <a:outerShdw blurRad="152400" dist="50800" dir="5400000" algn="tl" rotWithShape="0">
              <a:srgbClr val="0052CC">
                <a:alpha val="10000"/>
              </a:srgbClr>
            </a:outerShdw>
          </a:effectLst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0" y="2667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270000" y="342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需求拆解与定义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4000500"/>
            <a:ext cx="254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任务原子化拆解，明确执行单元与判定条件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界定场景差异，输出标准DRD文档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前置验收标准，规避后期返工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2000" y="2286000"/>
            <a:ext cx="3048000" cy="381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2CC">
                <a:alpha val="40000"/>
              </a:srgbClr>
            </a:solidFill>
            <a:prstDash val="solid"/>
            <a:round/>
          </a:ln>
          <a:effectLst>
            <a:outerShdw blurRad="152400" dist="50800" dir="5400000" algn="tl" rotWithShape="0">
              <a:srgbClr val="0052CC">
                <a:alpha val="10000"/>
              </a:srgbClr>
            </a:outerShdw>
          </a:effectLst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0" y="2667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826000" y="342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数据策略与闭环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826000" y="4000500"/>
            <a:ext cx="254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多路线技术适配，平衡效率与真实度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设计数据闭环飞轮，优化采集侧重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专项补充长尾场景，突破泛化瓶颈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2286000"/>
            <a:ext cx="3048000" cy="381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2CC">
                <a:alpha val="40000"/>
              </a:srgbClr>
            </a:solidFill>
            <a:prstDash val="solid"/>
            <a:round/>
          </a:ln>
          <a:effectLst>
            <a:outerShdw blurRad="152400" dist="50800" dir="5400000" algn="tl" rotWithShape="0">
              <a:srgbClr val="0052CC">
                <a:alpha val="10000"/>
              </a:srgbClr>
            </a:outerShdw>
          </a:effectLst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8000" y="2667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382000" y="342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管理与质量保障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4000500"/>
            <a:ext cx="254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明确角色权责，建立SOP管控机制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量化质检体系，杜绝低质无效数据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协同资源进度，保障供给同频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051300" y="3987800"/>
            <a:ext cx="406400" cy="406400"/>
          </a:xfrm>
          <a:prstGeom prst="rightArrow">
            <a:avLst/>
          </a:prstGeom>
          <a:solidFill>
            <a:srgbClr val="0052CC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07300" y="3987800"/>
            <a:ext cx="406400" cy="406400"/>
          </a:xfrm>
          <a:prstGeom prst="rightArrow">
            <a:avLst/>
          </a:prstGeom>
          <a:solidFill>
            <a:srgbClr val="0052CC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762000"/>
            <a:ext cx="2540000" cy="2540000"/>
          </a:xfrm>
          <a:prstGeom prst="ellipse">
            <a:avLst/>
          </a:prstGeom>
          <a:solidFill>
            <a:srgbClr val="0052C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508000" y="5588000"/>
            <a:ext cx="1905000" cy="1905000"/>
          </a:xfrm>
          <a:prstGeom prst="ellipse">
            <a:avLst/>
          </a:prstGeom>
          <a:solidFill>
            <a:srgbClr val="0052C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技术要点与最佳实践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5080000" cy="508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74800" y="1854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不可能三角权衡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413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研发早期侧重仿真数据以快速验证算法逻辑；产品化阶段需大幅提升真实世界数据占比，在数据真实性、规模量级与采集成本间动态平衡，确保模型具备工程级鲁棒性。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080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5080000" cy="508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508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74800" y="4521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失败样本的核心价值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080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失败样本的价值往往高于完美成功样本，是实现模型“行为纠偏”的关键钥匙。需在规划期就制定针对性采集策略，重点覆盖边缘场景、异常工况与长尾分布，有效补足模型的认知盲区。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1524000"/>
            <a:ext cx="5080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0000" y="1524000"/>
            <a:ext cx="5080000" cy="508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1841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62800" y="1854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全链路数据血缘追溯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2413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从项目启动首日起，即引入DVC等专业数据版本控制工具，确保每一份数据的来源、标注规则、预处理流程及使用历史可追溯。这是复现实验结果、排查模型漂移、满足合规审计的基础保障。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4191000"/>
            <a:ext cx="5080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50000" y="4191000"/>
            <a:ext cx="5080000" cy="508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4508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62800" y="4521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跨团队协同响应机制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604000" y="5080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建立数据团队与算法团队的周会同步与需求快速响应机制，让数据采集、清洗与标注的节奏精准匹配算法迭代周期。打破部门墙与信息壁垒，避免出现数据供给滞后或与算法需求脱节的情况。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52CC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0052CC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关键任务：硬件选型与配置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7780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核心感知层：多模态传感器融合矩阵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11200" y="5270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支撑层：算力与同步保障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711200" y="2349500"/>
          <a:ext cx="107696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4445000"/>
                <a:gridCol w="4038600"/>
              </a:tblGrid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52C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传感器名称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5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52C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核心功能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5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52C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应用场景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5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RGB-D 相机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5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同步采集彩色纹理图像与环境深度信息，构建三维空间认知。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5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视觉感知基础，适用于近距离环境建模与物体识别。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5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激光雷达 (LiDAR)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提供高精度3D点云数据，具备强抗干扰性。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大场景建图、自主导航的核心设备。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惯性测量单元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高频输出加速度与角速度，实时解算机器人姿态。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弥补视觉传感器动态延迟，辅助定位与运动控制。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力/力矩传感器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精准感知末端执行器的接触力。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实现机器人柔顺控制与精细操作的关键。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高精度编码器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反馈关节的实际位置与转速，构成伺服闭环控制基础。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确保机器人关节运动精度与轨迹跟踪。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711200" y="5778500"/>
            <a:ext cx="520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高性能边缘计算单元：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选用NVIDIA Jetson AGX/Orin等异构计算平台，提供数十TOPS算力，满足SLAM建图、实时点云处理及多传感器融合算法的高负载并行计算需求，实现端侧智能决策。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73800" y="5778500"/>
            <a:ext cx="520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微秒级时空同步架构：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采用硬件GPIO触发采集与PTP精密时钟协议，消除传感器间的时间漂移，确保图像、点云与惯导数据在微秒级对齐，为多模态融合提供可靠的时空一致性基准。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关键任务：采集技术路线实施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905000"/>
            <a:ext cx="254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数据真实性（高→低）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609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规模化程度（低 → 高）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00" y="1905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1841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真机遥操作 (Teleoperation)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2603500"/>
            <a:ext cx="457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方式：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人类专家远程操控机器人，复刻真实场景下的任务执行流程。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数据具备物理世界最高真实度，是模仿学习的“黄金样本”。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高度依赖人力，采集效率低且成本高昂，难以规模化扩展。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41910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239000" y="4127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仿真数据生成 (Simulation)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47625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方式：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基于物理引擎在虚拟环境中，程序化生成大规模、多样化的合成数据。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零硬件损耗、低成本量产，支持极端工况与无限试错。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存在“仿真到现实”的迁移鸿沟，需通过算法校准还原真实物理特性。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4191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905000" y="4127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动作捕捉与映射 (UMI)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270000" y="47625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方式：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利用光学或惯性动捕设备捕捉人体姿态，实时映射至虚拟机器人模型。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无需实体机器人本体即可完成数据采集，显著降低硬件门槛。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高效复现人类复杂的肢体协调逻辑，为机器人运动控制提供优质参考。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1905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239000" y="1841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人类自我中心视角采集 (Egocentric)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04000" y="2603500"/>
            <a:ext cx="457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方式：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通过智能眼镜等可穿戴设备，采集第一人称视角下的海量日常交互数据。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数据规模极大、场景覆盖极广，富含人类决策与交互细节。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挖掘人类通用的行为模式与生活常识，赋予机器人对环境的直观理解。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52C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0052C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技术要点与最佳实践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07000" cy="2413000"/>
          </a:xfrm>
          <a:prstGeom prst="roundRect">
            <a:avLst>
              <a:gd name="adj" fmla="val 0"/>
            </a:avLst>
          </a:prstGeom>
          <a:solidFill>
            <a:srgbClr val="E8F1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18288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76400" y="18288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多视角覆盖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66800" y="2438400"/>
            <a:ext cx="45974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同步采集全局、手眼及第三方视角，消除视觉遮挡盲区，构建全方位、无死角的场景信息感知体系，为机器人决策提供完整的环境数据支撑。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07000" cy="2413000"/>
          </a:xfrm>
          <a:prstGeom prst="roundRect">
            <a:avLst>
              <a:gd name="adj" fmla="val 0"/>
            </a:avLst>
          </a:prstGeom>
          <a:solidFill>
            <a:srgbClr val="D1E4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7800" y="18288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37400" y="18288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高频采集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27800" y="2438400"/>
            <a:ext cx="45974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传感器采集频率需数倍于控制频率（如100Hz+），精准捕捉关节运动、力反馈的瞬态变化，完整还原机器人动态交互过程，避免关键运动细节丢失。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5207000" cy="2413000"/>
          </a:xfrm>
          <a:prstGeom prst="roundRect">
            <a:avLst>
              <a:gd name="adj" fmla="val 0"/>
            </a:avLst>
          </a:prstGeom>
          <a:solidFill>
            <a:srgbClr val="BAD7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44958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676400" y="44958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数据压缩与存储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66800" y="5105400"/>
            <a:ext cx="45974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采用H.265等高效编码与轻量级压缩算法，在保留关键特征与数据精度的前提下，大幅降低存储占用与传输带宽，平衡数据质量与成本效益。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4191000"/>
            <a:ext cx="5207000" cy="2413000"/>
          </a:xfrm>
          <a:prstGeom prst="roundRect">
            <a:avLst>
              <a:gd name="adj" fmla="val 0"/>
            </a:avLst>
          </a:prstGeom>
          <a:solidFill>
            <a:srgbClr val="A3CA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7800" y="44958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37400" y="44958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安全机制保障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27800" y="5105400"/>
            <a:ext cx="45974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部署硬件急停按钮与软件层级的碰撞检测、运动限制保护机制，在真机采集过程中实时监控状态，从物理与逻辑双重层面规避设备碰撞与硬件损坏风险。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52C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0052C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关键任务：从原始数据到高质量数据集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778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2CC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112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200" y="21336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73200" y="21336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数据预处理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9652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65200" y="3048000"/>
            <a:ext cx="30226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清洗去噪：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剔除异常值、噪声与无效数据，确保数据纯净度，夯实模型训练基础。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时空对齐：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基于高精度时间戳与传感器标定，实现视觉、力控等多模态数据的毫秒级精准匹配。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特征标准化：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对物理量进行归一化处理，消除量纲影响，提升模型收敛速度与稳定性。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381500" y="1778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2CC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815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1336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43500" y="21336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数据精细标注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946">
            <a:off x="46355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35500" y="3048000"/>
            <a:ext cx="30226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任务切分：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将复杂的长时序任务拆解为离散、可执行的原子级动作单元，明确行为边界。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轨迹与状态：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精准标注机器人末端执行器在3D空间的运动轨迹、关节角度及环境状态参数。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奖惩归因：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为强化学习定义清晰的奖励信号，并对失败样本进行根因分析与标签补充。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051800" y="1778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2CC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0518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1336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813800" y="21336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智能增强与主动学习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946">
            <a:off x="83058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305800" y="3048000"/>
            <a:ext cx="30226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AI预标注：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利用预训练模型自动完成初筛与粗标注，可降低30%-55%的人工标注工时，大幅提升效率。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主动学习闭环：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智能识别模型预测不确定性高的“难例”样本，优先交由专家复核，以最小标注成本实现模型性能的最大化提升。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11200" y="5969000"/>
            <a:ext cx="1076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核心价值：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高质量的数据集是机器人智能算法的“燃料”，规范的处理与标注流程直接决定了算法的上限与落地效率。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52C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0052C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技术要点与最佳实践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524000"/>
            <a:ext cx="52324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11200" y="1524000"/>
            <a:ext cx="76200" cy="2222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74800" y="17780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专业标注工具选型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413000"/>
            <a:ext cx="46736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优先选用支持图像、文本、语音等多模态协同标注的专业平台（如Label Studio、Supervisely），可大幅降低跨类型数据的标注门槛，提升团队协作与数据处理效率。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48400" y="1524000"/>
            <a:ext cx="52324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48400" y="1524000"/>
            <a:ext cx="76200" cy="2222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3200" y="1778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17780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全流程质量管控机制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53200" y="2413000"/>
            <a:ext cx="46736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引入双盲交叉验证机制，通过Cohen's Kappa系数量化标注一致性；建立专家定期抽检与异常数据即时纠正流程，从源头保障训练数据的准确性与可靠性。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11200" y="3937000"/>
            <a:ext cx="52324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11200" y="3937000"/>
            <a:ext cx="76200" cy="2222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191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74800" y="41910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统一数据格式规范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4826000"/>
            <a:ext cx="46736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采用JSON等通用结构化格式存储，规范标注元数据（人员、时间、版本）与实体标签定义；制定自动化校验规则，避免格式混乱，确保数据无缝接入模型训练管道。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48400" y="3937000"/>
            <a:ext cx="52324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48400" y="3937000"/>
            <a:ext cx="76200" cy="2222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53200" y="41910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12000" y="41910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主动学习自动化闭环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553200" y="4826000"/>
            <a:ext cx="46736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构建“模型预测→难例挖掘→专家标注→增量训练”的自动化循环，利用主动学习减少无效标注成本，让模型与高质量数据形成正向反馈，持续提升模型精度与数据价值。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关键任务：从数据到模型的持续进化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11200" y="1460500"/>
            <a:ext cx="52324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2C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1460500"/>
            <a:ext cx="5232400" cy="508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200" y="17653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98600" y="17653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模型训练流水线构建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41">
            <a:off x="965209" y="22923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65200" y="2425700"/>
            <a:ext cx="4724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多阶段进阶：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预训练夯实通用基座，经任务微调适配场景，再通过强化学习优化策略，实现能力的阶梯式提升。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协同训练机制：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混合多源数据训练，平衡领域适配性与通用知识记忆，有效防止模型过拟合与“灾难性遗忘”。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48400" y="1460500"/>
            <a:ext cx="52324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2C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48400" y="1460500"/>
            <a:ext cx="5232400" cy="508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02400" y="17653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035800" y="17653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仿真到现实的迁移 (Sim-to-Real)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241">
            <a:off x="6502409" y="22923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502400" y="2425700"/>
            <a:ext cx="4724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领域随机化：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在仿真环境中随机扰动物理与视觉参数，迫使模型剥离环境细节，学习任务的本质规律。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虚实对齐：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利用可微物理引擎缩小动力学差异，结合少量真实数据微调，有效弥合仿真与现实的性能鸿沟。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11200" y="4000500"/>
            <a:ext cx="52324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2C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11200" y="4000500"/>
            <a:ext cx="5232400" cy="508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200" y="43053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498600" y="43053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全维度的模型评估体系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241">
            <a:off x="965209" y="48323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965200" y="4965700"/>
            <a:ext cx="4724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超越成功率：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考核维度拓展至轨迹平滑度、运动效率、抗干扰鲁棒性及人机协作安全性，实现全面评价。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标准化基准：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引入RoboEval等权威基准测试集，在统一的物理场景与任务难度下进行横向对比与效果验证。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248400" y="4000500"/>
            <a:ext cx="52324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2C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248400" y="4000500"/>
            <a:ext cx="5232400" cy="508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02400" y="43053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035800" y="43053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数据闭环驱动持续迭代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9241">
            <a:off x="6502409" y="48323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502400" y="4965700"/>
            <a:ext cx="4724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部署与回流：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模型部署后实时监控运行表现，自动捕捉失败案例与边缘场景数据，经清洗后回流至训练库。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飞轮效应：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回流数据持续扩充训练集，用于新一轮模型微调与优化，形成“数据-模型-应用”的正向进化循环。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647152" y="2500515"/>
            <a:ext cx="1513800" cy="365125"/>
          </a:xfrm>
        </p:spPr>
        <p:txBody>
          <a:bodyPr/>
          <a:lstStyle/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  <p:sp>
        <p:nvSpPr>
          <p:cNvPr id="17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 defTabSz="914400">
              <a:spcBef>
                <a:spcPct val="0"/>
              </a:spcBef>
              <a:spcAft>
                <a:spcPct val="0"/>
              </a:spcAft>
            </a:pPr>
            <a:r>
              <a:rPr lang="zh-CN" sz="1600" kern="12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  <a:cs typeface="+mn-cs"/>
                <a:sym typeface="+mn-ea"/>
              </a:rPr>
              <a:t>AI 生成</a:t>
            </a:r>
            <a:endParaRPr lang="zh-CN" sz="1600" kern="12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75160" y="1722745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图灵智新</a:t>
            </a:r>
            <a:r>
              <a:rPr kumimoji="1" lang="zh-CN" altLang="en-US" sz="24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介绍</a:t>
            </a:r>
            <a:endParaRPr kumimoji="1" lang="zh-CN" altLang="en-US" sz="2400" b="1" kern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3" name="Rectangle 1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86942" y="1722652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1</a:t>
            </a:r>
            <a:endParaRPr lang="en-US" altLang="zh-CN" sz="2400" b="1" kern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7" name="Rectangle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59920" y="259714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l" defTabSz="91440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具身智能</a:t>
            </a:r>
            <a:r>
              <a:rPr kumimoji="1" lang="zh-CN" altLang="en-US" sz="24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机器人产业背景及国家政策</a:t>
            </a:r>
            <a:endParaRPr kumimoji="1" lang="zh-CN" altLang="en-US" sz="2400" b="1" kern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8" name="Rectangle 1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71702" y="2597047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2</a:t>
            </a:r>
            <a:endParaRPr lang="en-US" altLang="zh-CN" sz="2400" b="1" kern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Rectangle 1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74935" y="4420827"/>
            <a:ext cx="7365995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支撑</a:t>
            </a:r>
            <a:r>
              <a:rPr kumimoji="1"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具身智能</a:t>
            </a:r>
            <a:r>
              <a:rPr kumimoji="1"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建设的配套资源</a:t>
            </a:r>
            <a:endParaRPr kumimoji="1"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Rectangle 1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286717" y="4420734"/>
            <a:ext cx="517283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" name="Rectangle 12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271067" y="3501490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3</a:t>
            </a:r>
            <a:endParaRPr lang="en-US" altLang="zh-CN" sz="2400" b="1" kern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9" name="Rectangle 11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059285" y="350149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l" defTabSz="914400"/>
            <a:r>
              <a:rPr kumimoji="1" lang="zh-CN" altLang="en-US" sz="24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具身智能数据采集全流程指南</a:t>
            </a:r>
            <a:endParaRPr kumimoji="1" lang="zh-CN" altLang="en-US" sz="2400" b="1" kern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2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3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4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5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6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7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8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9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10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11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12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13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14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15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16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4113</Words>
  <Application>WPS 演示</Application>
  <PresentationFormat/>
  <Paragraphs>262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Calibri</vt:lpstr>
      <vt:lpstr>Office 主题​​</vt:lpstr>
      <vt:lpstr>默认主题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就这样</cp:lastModifiedBy>
  <cp:revision>2</cp:revision>
  <dcterms:created xsi:type="dcterms:W3CDTF">2026-07-22T09:14:00Z</dcterms:created>
  <dcterms:modified xsi:type="dcterms:W3CDTF">2026-07-25T12:41:19Z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{"Label":"1","ContentProducer":"001191110102MACQD9K64010000","ProduceID":"7665243826604870941","ReservedCode1":"","ContentPropagator":"","PropagateID":"","ReservedCode2":""}</vt:lpwstr>
  </property>
  <property fmtid="{D5CDD505-2E9C-101B-9397-08002B2CF9AE}" pid="3" name="KSOProductBuildVer">
    <vt:lpwstr>2052-12.1.0.24034</vt:lpwstr>
  </property>
  <property fmtid="{D5CDD505-2E9C-101B-9397-08002B2CF9AE}" pid="4" name="ICV">
    <vt:lpwstr>1DDB24493D194E799185537BCFE272F7_12</vt:lpwstr>
  </property>
</Properties>
</file>