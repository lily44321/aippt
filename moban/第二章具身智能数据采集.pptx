
<file path=[Content_Types].xml><?xml version="1.0" encoding="utf-8"?>
<Types xmlns="http://schemas.openxmlformats.org/package/2006/content-types">
  <Default Extension="jpeg" ContentType="image/jpeg"/>
  <Default Extension="JPG" ContentType="image/.jp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docProps/custom.xml" ContentType="application/vnd.openxmlformats-officedocument.custom-properties+xml"/>
  <Override PartName="/ppt/commentAuthors.xml" ContentType="application/vnd.openxmlformats-officedocument.presentationml.commentAuthors+xml"/>
  <Override PartName="/ppt/media/image10.svg" ContentType="image/svg+xml"/>
  <Override PartName="/ppt/media/image6.svg" ContentType="image/svg+xml"/>
  <Override PartName="/ppt/media/image8.svg" ContentType="image/svg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tableStyles.xml" ContentType="application/vnd.openxmlformats-officedocument.presentationml.tableStyles+xml"/>
  <Override PartName="/ppt/tags/tag1.xml" ContentType="application/vnd.openxmlformats-officedocument.presentationml.tags+xml"/>
  <Override PartName="/ppt/tags/tag10.xml" ContentType="application/vnd.openxmlformats-officedocument.presentationml.tags+xml"/>
  <Override PartName="/ppt/tags/tag11.xml" ContentType="application/vnd.openxmlformats-officedocument.presentationml.tags+xml"/>
  <Override PartName="/ppt/tags/tag12.xml" ContentType="application/vnd.openxmlformats-officedocument.presentationml.tags+xml"/>
  <Override PartName="/ppt/tags/tag13.xml" ContentType="application/vnd.openxmlformats-officedocument.presentationml.tags+xml"/>
  <Override PartName="/ppt/tags/tag14.xml" ContentType="application/vnd.openxmlformats-officedocument.presentationml.tags+xml"/>
  <Override PartName="/ppt/tags/tag15.xml" ContentType="application/vnd.openxmlformats-officedocument.presentationml.tags+xml"/>
  <Override PartName="/ppt/tags/tag16.xml" ContentType="application/vnd.openxmlformats-officedocument.presentationml.tags+xml"/>
  <Override PartName="/ppt/tags/tag17.xml" ContentType="application/vnd.openxmlformats-officedocument.presentationml.tags+xml"/>
  <Override PartName="/ppt/tags/tag18.xml" ContentType="application/vnd.openxmlformats-officedocument.presentationml.tags+xml"/>
  <Override PartName="/ppt/tags/tag19.xml" ContentType="application/vnd.openxmlformats-officedocument.presentationml.tags+xml"/>
  <Override PartName="/ppt/tags/tag2.xml" ContentType="application/vnd.openxmlformats-officedocument.presentationml.tags+xml"/>
  <Override PartName="/ppt/tags/tag20.xml" ContentType="application/vnd.openxmlformats-officedocument.presentationml.tags+xml"/>
  <Override PartName="/ppt/tags/tag21.xml" ContentType="application/vnd.openxmlformats-officedocument.presentationml.tags+xml"/>
  <Override PartName="/ppt/tags/tag22.xml" ContentType="application/vnd.openxmlformats-officedocument.presentationml.tags+xml"/>
  <Override PartName="/ppt/tags/tag23.xml" ContentType="application/vnd.openxmlformats-officedocument.presentationml.tags+xml"/>
  <Override PartName="/ppt/tags/tag24.xml" ContentType="application/vnd.openxmlformats-officedocument.presentationml.tags+xml"/>
  <Override PartName="/ppt/tags/tag25.xml" ContentType="application/vnd.openxmlformats-officedocument.presentationml.tags+xml"/>
  <Override PartName="/ppt/tags/tag26.xml" ContentType="application/vnd.openxmlformats-officedocument.presentationml.tags+xml"/>
  <Override PartName="/ppt/tags/tag27.xml" ContentType="application/vnd.openxmlformats-officedocument.presentationml.tags+xml"/>
  <Override PartName="/ppt/tags/tag28.xml" ContentType="application/vnd.openxmlformats-officedocument.presentationml.tags+xml"/>
  <Override PartName="/ppt/tags/tag29.xml" ContentType="application/vnd.openxmlformats-officedocument.presentationml.tags+xml"/>
  <Override PartName="/ppt/tags/tag3.xml" ContentType="application/vnd.openxmlformats-officedocument.presentationml.tags+xml"/>
  <Override PartName="/ppt/tags/tag30.xml" ContentType="application/vnd.openxmlformats-officedocument.presentationml.tags+xml"/>
  <Override PartName="/ppt/tags/tag4.xml" ContentType="application/vnd.openxmlformats-officedocument.presentationml.tags+xml"/>
  <Override PartName="/ppt/tags/tag5.xml" ContentType="application/vnd.openxmlformats-officedocument.presentationml.tags+xml"/>
  <Override PartName="/ppt/tags/tag6.xml" ContentType="application/vnd.openxmlformats-officedocument.presentationml.tags+xml"/>
  <Override PartName="/ppt/tags/tag7.xml" ContentType="application/vnd.openxmlformats-officedocument.presentationml.tags+xml"/>
  <Override PartName="/ppt/tags/tag8.xml" ContentType="application/vnd.openxmlformats-officedocument.presentationml.tags+xml"/>
  <Override PartName="/ppt/tags/tag9.xml" ContentType="application/vnd.openxmlformats-officedocument.presentationml.tags+xml"/>
  <Override PartName="/ppt/theme/theme1.xml" ContentType="application/vnd.openxmlformats-officedocument.theme+xml"/>
  <Override PartName="/ppt/theme/theme2.xml" ContentType="application/vnd.openxmlformats-officedocument.theme+xml"/>
  <Override PartName="/ppt/theme/theme3.xml" ContentType="application/vnd.openxmlformats-officedocument.theme+xml"/>
  <Override PartName="/ppt/viewProps.xml" ContentType="application/vnd.openxmlformats-officedocument.presentationml.viewProps+xml"/>
</Types>
</file>

<file path=_rels/.rels><?xml version="1.0" encoding="UTF-8" standalone="yes"?>
<Relationships xmlns="http://schemas.openxmlformats.org/package/2006/relationships"><Relationship Id="rId1" Type="http://schemas.openxmlformats.org/officeDocument/2006/relationships/officeDocument" Target="ppt/presentation.xml"/><Relationship Id="rId4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2" Type="http://schemas.openxmlformats.org/officeDocument/2006/relationships/extended-properties" Target="docProps/app.xml"/><Relationship Id="rId5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  <p:sldMasterId id="2147483660" r:id="rId3"/>
  </p:sldMasterIdLst>
  <p:notesMasterIdLst>
    <p:notesMasterId r:id="rId6"/>
  </p:notesMasterIdLst>
  <p:sldIdLst>
    <p:sldId id="257" r:id="rId4"/>
    <p:sldId id="256" r:id="rId5"/>
    <p:sldId id="258" r:id="rId7"/>
  </p:sldIdLst>
  <p:sldSz cx="12192000" cy="6858000"/>
  <p:notesSz cx="6858000" cy="9144000"/>
  <p:defaultTextStyle>
    <a:defPPr>
      <a:defRPr lang="zh-CN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 userDrawn="1">
          <p15:clr>
            <a:srgbClr val="A4A3A4"/>
          </p15:clr>
        </p15:guide>
        <p15:guide id="2" pos="3840" userDrawn="1">
          <p15:clr>
            <a:srgbClr val="A4A3A4"/>
          </p15:clr>
        </p15:guide>
      </p15:sldGuideLst>
    </p:ext>
  </p:extLst>
</p:presentation>
</file>

<file path=ppt/commentAuthors.xml><?xml version="1.0" encoding="utf-8"?>
<p:cmAuthorLst xmlns:a="http://schemas.openxmlformats.org/drawingml/2006/main" xmlns:r="http://schemas.openxmlformats.org/officeDocument/2006/relationships" xmlns:p="http://schemas.openxmlformats.org/presentationml/2006/main">
  <p:cmAuthor id="1" name="49650" initials="4" lastIdx="0" clrIdx="0"/>
  <p:cmAuthor id="2" name="tonydong" initials="t" lastIdx="0" clrIdx="1"/>
</p:cmAuthorLst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5987" autoAdjust="0"/>
    <p:restoredTop sz="94660"/>
  </p:normalViewPr>
  <p:slideViewPr>
    <p:cSldViewPr snapToGrid="0" showGuides="1">
      <p:cViewPr varScale="1">
        <p:scale>
          <a:sx n="116" d="100"/>
          <a:sy n="116" d="100"/>
        </p:scale>
        <p:origin x="336" y="108"/>
      </p:cViewPr>
      <p:guideLst>
        <p:guide orient="horz" pos="2160"/>
        <p:guide pos="384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9" Type="http://schemas.openxmlformats.org/officeDocument/2006/relationships/viewProps" Target="viewProps.xml"/><Relationship Id="rId8" Type="http://schemas.openxmlformats.org/officeDocument/2006/relationships/presProps" Target="presProps.xml"/><Relationship Id="rId7" Type="http://schemas.openxmlformats.org/officeDocument/2006/relationships/slide" Target="slides/slide3.xml"/><Relationship Id="rId6" Type="http://schemas.openxmlformats.org/officeDocument/2006/relationships/notesMaster" Target="notesMasters/notesMaster1.xml"/><Relationship Id="rId5" Type="http://schemas.openxmlformats.org/officeDocument/2006/relationships/slide" Target="slides/slide2.xml"/><Relationship Id="rId4" Type="http://schemas.openxmlformats.org/officeDocument/2006/relationships/slide" Target="slides/slide1.xml"/><Relationship Id="rId3" Type="http://schemas.openxmlformats.org/officeDocument/2006/relationships/slideMaster" Target="slideMasters/slideMaster2.xml"/><Relationship Id="rId2" Type="http://schemas.openxmlformats.org/officeDocument/2006/relationships/theme" Target="theme/theme1.xml"/><Relationship Id="rId11" Type="http://schemas.openxmlformats.org/officeDocument/2006/relationships/commentAuthors" Target="commentAuthors.xml"/><Relationship Id="rId10" Type="http://schemas.openxmlformats.org/officeDocument/2006/relationships/tableStyles" Target="tableStyles.xml"/><Relationship Id="rId1" Type="http://schemas.openxmlformats.org/officeDocument/2006/relationships/slideMaster" Target="slideMasters/slideMaster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页眉占位符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3" name="日期占位符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D2A48B96-639E-45A3-A0BA-2464DFDB1FAA}" type="datetimeFigureOut">
              <a:rPr lang="zh-CN" altLang="en-US" smtClean="0"/>
            </a:fld>
            <a:endParaRPr lang="zh-CN" altLang="en-US"/>
          </a:p>
        </p:txBody>
      </p:sp>
      <p:sp>
        <p:nvSpPr>
          <p:cNvPr id="4" name="幻灯片图像占位符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zh-CN" altLang="en-US"/>
          </a:p>
        </p:txBody>
      </p:sp>
      <p:sp>
        <p:nvSpPr>
          <p:cNvPr id="5" name="备注占位符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  <a:p>
            <a:pPr lvl="1"/>
            <a:r>
              <a:rPr lang="zh-CN" altLang="en-US" smtClean="0"/>
              <a:t>第二级</a:t>
            </a:r>
            <a:endParaRPr lang="zh-CN" altLang="en-US" smtClean="0"/>
          </a:p>
          <a:p>
            <a:pPr lvl="2"/>
            <a:r>
              <a:rPr lang="zh-CN" altLang="en-US" smtClean="0"/>
              <a:t>第三级</a:t>
            </a:r>
            <a:endParaRPr lang="zh-CN" altLang="en-US" smtClean="0"/>
          </a:p>
          <a:p>
            <a:pPr lvl="3"/>
            <a:r>
              <a:rPr lang="zh-CN" altLang="en-US" smtClean="0"/>
              <a:t>第四级</a:t>
            </a:r>
            <a:endParaRPr lang="zh-CN" altLang="en-US" smtClean="0"/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A6837353-30EB-4A48-80EB-173D804AEFBD}" type="slidenum">
              <a:rPr lang="zh-CN" altLang="en-US" smtClean="0"/>
            </a:fld>
            <a:endParaRPr lang="zh-CN" alt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2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3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altLang="zh-CN" dirty="0"/>
              <a:t>2015</a:t>
            </a:r>
            <a:r>
              <a:rPr lang="zh-CN" altLang="en-US" dirty="0"/>
              <a:t>年深度学习算法突破</a:t>
            </a:r>
            <a:r>
              <a:rPr lang="en-US" altLang="zh-CN" dirty="0"/>
              <a:t>+</a:t>
            </a:r>
            <a:r>
              <a:rPr lang="zh-CN" altLang="en-US" dirty="0"/>
              <a:t>创业热潮，</a:t>
            </a:r>
            <a:r>
              <a:rPr lang="en-US" altLang="zh-CN" dirty="0"/>
              <a:t>2016</a:t>
            </a:r>
            <a:r>
              <a:rPr lang="zh-CN" altLang="en-US" dirty="0"/>
              <a:t>年</a:t>
            </a:r>
            <a:r>
              <a:rPr lang="en-US" altLang="zh-CN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Google AlphaGo </a:t>
            </a:r>
            <a:r>
              <a:rPr lang="zh-CN" alt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击败围棋世界冠军李世石；</a:t>
            </a:r>
            <a:r>
              <a:rPr lang="en-US" altLang="zh-CN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2016</a:t>
            </a:r>
            <a:r>
              <a:rPr lang="zh-CN" alt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年美国发布</a:t>
            </a:r>
            <a:r>
              <a:rPr lang="en-US" altLang="zh-CN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《</a:t>
            </a:r>
            <a:r>
              <a:rPr lang="zh-CN" alt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国家人工智能研究与发展战略计划</a:t>
            </a:r>
            <a:r>
              <a:rPr lang="en-US" altLang="zh-CN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》</a:t>
            </a:r>
            <a:r>
              <a:rPr lang="zh-CN" alt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标志 </a:t>
            </a:r>
            <a:r>
              <a:rPr lang="en-US" altLang="zh-CN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AI </a:t>
            </a:r>
            <a:r>
              <a:rPr lang="zh-CN" alt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从企业行为上升为国家战略，各国开始抢占技术与产业制高点；</a:t>
            </a:r>
            <a:endParaRPr lang="en-US" altLang="zh-CN" sz="1200" b="0" i="0" kern="1200" dirty="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  <a:p>
            <a:endParaRPr lang="en-US" altLang="zh-CN" sz="1200" b="0" i="0" kern="1200" dirty="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  <a:p>
            <a:r>
              <a:rPr lang="en-US" altLang="zh-CN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2017</a:t>
            </a:r>
            <a:r>
              <a:rPr lang="zh-CN" alt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年 </a:t>
            </a:r>
            <a:r>
              <a:rPr lang="en-US" altLang="zh-CN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Transformer </a:t>
            </a:r>
            <a:r>
              <a:rPr lang="zh-CN" alt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架构的推出不仅是一次技术创新，更是人工智能领域的 “范式革命！后面催生大模型！</a:t>
            </a:r>
            <a:endParaRPr lang="en-US" altLang="zh-CN" sz="1200" b="0" i="0" kern="1200" dirty="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  <a:p>
            <a:endParaRPr lang="en-US" altLang="zh-CN" sz="1200" b="0" i="0" kern="1200" dirty="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  <a:p>
            <a:r>
              <a:rPr lang="en-US" altLang="zh-CN" dirty="0"/>
              <a:t>2017</a:t>
            </a:r>
            <a:r>
              <a:rPr lang="zh-CN" altLang="en-US" dirty="0"/>
              <a:t>年</a:t>
            </a:r>
            <a:r>
              <a:rPr lang="en-US" altLang="zh-CN" dirty="0"/>
              <a:t>7</a:t>
            </a:r>
            <a:r>
              <a:rPr lang="zh-CN" altLang="en-US" dirty="0"/>
              <a:t>月，国家发布</a:t>
            </a:r>
            <a:r>
              <a:rPr lang="en-US" altLang="zh-CN" dirty="0"/>
              <a:t>《</a:t>
            </a:r>
            <a:r>
              <a:rPr lang="zh-CN" altLang="en-US" dirty="0"/>
              <a:t>新一代人工智能发展规划</a:t>
            </a:r>
            <a:r>
              <a:rPr lang="en-US" altLang="zh-CN" dirty="0"/>
              <a:t>》</a:t>
            </a:r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fld id="{0388362F-9F43-4429-AF5E-7A10B4032477}" type="slidenum">
              <a:rPr kumimoji="0" lang="zh-CN" altLang="en-US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等线" panose="02010600030101010101" charset="-122"/>
                <a:ea typeface="等线" panose="02010600030101010101" charset="-122"/>
                <a:cs typeface="+mn-cs"/>
              </a:rPr>
            </a:fld>
            <a:endParaRPr kumimoji="0" lang="zh-CN" altLang="en-US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等线" panose="02010600030101010101" charset="-122"/>
              <a:ea typeface="等线" panose="02010600030101010101" charset="-122"/>
              <a:cs typeface="+mn-cs"/>
            </a:endParaRPr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lang="zh-CN" altLang="en-US" dirty="0">
                <a:effectLst/>
              </a:rPr>
              <a:t>西安：高校总量达</a:t>
            </a:r>
            <a:r>
              <a:rPr lang="en-US" altLang="zh-CN" dirty="0">
                <a:effectLst/>
              </a:rPr>
              <a:t>65</a:t>
            </a:r>
            <a:r>
              <a:rPr lang="zh-CN" altLang="en-US" dirty="0">
                <a:effectLst/>
              </a:rPr>
              <a:t>所，双一流、</a:t>
            </a:r>
            <a:r>
              <a:rPr lang="en-US" altLang="zh-CN" dirty="0">
                <a:effectLst/>
              </a:rPr>
              <a:t>985/211</a:t>
            </a:r>
            <a:r>
              <a:rPr lang="zh-CN" altLang="en-US" dirty="0">
                <a:effectLst/>
              </a:rPr>
              <a:t>高校集聚，核心重点高校包括西安交通大学、西北工业大学、西安电子科技大学等，理工科优势突出，尤其在电子信息、航空航天、人工智能领域实力强劲，产学研政策完善（如“四主体一联合”模式推广）</a:t>
            </a:r>
            <a:r>
              <a:rPr lang="en-US" altLang="zh-CN" dirty="0">
                <a:effectLst/>
              </a:rPr>
              <a:t>[superscript:2][superscript:3]</a:t>
            </a:r>
            <a:r>
              <a:rPr lang="zh-CN" altLang="en-US" dirty="0">
                <a:effectLst/>
              </a:rPr>
              <a:t>。 杭州：核心重点高校包括浙江大学、杭州电子科技大学、浙江工业大学等，其中浙江大学为全国顶尖双一流高校，杭州电子科技大学等聚焦电子信息、人工智能领域，且多所高校新增</a:t>
            </a:r>
            <a:r>
              <a:rPr lang="en-US" altLang="zh-CN" dirty="0">
                <a:effectLst/>
              </a:rPr>
              <a:t>AI</a:t>
            </a:r>
            <a:r>
              <a:rPr lang="zh-CN" altLang="en-US" dirty="0">
                <a:effectLst/>
              </a:rPr>
              <a:t>相关中外合作办学专业，互联网产业联动性强</a:t>
            </a:r>
            <a:endParaRPr lang="zh-CN" altLang="en-US" dirty="0">
              <a:effectLst/>
            </a:endParaRPr>
          </a:p>
          <a:p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fld id="{0388362F-9F43-4429-AF5E-7A10B4032477}" type="slidenum">
              <a:rPr kumimoji="0" lang="zh-CN" altLang="en-US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等线" panose="02010600030101010101" charset="-122"/>
                <a:ea typeface="等线" panose="02010600030101010101" charset="-122"/>
                <a:cs typeface="+mn-cs"/>
              </a:rPr>
            </a:fld>
            <a:endParaRPr kumimoji="0" lang="zh-CN" altLang="en-US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等线" panose="02010600030101010101" charset="-122"/>
              <a:ea typeface="等线" panose="02010600030101010101" charset="-122"/>
              <a:cs typeface="+mn-cs"/>
            </a:endParaRPr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2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副标题 2"/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zh-CN" altLang="en-US" smtClean="0"/>
              <a:t>单击此处编辑母版副标题样式</a:t>
            </a:r>
            <a:endParaRPr lang="zh-CN" alt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997B5FA-0921-464F-AAE1-844C04324D75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65CE74E-AB26-4998-AD42-012C4C1AD076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  <a:p>
            <a:pPr lvl="1"/>
            <a:r>
              <a:rPr lang="zh-CN" altLang="en-US" smtClean="0"/>
              <a:t>第二级</a:t>
            </a:r>
            <a:endParaRPr lang="zh-CN" altLang="en-US" smtClean="0"/>
          </a:p>
          <a:p>
            <a:pPr lvl="2"/>
            <a:r>
              <a:rPr lang="zh-CN" altLang="en-US" smtClean="0"/>
              <a:t>第三级</a:t>
            </a:r>
            <a:endParaRPr lang="zh-CN" altLang="en-US" smtClean="0"/>
          </a:p>
          <a:p>
            <a:pPr lvl="3"/>
            <a:r>
              <a:rPr lang="zh-CN" altLang="en-US" smtClean="0"/>
              <a:t>第四级</a:t>
            </a:r>
            <a:endParaRPr lang="zh-CN" altLang="en-US" smtClean="0"/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997B5FA-0921-464F-AAE1-844C04324D75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65CE74E-AB26-4998-AD42-012C4C1AD076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997B5FA-0921-464F-AAE1-844C04324D75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65CE74E-AB26-4998-AD42-012C4C1AD076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两栏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内容占位符 2"/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  <a:p>
            <a:pPr lvl="1"/>
            <a:r>
              <a:rPr lang="zh-CN" altLang="en-US" smtClean="0"/>
              <a:t>第二级</a:t>
            </a:r>
            <a:endParaRPr lang="zh-CN" altLang="en-US" smtClean="0"/>
          </a:p>
          <a:p>
            <a:pPr lvl="2"/>
            <a:r>
              <a:rPr lang="zh-CN" altLang="en-US" smtClean="0"/>
              <a:t>第三级</a:t>
            </a:r>
            <a:endParaRPr lang="zh-CN" altLang="en-US" smtClean="0"/>
          </a:p>
          <a:p>
            <a:pPr lvl="3"/>
            <a:r>
              <a:rPr lang="zh-CN" altLang="en-US" smtClean="0"/>
              <a:t>第四级</a:t>
            </a:r>
            <a:endParaRPr lang="zh-CN" altLang="en-US" smtClean="0"/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  <a:p>
            <a:pPr lvl="1"/>
            <a:r>
              <a:rPr lang="zh-CN" altLang="en-US" smtClean="0"/>
              <a:t>第二级</a:t>
            </a:r>
            <a:endParaRPr lang="zh-CN" altLang="en-US" smtClean="0"/>
          </a:p>
          <a:p>
            <a:pPr lvl="2"/>
            <a:r>
              <a:rPr lang="zh-CN" altLang="en-US" smtClean="0"/>
              <a:t>第三级</a:t>
            </a:r>
            <a:endParaRPr lang="zh-CN" altLang="en-US" smtClean="0"/>
          </a:p>
          <a:p>
            <a:pPr lvl="3"/>
            <a:r>
              <a:rPr lang="zh-CN" altLang="en-US" smtClean="0"/>
              <a:t>第四级</a:t>
            </a:r>
            <a:endParaRPr lang="zh-CN" altLang="en-US" smtClean="0"/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997B5FA-0921-464F-AAE1-844C04324D75}" type="datetimeFigureOut">
              <a:rPr lang="zh-CN" altLang="en-US" smtClean="0"/>
            </a:fld>
            <a:endParaRPr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65CE74E-AB26-4998-AD42-012C4C1AD076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  <a:p>
            <a:pPr lvl="1"/>
            <a:r>
              <a:rPr lang="zh-CN" altLang="en-US" smtClean="0"/>
              <a:t>第二级</a:t>
            </a:r>
            <a:endParaRPr lang="zh-CN" altLang="en-US" smtClean="0"/>
          </a:p>
          <a:p>
            <a:pPr lvl="2"/>
            <a:r>
              <a:rPr lang="zh-CN" altLang="en-US" smtClean="0"/>
              <a:t>第三级</a:t>
            </a:r>
            <a:endParaRPr lang="zh-CN" altLang="en-US" smtClean="0"/>
          </a:p>
          <a:p>
            <a:pPr lvl="3"/>
            <a:r>
              <a:rPr lang="zh-CN" altLang="en-US" smtClean="0"/>
              <a:t>第四级</a:t>
            </a:r>
            <a:endParaRPr lang="zh-CN" altLang="en-US" smtClean="0"/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5" name="文本占位符 4"/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</p:txBody>
      </p:sp>
      <p:sp>
        <p:nvSpPr>
          <p:cNvPr id="6" name="内容占位符 5"/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  <a:p>
            <a:pPr lvl="1"/>
            <a:r>
              <a:rPr lang="zh-CN" altLang="en-US" smtClean="0"/>
              <a:t>第二级</a:t>
            </a:r>
            <a:endParaRPr lang="zh-CN" altLang="en-US" smtClean="0"/>
          </a:p>
          <a:p>
            <a:pPr lvl="2"/>
            <a:r>
              <a:rPr lang="zh-CN" altLang="en-US" smtClean="0"/>
              <a:t>第三级</a:t>
            </a:r>
            <a:endParaRPr lang="zh-CN" altLang="en-US" smtClean="0"/>
          </a:p>
          <a:p>
            <a:pPr lvl="3"/>
            <a:r>
              <a:rPr lang="zh-CN" altLang="en-US" smtClean="0"/>
              <a:t>第四级</a:t>
            </a:r>
            <a:endParaRPr lang="zh-CN" altLang="en-US" smtClean="0"/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7" name="日期占位符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997B5FA-0921-464F-AAE1-844C04324D75}" type="datetimeFigureOut">
              <a:rPr lang="zh-CN" altLang="en-US" smtClean="0"/>
            </a:fld>
            <a:endParaRPr lang="zh-CN" altLang="en-US"/>
          </a:p>
        </p:txBody>
      </p:sp>
      <p:sp>
        <p:nvSpPr>
          <p:cNvPr id="8" name="页脚占位符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9" name="灯片编号占位符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65CE74E-AB26-4998-AD42-012C4C1AD076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日期占位符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997B5FA-0921-464F-AAE1-844C04324D75}" type="datetimeFigureOut">
              <a:rPr lang="zh-CN" altLang="en-US" smtClean="0"/>
            </a:fld>
            <a:endParaRPr lang="zh-CN" altLang="en-US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65CE74E-AB26-4998-AD42-012C4C1AD076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期占位符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997B5FA-0921-464F-AAE1-844C04324D75}" type="datetimeFigureOut">
              <a:rPr lang="zh-CN" altLang="en-US" smtClean="0"/>
            </a:fld>
            <a:endParaRPr lang="zh-CN" altLang="en-US"/>
          </a:p>
        </p:txBody>
      </p:sp>
      <p:sp>
        <p:nvSpPr>
          <p:cNvPr id="3" name="页脚占位符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65CE74E-AB26-4998-AD42-012C4C1AD076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内容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  <a:p>
            <a:pPr lvl="1"/>
            <a:r>
              <a:rPr lang="zh-CN" altLang="en-US" smtClean="0"/>
              <a:t>第二级</a:t>
            </a:r>
            <a:endParaRPr lang="zh-CN" altLang="en-US" smtClean="0"/>
          </a:p>
          <a:p>
            <a:pPr lvl="2"/>
            <a:r>
              <a:rPr lang="zh-CN" altLang="en-US" smtClean="0"/>
              <a:t>第三级</a:t>
            </a:r>
            <a:endParaRPr lang="zh-CN" altLang="en-US" smtClean="0"/>
          </a:p>
          <a:p>
            <a:pPr lvl="3"/>
            <a:r>
              <a:rPr lang="zh-CN" altLang="en-US" smtClean="0"/>
              <a:t>第四级</a:t>
            </a:r>
            <a:endParaRPr lang="zh-CN" altLang="en-US" smtClean="0"/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997B5FA-0921-464F-AAE1-844C04324D75}" type="datetimeFigureOut">
              <a:rPr lang="zh-CN" altLang="en-US" smtClean="0"/>
            </a:fld>
            <a:endParaRPr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65CE74E-AB26-4998-AD42-012C4C1AD076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图片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图片占位符 2"/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zh-CN" altLang="en-US"/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997B5FA-0921-464F-AAE1-844C04324D75}" type="datetimeFigureOut">
              <a:rPr lang="zh-CN" altLang="en-US" smtClean="0"/>
            </a:fld>
            <a:endParaRPr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65CE74E-AB26-4998-AD42-012C4C1AD076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标题和竖排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  <a:p>
            <a:pPr lvl="1"/>
            <a:r>
              <a:rPr lang="zh-CN" altLang="en-US" smtClean="0"/>
              <a:t>第二级</a:t>
            </a:r>
            <a:endParaRPr lang="zh-CN" altLang="en-US" smtClean="0"/>
          </a:p>
          <a:p>
            <a:pPr lvl="2"/>
            <a:r>
              <a:rPr lang="zh-CN" altLang="en-US" smtClean="0"/>
              <a:t>第三级</a:t>
            </a:r>
            <a:endParaRPr lang="zh-CN" altLang="en-US" smtClean="0"/>
          </a:p>
          <a:p>
            <a:pPr lvl="3"/>
            <a:r>
              <a:rPr lang="zh-CN" altLang="en-US" smtClean="0"/>
              <a:t>第四级</a:t>
            </a:r>
            <a:endParaRPr lang="zh-CN" altLang="en-US" smtClean="0"/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997B5FA-0921-464F-AAE1-844C04324D75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65CE74E-AB26-4998-AD42-012C4C1AD076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垂直排列标题与&#10;文本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竖排标题 1"/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  <a:p>
            <a:pPr lvl="1"/>
            <a:r>
              <a:rPr lang="zh-CN" altLang="en-US" smtClean="0"/>
              <a:t>第二级</a:t>
            </a:r>
            <a:endParaRPr lang="zh-CN" altLang="en-US" smtClean="0"/>
          </a:p>
          <a:p>
            <a:pPr lvl="2"/>
            <a:r>
              <a:rPr lang="zh-CN" altLang="en-US" smtClean="0"/>
              <a:t>第三级</a:t>
            </a:r>
            <a:endParaRPr lang="zh-CN" altLang="en-US" smtClean="0"/>
          </a:p>
          <a:p>
            <a:pPr lvl="3"/>
            <a:r>
              <a:rPr lang="zh-CN" altLang="en-US" smtClean="0"/>
              <a:t>第四级</a:t>
            </a:r>
            <a:endParaRPr lang="zh-CN" altLang="en-US" smtClean="0"/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997B5FA-0921-464F-AAE1-844C04324D75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65CE74E-AB26-4998-AD42-012C4C1AD076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  <p:sp>
        <p:nvSpPr>
          <p:cNvPr id="3" name="副标题 2"/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zh-CN" altLang="en-US"/>
              <a:t>单击此处编辑母版副标题样式</a:t>
            </a:r>
            <a:endParaRPr lang="zh-CN" alt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E5CC00A-26C1-4169-B235-F058450353E4}" type="datetime1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altLang="zh-CN"/>
              <a:t>1</a:t>
            </a:r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4551FF-272A-4B62-AA4C-4A17E4F94828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图片 7"/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0" y="189000"/>
            <a:ext cx="12192000" cy="6858000"/>
          </a:xfrm>
          <a:prstGeom prst="rect">
            <a:avLst/>
          </a:prstGeom>
        </p:spPr>
      </p:pic>
      <p:sp>
        <p:nvSpPr>
          <p:cNvPr id="4" name="灯片编号占位符 3"/>
          <p:cNvSpPr>
            <a:spLocks noGrp="1"/>
          </p:cNvSpPr>
          <p:nvPr>
            <p:ph type="sldNum" sz="quarter" idx="12"/>
          </p:nvPr>
        </p:nvSpPr>
        <p:spPr>
          <a:xfrm>
            <a:off x="10659867" y="6460608"/>
            <a:ext cx="1513800" cy="365125"/>
          </a:xfrm>
        </p:spPr>
        <p:txBody>
          <a:bodyPr/>
          <a:lstStyle>
            <a:lvl1pPr>
              <a:defRPr>
                <a:solidFill>
                  <a:srgbClr val="7030A0"/>
                </a:solidFill>
                <a:latin typeface="微软雅黑" panose="020B0503020204020204" charset="-122"/>
                <a:ea typeface="微软雅黑" panose="020B0503020204020204" charset="-122"/>
              </a:defRPr>
            </a:lvl1pPr>
          </a:lstStyle>
          <a:p>
            <a:fld id="{C54551FF-272A-4B62-AA4C-4A17E4F94828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9" Type="http://schemas.openxmlformats.org/officeDocument/2006/relationships/slideLayout" Target="../slideLayouts/slideLayout9.xml"/><Relationship Id="rId8" Type="http://schemas.openxmlformats.org/officeDocument/2006/relationships/slideLayout" Target="../slideLayouts/slideLayout8.xml"/><Relationship Id="rId7" Type="http://schemas.openxmlformats.org/officeDocument/2006/relationships/slideLayout" Target="../slideLayouts/slideLayout7.xml"/><Relationship Id="rId6" Type="http://schemas.openxmlformats.org/officeDocument/2006/relationships/slideLayout" Target="../slideLayouts/slideLayout6.xml"/><Relationship Id="rId5" Type="http://schemas.openxmlformats.org/officeDocument/2006/relationships/slideLayout" Target="../slideLayouts/slideLayout5.xml"/><Relationship Id="rId4" Type="http://schemas.openxmlformats.org/officeDocument/2006/relationships/slideLayout" Target="../slideLayouts/slideLayout4.xml"/><Relationship Id="rId3" Type="http://schemas.openxmlformats.org/officeDocument/2006/relationships/slideLayout" Target="../slideLayouts/slideLayout3.xml"/><Relationship Id="rId2" Type="http://schemas.openxmlformats.org/officeDocument/2006/relationships/slideLayout" Target="../slideLayouts/slideLayout2.xml"/><Relationship Id="rId12" Type="http://schemas.openxmlformats.org/officeDocument/2006/relationships/theme" Target="../theme/theme1.xml"/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" Type="http://schemas.openxmlformats.org/officeDocument/2006/relationships/slideLayout" Target="../slideLayouts/slideLayout1.xml"/></Relationships>
</file>

<file path=ppt/slideMasters/_rels/slideMaster2.xml.rels><?xml version="1.0" encoding="UTF-8" standalone="yes"?>
<Relationships xmlns="http://schemas.openxmlformats.org/package/2006/relationships"><Relationship Id="rId4" Type="http://schemas.openxmlformats.org/officeDocument/2006/relationships/theme" Target="../theme/theme2.xml"/><Relationship Id="rId3" Type="http://schemas.openxmlformats.org/officeDocument/2006/relationships/image" Target="../media/image2.png"/><Relationship Id="rId2" Type="http://schemas.openxmlformats.org/officeDocument/2006/relationships/slideLayout" Target="../slideLayouts/slideLayout13.xml"/><Relationship Id="rId1" Type="http://schemas.openxmlformats.org/officeDocument/2006/relationships/slideLayout" Target="../slideLayouts/slideLayout12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占位符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  <a:p>
            <a:pPr lvl="1"/>
            <a:r>
              <a:rPr lang="zh-CN" altLang="en-US" smtClean="0"/>
              <a:t>第二级</a:t>
            </a:r>
            <a:endParaRPr lang="zh-CN" altLang="en-US" smtClean="0"/>
          </a:p>
          <a:p>
            <a:pPr lvl="2"/>
            <a:r>
              <a:rPr lang="zh-CN" altLang="en-US" smtClean="0"/>
              <a:t>第三级</a:t>
            </a:r>
            <a:endParaRPr lang="zh-CN" altLang="en-US" smtClean="0"/>
          </a:p>
          <a:p>
            <a:pPr lvl="3"/>
            <a:r>
              <a:rPr lang="zh-CN" altLang="en-US" smtClean="0"/>
              <a:t>第四级</a:t>
            </a:r>
            <a:endParaRPr lang="zh-CN" altLang="en-US" smtClean="0"/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D997B5FA-0921-464F-AAE1-844C04324D75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65CE74E-AB26-4998-AD42-012C4C1AD076}" type="slidenum">
              <a:rPr lang="zh-CN" altLang="en-US" smtClean="0"/>
            </a:fld>
            <a:endParaRPr lang="zh-CN" alt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2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3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占位符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  <a:p>
            <a:pPr lvl="1"/>
            <a:r>
              <a:rPr lang="zh-CN" altLang="en-US"/>
              <a:t>二级</a:t>
            </a:r>
            <a:endParaRPr lang="zh-CN" altLang="en-US"/>
          </a:p>
          <a:p>
            <a:pPr lvl="2"/>
            <a:r>
              <a:rPr lang="zh-CN" altLang="en-US"/>
              <a:t>三级</a:t>
            </a:r>
            <a:endParaRPr lang="zh-CN" altLang="en-US"/>
          </a:p>
          <a:p>
            <a:pPr lvl="3"/>
            <a:r>
              <a:rPr lang="zh-CN" altLang="en-US"/>
              <a:t>四级</a:t>
            </a:r>
            <a:endParaRPr lang="zh-CN" altLang="en-US"/>
          </a:p>
          <a:p>
            <a:pPr lvl="4"/>
            <a:r>
              <a:rPr lang="zh-CN" altLang="en-US"/>
              <a:t>五级</a:t>
            </a:r>
            <a:endParaRPr lang="zh-CN" alt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87DC0D4F-7AC1-496A-BD1C-0546BD489CF6}" type="datetime1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r>
              <a:rPr lang="en-US" altLang="zh-CN"/>
              <a:t>1</a:t>
            </a:r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54551FF-272A-4B62-AA4C-4A17E4F94828}" type="slidenum">
              <a:rPr lang="zh-CN" altLang="en-US" smtClean="0"/>
            </a:fld>
            <a:endParaRPr lang="zh-CN" alt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</p:sldLayoutIdLst>
  <p:hf hdr="0" ftr="0" dt="0"/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9" Type="http://schemas.openxmlformats.org/officeDocument/2006/relationships/slideLayout" Target="../slideLayouts/slideLayout7.xml"/><Relationship Id="rId8" Type="http://schemas.openxmlformats.org/officeDocument/2006/relationships/tags" Target="../tags/tag8.xml"/><Relationship Id="rId7" Type="http://schemas.openxmlformats.org/officeDocument/2006/relationships/tags" Target="../tags/tag7.xml"/><Relationship Id="rId6" Type="http://schemas.openxmlformats.org/officeDocument/2006/relationships/tags" Target="../tags/tag6.xml"/><Relationship Id="rId5" Type="http://schemas.openxmlformats.org/officeDocument/2006/relationships/tags" Target="../tags/tag5.xml"/><Relationship Id="rId4" Type="http://schemas.openxmlformats.org/officeDocument/2006/relationships/tags" Target="../tags/tag4.xml"/><Relationship Id="rId3" Type="http://schemas.openxmlformats.org/officeDocument/2006/relationships/tags" Target="../tags/tag3.xml"/><Relationship Id="rId2" Type="http://schemas.openxmlformats.org/officeDocument/2006/relationships/tags" Target="../tags/tag2.xml"/><Relationship Id="rId1" Type="http://schemas.openxmlformats.org/officeDocument/2006/relationships/tags" Target="../tags/tag1.xml"/></Relationships>
</file>

<file path=ppt/slides/_rels/slide2.xml.rels><?xml version="1.0" encoding="UTF-8" standalone="yes"?>
<Relationships xmlns="http://schemas.openxmlformats.org/package/2006/relationships"><Relationship Id="rId9" Type="http://schemas.openxmlformats.org/officeDocument/2006/relationships/tags" Target="../tags/tag17.xml"/><Relationship Id="rId8" Type="http://schemas.openxmlformats.org/officeDocument/2006/relationships/tags" Target="../tags/tag16.xml"/><Relationship Id="rId7" Type="http://schemas.openxmlformats.org/officeDocument/2006/relationships/tags" Target="../tags/tag15.xml"/><Relationship Id="rId6" Type="http://schemas.openxmlformats.org/officeDocument/2006/relationships/tags" Target="../tags/tag14.xml"/><Relationship Id="rId5" Type="http://schemas.openxmlformats.org/officeDocument/2006/relationships/tags" Target="../tags/tag13.xml"/><Relationship Id="rId4" Type="http://schemas.openxmlformats.org/officeDocument/2006/relationships/tags" Target="../tags/tag12.xml"/><Relationship Id="rId3" Type="http://schemas.openxmlformats.org/officeDocument/2006/relationships/tags" Target="../tags/tag11.xml"/><Relationship Id="rId2" Type="http://schemas.openxmlformats.org/officeDocument/2006/relationships/tags" Target="../tags/tag10.xml"/><Relationship Id="rId15" Type="http://schemas.openxmlformats.org/officeDocument/2006/relationships/notesSlide" Target="../notesSlides/notesSlide1.xml"/><Relationship Id="rId14" Type="http://schemas.openxmlformats.org/officeDocument/2006/relationships/slideLayout" Target="../slideLayouts/slideLayout7.xml"/><Relationship Id="rId13" Type="http://schemas.openxmlformats.org/officeDocument/2006/relationships/tags" Target="../tags/tag19.xml"/><Relationship Id="rId12" Type="http://schemas.openxmlformats.org/officeDocument/2006/relationships/image" Target="../media/image4.png"/><Relationship Id="rId11" Type="http://schemas.openxmlformats.org/officeDocument/2006/relationships/image" Target="../media/image3.png"/><Relationship Id="rId10" Type="http://schemas.openxmlformats.org/officeDocument/2006/relationships/tags" Target="../tags/tag18.xml"/><Relationship Id="rId1" Type="http://schemas.openxmlformats.org/officeDocument/2006/relationships/tags" Target="../tags/tag9.xml"/></Relationships>
</file>

<file path=ppt/slides/_rels/slide3.xml.rels><?xml version="1.0" encoding="UTF-8" standalone="yes"?>
<Relationships xmlns="http://schemas.openxmlformats.org/package/2006/relationships"><Relationship Id="rId9" Type="http://schemas.openxmlformats.org/officeDocument/2006/relationships/tags" Target="../tags/tag28.xml"/><Relationship Id="rId8" Type="http://schemas.openxmlformats.org/officeDocument/2006/relationships/tags" Target="../tags/tag27.xml"/><Relationship Id="rId7" Type="http://schemas.openxmlformats.org/officeDocument/2006/relationships/tags" Target="../tags/tag26.xml"/><Relationship Id="rId6" Type="http://schemas.openxmlformats.org/officeDocument/2006/relationships/tags" Target="../tags/tag25.xml"/><Relationship Id="rId5" Type="http://schemas.openxmlformats.org/officeDocument/2006/relationships/tags" Target="../tags/tag24.xml"/><Relationship Id="rId4" Type="http://schemas.openxmlformats.org/officeDocument/2006/relationships/tags" Target="../tags/tag23.xml"/><Relationship Id="rId3" Type="http://schemas.openxmlformats.org/officeDocument/2006/relationships/tags" Target="../tags/tag22.xml"/><Relationship Id="rId2" Type="http://schemas.openxmlformats.org/officeDocument/2006/relationships/tags" Target="../tags/tag21.xml"/><Relationship Id="rId19" Type="http://schemas.openxmlformats.org/officeDocument/2006/relationships/notesSlide" Target="../notesSlides/notesSlide2.xml"/><Relationship Id="rId18" Type="http://schemas.openxmlformats.org/officeDocument/2006/relationships/slideLayout" Target="../slideLayouts/slideLayout13.xml"/><Relationship Id="rId17" Type="http://schemas.openxmlformats.org/officeDocument/2006/relationships/image" Target="../media/image10.svg"/><Relationship Id="rId16" Type="http://schemas.openxmlformats.org/officeDocument/2006/relationships/image" Target="../media/image9.png"/><Relationship Id="rId15" Type="http://schemas.openxmlformats.org/officeDocument/2006/relationships/tags" Target="../tags/tag30.xml"/><Relationship Id="rId14" Type="http://schemas.openxmlformats.org/officeDocument/2006/relationships/image" Target="../media/image8.svg"/><Relationship Id="rId13" Type="http://schemas.openxmlformats.org/officeDocument/2006/relationships/image" Target="../media/image7.png"/><Relationship Id="rId12" Type="http://schemas.openxmlformats.org/officeDocument/2006/relationships/tags" Target="../tags/tag29.xml"/><Relationship Id="rId11" Type="http://schemas.openxmlformats.org/officeDocument/2006/relationships/image" Target="../media/image6.svg"/><Relationship Id="rId10" Type="http://schemas.openxmlformats.org/officeDocument/2006/relationships/image" Target="../media/image5.png"/><Relationship Id="rId1" Type="http://schemas.openxmlformats.org/officeDocument/2006/relationships/tags" Target="../tags/tag20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灯片编号占位符 1"/>
          <p:cNvSpPr>
            <a:spLocks noGrp="1"/>
          </p:cNvSpPr>
          <p:nvPr>
            <p:ph type="sldNum" sz="quarter" idx="12"/>
          </p:nvPr>
        </p:nvSpPr>
        <p:spPr>
          <a:xfrm>
            <a:off x="10647152" y="2500515"/>
            <a:ext cx="1513800" cy="365125"/>
          </a:xfrm>
        </p:spPr>
        <p:txBody>
          <a:bodyPr/>
          <a:lstStyle/>
          <a:p>
            <a:fld id="{C54551FF-272A-4B62-AA4C-4A17E4F94828}" type="slidenum">
              <a:rPr lang="zh-CN" altLang="en-US" smtClean="0"/>
            </a:fld>
            <a:endParaRPr lang="zh-CN" altLang="en-US"/>
          </a:p>
        </p:txBody>
      </p:sp>
      <p:sp>
        <p:nvSpPr>
          <p:cNvPr id="17" name="Watermark"/>
          <p:cNvSpPr txBox="1"/>
          <p:nvPr/>
        </p:nvSpPr>
        <p:spPr>
          <a:xfrm>
            <a:off x="9884000" y="6400000"/>
            <a:ext cx="2200000" cy="3500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91440" bIns="45720" rtlCol="0" anchor="b"/>
          <a:lstStyle/>
          <a:p>
            <a:pPr algn="r"/>
            <a:r>
              <a:rPr lang="zh-CN" sz="1600" dirty="0">
                <a:solidFill>
                  <a:srgbClr val="808080">
                    <a:alpha val="19999"/>
                  </a:srgbClr>
                </a:solidFill>
                <a:latin typeface="Arial" panose="020B0604020202020204"/>
                <a:ea typeface="宋体" panose="02010600030101010101" pitchFamily="2" charset="-122"/>
              </a:rPr>
              <a:t>AI 生成</a:t>
            </a:r>
            <a:endParaRPr lang="zh-CN" sz="1600" dirty="0">
              <a:solidFill>
                <a:srgbClr val="808080">
                  <a:alpha val="19999"/>
                </a:srgbClr>
              </a:solidFill>
              <a:latin typeface="Arial" panose="020B0604020202020204"/>
              <a:ea typeface="宋体" panose="02010600030101010101" pitchFamily="2" charset="-122"/>
            </a:endParaRPr>
          </a:p>
        </p:txBody>
      </p:sp>
      <p:sp>
        <p:nvSpPr>
          <p:cNvPr id="18" name="Rectangle 12"/>
          <p:cNvSpPr>
            <a:spLocks noChangeArrowheads="1"/>
          </p:cNvSpPr>
          <p:nvPr>
            <p:custDataLst>
              <p:tags r:id="rId1"/>
            </p:custDataLst>
          </p:nvPr>
        </p:nvSpPr>
        <p:spPr bwMode="auto">
          <a:xfrm>
            <a:off x="2271067" y="3501490"/>
            <a:ext cx="517283" cy="576000"/>
          </a:xfrm>
          <a:prstGeom prst="rect">
            <a:avLst/>
          </a:prstGeom>
          <a:solidFill>
            <a:schemeClr val="bg1"/>
          </a:solidFill>
          <a:ln w="38100">
            <a:solidFill>
              <a:srgbClr val="5B9BD5"/>
            </a:solidFill>
            <a:round/>
          </a:ln>
          <a:effectLst>
            <a:outerShdw dist="101600" dir="4080000" algn="ctr" rotWithShape="0">
              <a:schemeClr val="bg1">
                <a:lumMod val="75000"/>
                <a:alpha val="50000"/>
              </a:schemeClr>
            </a:outerShdw>
          </a:effectLst>
        </p:spPr>
        <p:txBody>
          <a:bodyPr wrap="none" anchor="ctr"/>
          <a:lstStyle/>
          <a:p>
            <a:pPr algn="ctr"/>
            <a:r>
              <a:rPr lang="en-US" altLang="zh-CN" sz="2400" b="1" dirty="0">
                <a:latin typeface="微软雅黑" panose="020B0503020204020204" charset="-122"/>
                <a:ea typeface="微软雅黑" panose="020B0503020204020204" charset="-122"/>
              </a:rPr>
              <a:t>3</a:t>
            </a:r>
            <a:endParaRPr lang="en-US" altLang="zh-CN" sz="2400" b="1" dirty="0"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19" name="Rectangle 11"/>
          <p:cNvSpPr>
            <a:spLocks noChangeArrowheads="1"/>
          </p:cNvSpPr>
          <p:nvPr>
            <p:custDataLst>
              <p:tags r:id="rId2"/>
            </p:custDataLst>
          </p:nvPr>
        </p:nvSpPr>
        <p:spPr bwMode="auto">
          <a:xfrm>
            <a:off x="3059285" y="3501490"/>
            <a:ext cx="7365995" cy="576000"/>
          </a:xfrm>
          <a:prstGeom prst="rect">
            <a:avLst/>
          </a:prstGeom>
          <a:solidFill>
            <a:schemeClr val="bg1"/>
          </a:solidFill>
          <a:ln w="38100">
            <a:solidFill>
              <a:srgbClr val="5B9BD5"/>
            </a:solidFill>
            <a:round/>
          </a:ln>
          <a:effectLst>
            <a:outerShdw dist="101600" dir="4080000" algn="ctr" rotWithShape="0">
              <a:schemeClr val="bg1">
                <a:lumMod val="75000"/>
                <a:alpha val="50000"/>
              </a:schemeClr>
            </a:outerShdw>
          </a:effectLst>
        </p:spPr>
        <p:txBody>
          <a:bodyPr wrap="none" anchor="ctr"/>
          <a:lstStyle/>
          <a:p>
            <a:pPr algn="l"/>
            <a:r>
              <a:rPr kumimoji="1" lang="zh-CN" altLang="en-US" sz="2400" b="1" dirty="0">
                <a:latin typeface="微软雅黑" panose="020B0503020204020204" charset="-122"/>
                <a:ea typeface="微软雅黑" panose="020B0503020204020204" charset="-122"/>
                <a:sym typeface="+mn-ea"/>
              </a:rPr>
              <a:t>具身智能数据采集全流程指南</a:t>
            </a:r>
            <a:endParaRPr kumimoji="1" lang="zh-CN" altLang="en-US" sz="2400" b="1" dirty="0">
              <a:latin typeface="微软雅黑" panose="020B0503020204020204" charset="-122"/>
              <a:ea typeface="微软雅黑" panose="020B0503020204020204" charset="-122"/>
              <a:sym typeface="+mn-ea"/>
            </a:endParaRPr>
          </a:p>
        </p:txBody>
      </p:sp>
      <p:sp>
        <p:nvSpPr>
          <p:cNvPr id="3" name="Rectangle 11"/>
          <p:cNvSpPr>
            <a:spLocks noChangeArrowheads="1"/>
          </p:cNvSpPr>
          <p:nvPr>
            <p:custDataLst>
              <p:tags r:id="rId3"/>
            </p:custDataLst>
          </p:nvPr>
        </p:nvSpPr>
        <p:spPr bwMode="auto">
          <a:xfrm>
            <a:off x="3059328" y="4390980"/>
            <a:ext cx="7365995" cy="576000"/>
          </a:xfrm>
          <a:prstGeom prst="rect">
            <a:avLst/>
          </a:prstGeom>
          <a:solidFill>
            <a:schemeClr val="bg1"/>
          </a:solidFill>
          <a:ln w="38100">
            <a:solidFill>
              <a:srgbClr val="5B9BD5"/>
            </a:solidFill>
            <a:round/>
          </a:ln>
          <a:effectLst>
            <a:outerShdw dist="101600" dir="4080000" algn="ctr" rotWithShape="0">
              <a:schemeClr val="bg1">
                <a:lumMod val="75000"/>
                <a:alpha val="50000"/>
              </a:schemeClr>
            </a:outerShdw>
          </a:effectLst>
        </p:spPr>
        <p:txBody>
          <a:bodyPr wrap="none" anchor="ctr"/>
          <a:lstStyle/>
          <a:p>
            <a:r>
              <a:rPr kumimoji="1" lang="zh-CN" altLang="en-US" sz="2400" b="1" dirty="0">
                <a:latin typeface="微软雅黑" panose="020B0503020204020204" charset="-122"/>
                <a:ea typeface="微软雅黑" panose="020B0503020204020204" charset="-122"/>
                <a:sym typeface="+mn-ea"/>
              </a:rPr>
              <a:t>支撑“具身智能</a:t>
            </a:r>
            <a:r>
              <a:rPr kumimoji="1" lang="en-US" altLang="zh-CN" sz="2400" b="1" dirty="0">
                <a:latin typeface="微软雅黑" panose="020B0503020204020204" charset="-122"/>
                <a:ea typeface="微软雅黑" panose="020B0503020204020204" charset="-122"/>
                <a:sym typeface="+mn-ea"/>
              </a:rPr>
              <a:t>“</a:t>
            </a:r>
            <a:r>
              <a:rPr kumimoji="1" lang="zh-CN" altLang="en-US" sz="2400" b="1" dirty="0">
                <a:latin typeface="微软雅黑" panose="020B0503020204020204" charset="-122"/>
                <a:ea typeface="微软雅黑" panose="020B0503020204020204" charset="-122"/>
                <a:sym typeface="+mn-ea"/>
              </a:rPr>
              <a:t>建设的配套资源</a:t>
            </a:r>
            <a:endParaRPr kumimoji="1" lang="zh-CN" altLang="en-US" sz="2400" b="1" dirty="0">
              <a:latin typeface="微软雅黑" panose="020B0503020204020204" charset="-122"/>
              <a:ea typeface="微软雅黑" panose="020B0503020204020204" charset="-122"/>
              <a:sym typeface="+mn-ea"/>
            </a:endParaRPr>
          </a:p>
        </p:txBody>
      </p:sp>
      <p:sp>
        <p:nvSpPr>
          <p:cNvPr id="4" name="Rectangle 12"/>
          <p:cNvSpPr>
            <a:spLocks noChangeArrowheads="1"/>
          </p:cNvSpPr>
          <p:nvPr>
            <p:custDataLst>
              <p:tags r:id="rId4"/>
            </p:custDataLst>
          </p:nvPr>
        </p:nvSpPr>
        <p:spPr bwMode="auto">
          <a:xfrm>
            <a:off x="2271110" y="4390887"/>
            <a:ext cx="517283" cy="576000"/>
          </a:xfrm>
          <a:prstGeom prst="rect">
            <a:avLst/>
          </a:prstGeom>
          <a:solidFill>
            <a:schemeClr val="bg1"/>
          </a:solidFill>
          <a:ln w="38100">
            <a:solidFill>
              <a:srgbClr val="5B9BD5"/>
            </a:solidFill>
            <a:round/>
          </a:ln>
          <a:effectLst>
            <a:outerShdw dist="101600" dir="4080000" algn="ctr" rotWithShape="0">
              <a:schemeClr val="bg1">
                <a:lumMod val="75000"/>
                <a:alpha val="50000"/>
              </a:schemeClr>
            </a:outerShdw>
          </a:effectLst>
        </p:spPr>
        <p:txBody>
          <a:bodyPr wrap="none" anchor="ctr"/>
          <a:lstStyle/>
          <a:p>
            <a:pPr algn="ctr"/>
            <a:r>
              <a:rPr lang="en-US" altLang="zh-CN" sz="2400" b="1" dirty="0">
                <a:latin typeface="微软雅黑" panose="020B0503020204020204" charset="-122"/>
                <a:ea typeface="微软雅黑" panose="020B0503020204020204" charset="-122"/>
              </a:rPr>
              <a:t>4</a:t>
            </a:r>
            <a:endParaRPr lang="en-US" altLang="zh-CN" sz="2400" b="1" dirty="0"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10" name="Rectangle 11"/>
          <p:cNvSpPr>
            <a:spLocks noChangeArrowheads="1"/>
          </p:cNvSpPr>
          <p:nvPr>
            <p:custDataLst>
              <p:tags r:id="rId5"/>
            </p:custDataLst>
          </p:nvPr>
        </p:nvSpPr>
        <p:spPr bwMode="auto">
          <a:xfrm>
            <a:off x="3074935" y="2534877"/>
            <a:ext cx="7365995" cy="576000"/>
          </a:xfrm>
          <a:prstGeom prst="rect">
            <a:avLst/>
          </a:prstGeom>
          <a:solidFill>
            <a:srgbClr val="5DA0F9"/>
          </a:solidFill>
          <a:ln w="38100">
            <a:solidFill>
              <a:srgbClr val="5B9BD5"/>
            </a:solidFill>
            <a:round/>
          </a:ln>
          <a:effectLst>
            <a:outerShdw dist="101600" dir="4080000" algn="ctr" rotWithShape="0">
              <a:schemeClr val="bg1">
                <a:lumMod val="75000"/>
                <a:alpha val="50000"/>
              </a:schemeClr>
            </a:outerShdw>
          </a:effectLst>
        </p:spPr>
        <p:txBody>
          <a:bodyPr wrap="none" anchor="ctr"/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l"/>
            <a:r>
              <a:rPr kumimoji="1" lang="zh-CN" altLang="en-US" sz="2400" b="1" dirty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  <a:sym typeface="+mn-ea"/>
              </a:rPr>
              <a:t>具身智能机器人产业背景及国家政策</a:t>
            </a:r>
            <a:endParaRPr kumimoji="1" lang="zh-CN" altLang="en-US" sz="24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  <a:sym typeface="+mn-ea"/>
            </a:endParaRPr>
          </a:p>
        </p:txBody>
      </p:sp>
      <p:sp>
        <p:nvSpPr>
          <p:cNvPr id="11" name="Rectangle 12"/>
          <p:cNvSpPr>
            <a:spLocks noChangeArrowheads="1"/>
          </p:cNvSpPr>
          <p:nvPr>
            <p:custDataLst>
              <p:tags r:id="rId6"/>
            </p:custDataLst>
          </p:nvPr>
        </p:nvSpPr>
        <p:spPr bwMode="auto">
          <a:xfrm>
            <a:off x="2286717" y="2534784"/>
            <a:ext cx="517283" cy="576000"/>
          </a:xfrm>
          <a:prstGeom prst="rect">
            <a:avLst/>
          </a:prstGeom>
          <a:solidFill>
            <a:srgbClr val="5DA0F9"/>
          </a:solidFill>
          <a:ln w="38100">
            <a:solidFill>
              <a:srgbClr val="5B9BD5"/>
            </a:solidFill>
            <a:round/>
          </a:ln>
          <a:effectLst>
            <a:outerShdw dist="101600" dir="4080000" algn="ctr" rotWithShape="0">
              <a:schemeClr val="bg1">
                <a:lumMod val="75000"/>
                <a:alpha val="50000"/>
              </a:schemeClr>
            </a:outerShdw>
          </a:effectLst>
        </p:spPr>
        <p:txBody>
          <a:bodyPr wrap="none" anchor="ctr"/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lang="en-US" altLang="zh-CN" sz="2400" b="1" dirty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</a:rPr>
              <a:t>2</a:t>
            </a:r>
            <a:endParaRPr lang="en-US" altLang="zh-CN" sz="24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12" name="Rectangle 11"/>
          <p:cNvSpPr>
            <a:spLocks noChangeArrowheads="1"/>
          </p:cNvSpPr>
          <p:nvPr>
            <p:custDataLst>
              <p:tags r:id="rId7"/>
            </p:custDataLst>
          </p:nvPr>
        </p:nvSpPr>
        <p:spPr bwMode="auto">
          <a:xfrm>
            <a:off x="3075160" y="1722745"/>
            <a:ext cx="7365995" cy="576000"/>
          </a:xfrm>
          <a:prstGeom prst="rect">
            <a:avLst/>
          </a:prstGeom>
          <a:solidFill>
            <a:schemeClr val="bg1"/>
          </a:solidFill>
          <a:ln w="38100">
            <a:solidFill>
              <a:srgbClr val="5B9BD5"/>
            </a:solidFill>
            <a:round/>
          </a:ln>
          <a:effectLst>
            <a:outerShdw dist="101600" dir="4080000" algn="ctr" rotWithShape="0">
              <a:schemeClr val="bg1">
                <a:lumMod val="75000"/>
                <a:alpha val="50000"/>
              </a:schemeClr>
            </a:outerShdw>
          </a:effectLst>
        </p:spPr>
        <p:txBody>
          <a:bodyPr wrap="none" anchor="ctr"/>
          <a:lstStyle/>
          <a:p>
            <a:r>
              <a:rPr kumimoji="1" lang="zh-CN" altLang="en-US" sz="2400" b="1" dirty="0">
                <a:latin typeface="微软雅黑" panose="020B0503020204020204" charset="-122"/>
                <a:ea typeface="微软雅黑" panose="020B0503020204020204" charset="-122"/>
                <a:sym typeface="+mn-ea"/>
              </a:rPr>
              <a:t>图灵智新</a:t>
            </a:r>
            <a:r>
              <a:rPr kumimoji="1" lang="zh-CN" altLang="en-US" sz="2400" b="1" dirty="0">
                <a:latin typeface="微软雅黑" panose="020B0503020204020204" charset="-122"/>
                <a:ea typeface="微软雅黑" panose="020B0503020204020204" charset="-122"/>
                <a:sym typeface="+mn-ea"/>
              </a:rPr>
              <a:t>介绍</a:t>
            </a:r>
            <a:endParaRPr kumimoji="1" lang="zh-CN" altLang="en-US" sz="2400" b="1" dirty="0">
              <a:latin typeface="微软雅黑" panose="020B0503020204020204" charset="-122"/>
              <a:ea typeface="微软雅黑" panose="020B0503020204020204" charset="-122"/>
              <a:sym typeface="+mn-ea"/>
            </a:endParaRPr>
          </a:p>
        </p:txBody>
      </p:sp>
      <p:sp>
        <p:nvSpPr>
          <p:cNvPr id="13" name="Rectangle 12"/>
          <p:cNvSpPr>
            <a:spLocks noChangeArrowheads="1"/>
          </p:cNvSpPr>
          <p:nvPr>
            <p:custDataLst>
              <p:tags r:id="rId8"/>
            </p:custDataLst>
          </p:nvPr>
        </p:nvSpPr>
        <p:spPr bwMode="auto">
          <a:xfrm>
            <a:off x="2286942" y="1722652"/>
            <a:ext cx="517283" cy="576000"/>
          </a:xfrm>
          <a:prstGeom prst="rect">
            <a:avLst/>
          </a:prstGeom>
          <a:solidFill>
            <a:schemeClr val="bg1"/>
          </a:solidFill>
          <a:ln w="38100">
            <a:solidFill>
              <a:srgbClr val="5B9BD5"/>
            </a:solidFill>
            <a:round/>
          </a:ln>
          <a:effectLst>
            <a:outerShdw dist="101600" dir="4080000" algn="ctr" rotWithShape="0">
              <a:schemeClr val="bg1">
                <a:lumMod val="75000"/>
                <a:alpha val="50000"/>
              </a:schemeClr>
            </a:outerShdw>
          </a:effectLst>
        </p:spPr>
        <p:txBody>
          <a:bodyPr wrap="none" anchor="ctr"/>
          <a:lstStyle/>
          <a:p>
            <a:pPr algn="ctr"/>
            <a:r>
              <a:rPr lang="en-US" altLang="zh-CN" sz="2400" b="1" dirty="0">
                <a:latin typeface="微软雅黑" panose="020B0503020204020204" charset="-122"/>
                <a:ea typeface="微软雅黑" panose="020B0503020204020204" charset="-122"/>
              </a:rPr>
              <a:t>1</a:t>
            </a:r>
            <a:endParaRPr lang="en-US" altLang="zh-CN" sz="2400" b="1" dirty="0">
              <a:latin typeface="微软雅黑" panose="020B0503020204020204" charset="-122"/>
              <a:ea typeface="微软雅黑" panose="020B0503020204020204" charset="-122"/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矩形 3"/>
          <p:cNvSpPr/>
          <p:nvPr>
            <p:custDataLst>
              <p:tags r:id="rId1"/>
            </p:custDataLst>
          </p:nvPr>
        </p:nvSpPr>
        <p:spPr>
          <a:xfrm>
            <a:off x="1519020" y="4949300"/>
            <a:ext cx="6699073" cy="616585"/>
          </a:xfrm>
          <a:prstGeom prst="rect">
            <a:avLst/>
          </a:prstGeom>
          <a:noFill/>
        </p:spPr>
        <p:txBody>
          <a:bodyPr wrap="square" lIns="0" tIns="0" rIns="0" bIns="0" rtlCol="0" anchor="t" anchorCtr="0">
            <a:noAutofit/>
          </a:bodyPr>
          <a:lstStyle/>
          <a:p>
            <a:pPr marL="0" marR="0" lvl="0" indent="0" algn="just" defTabSz="914400" rtl="0" eaLnBrk="1" fontAlgn="auto" latinLnBrk="0" hangingPunct="1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kumimoji="0" lang="zh-CN" altLang="en-US" sz="1200" b="0" i="0" u="none" strike="noStrike" kern="1200" cap="none" spc="40" normalizeH="0" baseline="0" noProof="0" dirty="0">
                <a:ln w="3175">
                  <a:noFill/>
                  <a:prstDash val="dash"/>
                </a:ln>
                <a:solidFill>
                  <a:prstClr val="black">
                    <a:lumMod val="75000"/>
                    <a:lumOff val="25000"/>
                  </a:prstClr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ea"/>
              </a:rPr>
              <a:t>明确指出将“推动量子科技、生物制造、氢能和核聚变能、脑机接口、</a:t>
            </a:r>
            <a:r>
              <a:rPr kumimoji="0" lang="zh-CN" altLang="en-US" sz="1200" b="1" i="0" u="none" strike="noStrike" kern="1200" cap="none" spc="40" normalizeH="0" baseline="0" noProof="0" dirty="0">
                <a:ln w="3175">
                  <a:noFill/>
                  <a:prstDash val="dash"/>
                </a:ln>
                <a:solidFill>
                  <a:srgbClr val="4472C4"/>
                </a:solidFill>
                <a:effectLst/>
                <a:highlight>
                  <a:srgbClr val="FFFF00"/>
                </a:highlight>
                <a:uLnTx/>
                <a:uFillTx/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ea"/>
              </a:rPr>
              <a:t>具身智能</a:t>
            </a:r>
            <a:r>
              <a:rPr kumimoji="0" lang="zh-CN" altLang="en-US" sz="1200" b="0" i="0" u="none" strike="noStrike" kern="1200" cap="none" spc="40" normalizeH="0" baseline="0" noProof="0" dirty="0">
                <a:ln w="3175">
                  <a:noFill/>
                  <a:prstDash val="dash"/>
                </a:ln>
                <a:solidFill>
                  <a:prstClr val="black">
                    <a:lumMod val="75000"/>
                    <a:lumOff val="25000"/>
                  </a:prstClr>
                </a:solidFill>
                <a:effectLst/>
                <a:highlight>
                  <a:srgbClr val="FFFF00"/>
                </a:highlight>
                <a:uLnTx/>
                <a:uFillTx/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ea"/>
              </a:rPr>
              <a:t>、</a:t>
            </a:r>
            <a:r>
              <a:rPr kumimoji="0" lang="zh-CN" altLang="en-US" sz="1200" b="0" i="0" u="none" strike="noStrike" kern="1200" cap="none" spc="40" normalizeH="0" baseline="0" noProof="0" dirty="0">
                <a:ln w="3175">
                  <a:noFill/>
                  <a:prstDash val="dash"/>
                </a:ln>
                <a:solidFill>
                  <a:prstClr val="black">
                    <a:lumMod val="75000"/>
                    <a:lumOff val="25000"/>
                  </a:prstClr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ea"/>
              </a:rPr>
              <a:t>第六代移动通信等成为新的经济增长点”。这一表述直接</a:t>
            </a:r>
            <a:r>
              <a:rPr kumimoji="0" lang="zh-CN" altLang="en-US" sz="1400" b="1" i="0" u="none" strike="noStrike" kern="1200" cap="none" spc="40" normalizeH="0" baseline="0" noProof="0" dirty="0">
                <a:ln w="3175">
                  <a:noFill/>
                  <a:prstDash val="dash"/>
                </a:ln>
                <a:solidFill>
                  <a:srgbClr val="4472C4"/>
                </a:solidFill>
                <a:effectLst/>
                <a:highlight>
                  <a:srgbClr val="FFFF00"/>
                </a:highlight>
                <a:uLnTx/>
                <a:uFillTx/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ea"/>
              </a:rPr>
              <a:t>将具身智能纳入“十五五”时期国家重点培育的未来产业范畴</a:t>
            </a:r>
            <a:r>
              <a:rPr kumimoji="0" lang="zh-CN" altLang="en-US" sz="1200" b="0" i="0" u="none" strike="noStrike" kern="1200" cap="none" spc="40" normalizeH="0" baseline="0" noProof="0" dirty="0">
                <a:ln w="3175">
                  <a:noFill/>
                  <a:prstDash val="dash"/>
                </a:ln>
                <a:solidFill>
                  <a:prstClr val="black">
                    <a:lumMod val="75000"/>
                    <a:lumOff val="25000"/>
                  </a:prstClr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ea"/>
              </a:rPr>
              <a:t>，确立了其在国家战略中的重要地位。</a:t>
            </a:r>
            <a:endParaRPr kumimoji="0" lang="zh-CN" altLang="en-US" sz="1200" b="0" i="0" u="none" strike="noStrike" kern="1200" cap="none" spc="40" normalizeH="0" baseline="0" noProof="0" dirty="0">
              <a:ln w="3175">
                <a:noFill/>
                <a:prstDash val="dash"/>
              </a:ln>
              <a:solidFill>
                <a:prstClr val="black">
                  <a:lumMod val="75000"/>
                  <a:lumOff val="25000"/>
                </a:prstClr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  <a:sym typeface="+mn-ea"/>
            </a:endParaRPr>
          </a:p>
          <a:p>
            <a:pPr marL="0" marR="0" lvl="0" indent="0" algn="just" defTabSz="914400" rtl="0" eaLnBrk="1" fontAlgn="auto" latinLnBrk="0" hangingPunct="1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zh-CN" altLang="en-US" sz="1200" b="0" i="0" u="none" strike="noStrike" kern="1200" cap="none" spc="40" normalizeH="0" baseline="0" noProof="0" dirty="0">
              <a:ln w="3175">
                <a:noFill/>
                <a:prstDash val="dash"/>
              </a:ln>
              <a:solidFill>
                <a:prstClr val="black">
                  <a:lumMod val="75000"/>
                  <a:lumOff val="25000"/>
                </a:prstClr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  <a:sym typeface="+mn-ea"/>
            </a:endParaRPr>
          </a:p>
        </p:txBody>
      </p:sp>
      <p:sp>
        <p:nvSpPr>
          <p:cNvPr id="5" name="矩形 4"/>
          <p:cNvSpPr/>
          <p:nvPr>
            <p:custDataLst>
              <p:tags r:id="rId2"/>
            </p:custDataLst>
          </p:nvPr>
        </p:nvSpPr>
        <p:spPr>
          <a:xfrm>
            <a:off x="1518385" y="4581000"/>
            <a:ext cx="6392830" cy="443230"/>
          </a:xfrm>
          <a:prstGeom prst="rect">
            <a:avLst/>
          </a:prstGeom>
          <a:noFill/>
        </p:spPr>
        <p:txBody>
          <a:bodyPr wrap="square" lIns="0" tIns="0" rIns="0" bIns="0" rtlCol="0" anchor="ctr" anchorCtr="0">
            <a:noAutofit/>
          </a:bodyPr>
          <a:lstStyle/>
          <a:p>
            <a:pPr marL="0" marR="0" lvl="0" indent="0" algn="just" defTabSz="914400" rtl="0" eaLnBrk="1" fontAlgn="auto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kumimoji="0" lang="zh-CN" altLang="en-US" sz="1400" b="1" i="0" u="none" strike="noStrike" kern="1200" cap="none" spc="40" normalizeH="0" baseline="0" noProof="0">
                <a:ln w="3175">
                  <a:noFill/>
                  <a:prstDash val="dash"/>
                </a:ln>
                <a:solidFill>
                  <a:prstClr val="black">
                    <a:lumMod val="75000"/>
                    <a:lumOff val="25000"/>
                  </a:prstClr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ea"/>
              </a:rPr>
              <a:t>《中共中央关于制定国民经济和社会发展第十五个五年规划的建议》</a:t>
            </a:r>
            <a:endParaRPr kumimoji="0" lang="zh-CN" altLang="en-US" sz="1400" b="1" i="0" u="none" strike="noStrike" kern="1200" cap="none" spc="40" normalizeH="0" baseline="0" noProof="0">
              <a:ln w="3175">
                <a:noFill/>
                <a:prstDash val="dash"/>
              </a:ln>
              <a:solidFill>
                <a:prstClr val="black">
                  <a:lumMod val="75000"/>
                  <a:lumOff val="25000"/>
                </a:prstClr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  <a:sym typeface="+mn-ea"/>
            </a:endParaRPr>
          </a:p>
        </p:txBody>
      </p:sp>
      <p:sp>
        <p:nvSpPr>
          <p:cNvPr id="6" name="矩形 5"/>
          <p:cNvSpPr/>
          <p:nvPr>
            <p:custDataLst>
              <p:tags r:id="rId3"/>
            </p:custDataLst>
          </p:nvPr>
        </p:nvSpPr>
        <p:spPr>
          <a:xfrm>
            <a:off x="655322" y="4644254"/>
            <a:ext cx="556185" cy="556185"/>
          </a:xfrm>
          <a:prstGeom prst="rect">
            <a:avLst/>
          </a:prstGeom>
          <a:solidFill>
            <a:srgbClr val="376FFF"/>
          </a:solidFill>
          <a:ln>
            <a:noFill/>
          </a:ln>
          <a:effectLst/>
        </p:spPr>
        <p:style>
          <a:lnRef idx="2">
            <a:srgbClr val="376FFF">
              <a:shade val="50000"/>
            </a:srgbClr>
          </a:lnRef>
          <a:fillRef idx="1">
            <a:srgbClr val="376FFF"/>
          </a:fillRef>
          <a:effectRef idx="0">
            <a:srgbClr val="376FFF"/>
          </a:effectRef>
          <a:fontRef idx="minor">
            <a:srgbClr val="FFFFFF"/>
          </a:fontRef>
        </p:style>
        <p:txBody>
          <a:bodyPr wrap="square" lIns="0" tIns="0" rIns="0" bIns="0" rtlCol="0" anchor="ctr">
            <a:no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kumimoji="0" lang="en-US" altLang="zh-CN" sz="2400" b="0" i="0" u="none" strike="noStrike" kern="1200" cap="none" spc="0" normalizeH="0" baseline="0" noProof="0" dirty="0">
                <a:ln>
                  <a:noFill/>
                </a:ln>
                <a:solidFill>
                  <a:srgbClr val="FFFFFF">
                    <a:lumMod val="100000"/>
                  </a:srgbClr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微软雅黑" panose="020B0503020204020204" charset="-122"/>
              </a:rPr>
              <a:t>03</a:t>
            </a:r>
            <a:endParaRPr kumimoji="0" lang="zh-CN" altLang="en-US" sz="2400" b="0" i="0" u="none" strike="noStrike" kern="1200" cap="none" spc="0" normalizeH="0" baseline="0" noProof="0" dirty="0">
              <a:ln>
                <a:noFill/>
              </a:ln>
              <a:solidFill>
                <a:srgbClr val="FFFFFF">
                  <a:lumMod val="100000"/>
                </a:srgbClr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  <a:sym typeface="微软雅黑" panose="020B0503020204020204" charset="-122"/>
            </a:endParaRPr>
          </a:p>
        </p:txBody>
      </p:sp>
      <p:sp>
        <p:nvSpPr>
          <p:cNvPr id="7" name="矩形 6"/>
          <p:cNvSpPr/>
          <p:nvPr>
            <p:custDataLst>
              <p:tags r:id="rId4"/>
            </p:custDataLst>
          </p:nvPr>
        </p:nvSpPr>
        <p:spPr>
          <a:xfrm>
            <a:off x="1526640" y="6338839"/>
            <a:ext cx="6698772" cy="616585"/>
          </a:xfrm>
          <a:prstGeom prst="rect">
            <a:avLst/>
          </a:prstGeom>
          <a:noFill/>
        </p:spPr>
        <p:txBody>
          <a:bodyPr wrap="square" lIns="0" tIns="0" rIns="0" bIns="0" rtlCol="0" anchor="t" anchorCtr="0">
            <a:noAutofit/>
          </a:bodyPr>
          <a:lstStyle/>
          <a:p>
            <a:pPr marL="0" marR="0" lvl="0" indent="0" algn="just" defTabSz="914400" rtl="0" eaLnBrk="1" fontAlgn="auto" latinLnBrk="0" hangingPunct="1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kumimoji="0" lang="zh-CN" altLang="en-US" sz="1200" b="0" i="0" u="none" strike="noStrike" kern="1200" cap="none" spc="40" normalizeH="0" baseline="0" noProof="0" dirty="0">
                <a:ln w="3175">
                  <a:noFill/>
                  <a:prstDash val="dash"/>
                </a:ln>
                <a:solidFill>
                  <a:prstClr val="black">
                    <a:lumMod val="75000"/>
                    <a:lumOff val="25000"/>
                  </a:prstClr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ea"/>
              </a:rPr>
              <a:t>明确“突破具身智能控制、人机共融等核心技术”，“</a:t>
            </a:r>
            <a:r>
              <a:rPr kumimoji="0" lang="zh-CN" altLang="en-US" sz="1200" i="0" u="none" strike="noStrike" kern="1200" cap="none" spc="40" normalizeH="0" baseline="0" noProof="0" dirty="0">
                <a:ln w="3175">
                  <a:noFill/>
                  <a:prstDash val="dash"/>
                </a:ln>
                <a:solidFill>
                  <a:schemeClr val="tx1">
                    <a:lumMod val="65000"/>
                    <a:lumOff val="35000"/>
                  </a:schemeClr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ea"/>
              </a:rPr>
              <a:t>加强智能机器人领域高技能人才培养</a:t>
            </a:r>
            <a:r>
              <a:rPr kumimoji="0" lang="zh-CN" altLang="en-US" sz="1200" b="0" i="0" u="none" strike="noStrike" kern="1200" cap="none" spc="40" normalizeH="0" baseline="0" noProof="0" dirty="0">
                <a:ln w="3175">
                  <a:noFill/>
                  <a:prstDash val="dash"/>
                </a:ln>
                <a:solidFill>
                  <a:prstClr val="black">
                    <a:lumMod val="75000"/>
                    <a:lumOff val="25000"/>
                  </a:prstClr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ea"/>
              </a:rPr>
              <a:t>”，要求职业院校与企业共建“双元”育人平台。</a:t>
            </a:r>
            <a:endParaRPr kumimoji="0" lang="zh-CN" altLang="en-US" sz="1200" b="0" i="0" u="none" strike="noStrike" kern="1200" cap="none" spc="40" normalizeH="0" baseline="0" noProof="0" dirty="0">
              <a:ln w="3175">
                <a:noFill/>
                <a:prstDash val="dash"/>
              </a:ln>
              <a:solidFill>
                <a:prstClr val="black">
                  <a:lumMod val="75000"/>
                  <a:lumOff val="25000"/>
                </a:prstClr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  <a:sym typeface="+mn-ea"/>
            </a:endParaRPr>
          </a:p>
        </p:txBody>
      </p:sp>
      <p:sp>
        <p:nvSpPr>
          <p:cNvPr id="8" name="矩形 7"/>
          <p:cNvSpPr/>
          <p:nvPr>
            <p:custDataLst>
              <p:tags r:id="rId5"/>
            </p:custDataLst>
          </p:nvPr>
        </p:nvSpPr>
        <p:spPr>
          <a:xfrm>
            <a:off x="1526005" y="5893704"/>
            <a:ext cx="6392830" cy="443230"/>
          </a:xfrm>
          <a:prstGeom prst="rect">
            <a:avLst/>
          </a:prstGeom>
          <a:noFill/>
        </p:spPr>
        <p:txBody>
          <a:bodyPr wrap="square" lIns="0" tIns="0" rIns="0" bIns="0" rtlCol="0" anchor="ctr" anchorCtr="0">
            <a:noAutofit/>
          </a:bodyPr>
          <a:lstStyle/>
          <a:p>
            <a:pPr marL="0" marR="0" lvl="0" indent="0" algn="just" defTabSz="914400" rtl="0" eaLnBrk="1" fontAlgn="auto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kumimoji="0" lang="zh-CN" altLang="en-US" sz="1400" b="1" i="0" u="none" strike="noStrike" kern="1200" cap="none" spc="40" normalizeH="0" baseline="0" noProof="0">
                <a:ln w="3175">
                  <a:noFill/>
                  <a:prstDash val="dash"/>
                </a:ln>
                <a:solidFill>
                  <a:prstClr val="black">
                    <a:lumMod val="75000"/>
                    <a:lumOff val="25000"/>
                  </a:prstClr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ea"/>
              </a:rPr>
              <a:t>《广东省培育智能机器人战略性新兴产业集群行动计划（2023—2025年）》</a:t>
            </a:r>
            <a:endParaRPr kumimoji="0" lang="zh-CN" altLang="en-US" sz="1400" b="1" i="0" u="none" strike="noStrike" kern="1200" cap="none" spc="40" normalizeH="0" baseline="0" noProof="0">
              <a:ln w="3175">
                <a:noFill/>
                <a:prstDash val="dash"/>
              </a:ln>
              <a:solidFill>
                <a:prstClr val="black">
                  <a:lumMod val="75000"/>
                  <a:lumOff val="25000"/>
                </a:prstClr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  <a:sym typeface="+mn-ea"/>
            </a:endParaRPr>
          </a:p>
        </p:txBody>
      </p:sp>
      <p:sp>
        <p:nvSpPr>
          <p:cNvPr id="11" name="矩形 10"/>
          <p:cNvSpPr/>
          <p:nvPr>
            <p:custDataLst>
              <p:tags r:id="rId6"/>
            </p:custDataLst>
          </p:nvPr>
        </p:nvSpPr>
        <p:spPr>
          <a:xfrm>
            <a:off x="663243" y="5957477"/>
            <a:ext cx="556185" cy="556185"/>
          </a:xfrm>
          <a:prstGeom prst="rect">
            <a:avLst/>
          </a:prstGeom>
          <a:solidFill>
            <a:srgbClr val="376FFF"/>
          </a:solidFill>
          <a:ln>
            <a:noFill/>
          </a:ln>
          <a:effectLst/>
        </p:spPr>
        <p:style>
          <a:lnRef idx="2">
            <a:srgbClr val="376FFF">
              <a:shade val="50000"/>
            </a:srgbClr>
          </a:lnRef>
          <a:fillRef idx="1">
            <a:srgbClr val="376FFF"/>
          </a:fillRef>
          <a:effectRef idx="0">
            <a:srgbClr val="376FFF"/>
          </a:effectRef>
          <a:fontRef idx="minor">
            <a:srgbClr val="FFFFFF"/>
          </a:fontRef>
        </p:style>
        <p:txBody>
          <a:bodyPr wrap="square" lIns="0" tIns="0" rIns="0" bIns="0" rtlCol="0" anchor="ctr">
            <a:no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kumimoji="0" lang="en-US" altLang="zh-CN" sz="2400" b="0" i="0" u="none" strike="noStrike" kern="1200" cap="none" spc="0" normalizeH="0" baseline="0" noProof="0" dirty="0">
                <a:ln>
                  <a:noFill/>
                </a:ln>
                <a:solidFill>
                  <a:srgbClr val="FFFFFF">
                    <a:lumMod val="100000"/>
                  </a:srgbClr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微软雅黑" panose="020B0503020204020204" charset="-122"/>
              </a:rPr>
              <a:t>04</a:t>
            </a:r>
            <a:endParaRPr kumimoji="0" lang="zh-CN" altLang="en-US" sz="2400" b="0" i="0" u="none" strike="noStrike" kern="1200" cap="none" spc="0" normalizeH="0" baseline="0" noProof="0" dirty="0">
              <a:ln>
                <a:noFill/>
              </a:ln>
              <a:solidFill>
                <a:srgbClr val="FFFFFF">
                  <a:lumMod val="100000"/>
                </a:srgbClr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  <a:sym typeface="微软雅黑" panose="020B0503020204020204" charset="-122"/>
            </a:endParaRPr>
          </a:p>
        </p:txBody>
      </p:sp>
      <p:sp>
        <p:nvSpPr>
          <p:cNvPr id="14" name="矩形 13"/>
          <p:cNvSpPr/>
          <p:nvPr>
            <p:custDataLst>
              <p:tags r:id="rId7"/>
            </p:custDataLst>
          </p:nvPr>
        </p:nvSpPr>
        <p:spPr>
          <a:xfrm>
            <a:off x="735984" y="937175"/>
            <a:ext cx="556185" cy="556185"/>
          </a:xfrm>
          <a:prstGeom prst="rect">
            <a:avLst/>
          </a:prstGeom>
          <a:solidFill>
            <a:srgbClr val="376FFF"/>
          </a:solidFill>
          <a:ln>
            <a:noFill/>
          </a:ln>
          <a:effectLst/>
        </p:spPr>
        <p:style>
          <a:lnRef idx="2">
            <a:srgbClr val="376FFF">
              <a:shade val="50000"/>
            </a:srgbClr>
          </a:lnRef>
          <a:fillRef idx="1">
            <a:srgbClr val="376FFF"/>
          </a:fillRef>
          <a:effectRef idx="0">
            <a:srgbClr val="376FFF"/>
          </a:effectRef>
          <a:fontRef idx="minor">
            <a:srgbClr val="FFFFFF"/>
          </a:fontRef>
        </p:style>
        <p:txBody>
          <a:bodyPr wrap="square" lIns="0" tIns="0" rIns="0" bIns="0" rtlCol="0" anchor="ctr">
            <a:no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kumimoji="0" lang="en-US" altLang="zh-CN" sz="2400" b="0" i="0" u="none" strike="noStrike" kern="1200" cap="none" spc="0" normalizeH="0" baseline="0" noProof="0" dirty="0">
                <a:ln>
                  <a:noFill/>
                </a:ln>
                <a:solidFill>
                  <a:srgbClr val="FFFFFF">
                    <a:lumMod val="100000"/>
                  </a:srgbClr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微软雅黑" panose="020B0503020204020204" charset="-122"/>
              </a:rPr>
              <a:t>01</a:t>
            </a:r>
            <a:endParaRPr kumimoji="0" lang="zh-CN" altLang="en-US" sz="2400" b="0" i="0" u="none" strike="noStrike" kern="1200" cap="none" spc="0" normalizeH="0" baseline="0" noProof="0" dirty="0">
              <a:ln>
                <a:noFill/>
              </a:ln>
              <a:solidFill>
                <a:srgbClr val="FFFFFF">
                  <a:lumMod val="100000"/>
                </a:srgbClr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  <a:sym typeface="微软雅黑" panose="020B0503020204020204" charset="-122"/>
            </a:endParaRPr>
          </a:p>
        </p:txBody>
      </p:sp>
      <p:sp>
        <p:nvSpPr>
          <p:cNvPr id="18" name="矩形 17"/>
          <p:cNvSpPr/>
          <p:nvPr>
            <p:custDataLst>
              <p:tags r:id="rId8"/>
            </p:custDataLst>
          </p:nvPr>
        </p:nvSpPr>
        <p:spPr>
          <a:xfrm>
            <a:off x="1599379" y="1380435"/>
            <a:ext cx="6584619" cy="1760565"/>
          </a:xfrm>
          <a:prstGeom prst="rect">
            <a:avLst/>
          </a:prstGeom>
          <a:noFill/>
        </p:spPr>
        <p:txBody>
          <a:bodyPr wrap="square" lIns="0" tIns="0" rIns="0" bIns="0" rtlCol="0" anchor="t" anchorCtr="0">
            <a:no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zh-CN" altLang="en-US" sz="1200" b="1" i="0" u="none" strike="noStrike" kern="1200" cap="none" spc="0" normalizeH="0" baseline="0" noProof="0" dirty="0">
                <a:ln>
                  <a:noFill/>
                </a:ln>
                <a:solidFill>
                  <a:srgbClr val="0070C0"/>
                </a:solidFill>
                <a:effectLst/>
                <a:uLnTx/>
                <a:uFillTx/>
                <a:latin typeface="Arial" panose="020B0604020202020204"/>
                <a:ea typeface="微软雅黑" panose="020B0503020204020204" charset="-122"/>
                <a:cs typeface="+mn-cs"/>
              </a:rPr>
              <a:t>中国首个 </a:t>
            </a:r>
            <a:r>
              <a:rPr kumimoji="0" lang="en-US" altLang="zh-CN" sz="1200" b="1" i="0" u="none" strike="noStrike" kern="1200" cap="none" spc="0" normalizeH="0" baseline="0" noProof="0" dirty="0">
                <a:ln>
                  <a:noFill/>
                </a:ln>
                <a:solidFill>
                  <a:srgbClr val="0070C0"/>
                </a:solidFill>
                <a:effectLst/>
                <a:uLnTx/>
                <a:uFillTx/>
                <a:latin typeface="Arial" panose="020B0604020202020204"/>
                <a:ea typeface="微软雅黑" panose="020B0503020204020204" charset="-122"/>
                <a:cs typeface="+mn-cs"/>
              </a:rPr>
              <a:t>AI </a:t>
            </a:r>
            <a:r>
              <a:rPr kumimoji="0" lang="zh-CN" altLang="en-US" sz="1200" b="1" i="0" u="none" strike="noStrike" kern="1200" cap="none" spc="0" normalizeH="0" baseline="0" noProof="0" dirty="0">
                <a:ln>
                  <a:noFill/>
                </a:ln>
                <a:solidFill>
                  <a:srgbClr val="0070C0"/>
                </a:solidFill>
                <a:effectLst/>
                <a:uLnTx/>
                <a:uFillTx/>
                <a:latin typeface="Arial" panose="020B0604020202020204"/>
                <a:ea typeface="微软雅黑" panose="020B0503020204020204" charset="-122"/>
                <a:cs typeface="+mn-cs"/>
              </a:rPr>
              <a:t>国家级顶层设计文件</a:t>
            </a:r>
            <a:r>
              <a:rPr kumimoji="0" lang="zh-CN" altLang="en-US" sz="12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 panose="020B0604020202020204"/>
                <a:ea typeface="微软雅黑" panose="020B0503020204020204" charset="-122"/>
                <a:cs typeface="+mn-cs"/>
              </a:rPr>
              <a:t>，提出 “三步走” 战略（</a:t>
            </a:r>
            <a:r>
              <a:rPr kumimoji="0" lang="en-US" altLang="zh-CN" sz="12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 panose="020B0604020202020204"/>
                <a:ea typeface="微软雅黑" panose="020B0503020204020204" charset="-122"/>
                <a:cs typeface="+mn-cs"/>
              </a:rPr>
              <a:t>2020 </a:t>
            </a:r>
            <a:r>
              <a:rPr kumimoji="0" lang="zh-CN" altLang="en-US" sz="12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 panose="020B0604020202020204"/>
                <a:ea typeface="微软雅黑" panose="020B0503020204020204" charset="-122"/>
                <a:cs typeface="+mn-cs"/>
              </a:rPr>
              <a:t>年与世界同步、</a:t>
            </a:r>
            <a:r>
              <a:rPr kumimoji="0" lang="en-US" altLang="zh-CN" sz="12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 panose="020B0604020202020204"/>
                <a:ea typeface="微软雅黑" panose="020B0503020204020204" charset="-122"/>
                <a:cs typeface="+mn-cs"/>
              </a:rPr>
              <a:t>2025 </a:t>
            </a:r>
            <a:r>
              <a:rPr kumimoji="0" lang="zh-CN" altLang="en-US" sz="12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 panose="020B0604020202020204"/>
                <a:ea typeface="微软雅黑" panose="020B0503020204020204" charset="-122"/>
                <a:cs typeface="+mn-cs"/>
              </a:rPr>
              <a:t>年部分领先、</a:t>
            </a:r>
            <a:r>
              <a:rPr kumimoji="0" lang="en-US" altLang="zh-CN" sz="12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 panose="020B0604020202020204"/>
                <a:ea typeface="微软雅黑" panose="020B0503020204020204" charset="-122"/>
                <a:cs typeface="+mn-cs"/>
              </a:rPr>
              <a:t>2030 </a:t>
            </a:r>
            <a:r>
              <a:rPr kumimoji="0" lang="zh-CN" altLang="en-US" sz="12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 panose="020B0604020202020204"/>
                <a:ea typeface="微软雅黑" panose="020B0503020204020204" charset="-122"/>
                <a:cs typeface="+mn-cs"/>
              </a:rPr>
              <a:t>年成全球创新中心），明确</a:t>
            </a:r>
            <a:r>
              <a:rPr kumimoji="0" lang="zh-CN" altLang="en-US" sz="1200" b="1" i="0" u="none" strike="noStrike" kern="1200" cap="none" spc="0" normalizeH="0" baseline="0" noProof="0" dirty="0">
                <a:ln>
                  <a:noFill/>
                </a:ln>
                <a:solidFill>
                  <a:srgbClr val="0070C0"/>
                </a:solidFill>
                <a:effectLst/>
                <a:uLnTx/>
                <a:uFillTx/>
                <a:latin typeface="Arial" panose="020B0604020202020204"/>
                <a:ea typeface="微软雅黑" panose="020B0503020204020204" charset="-122"/>
                <a:cs typeface="+mn-cs"/>
              </a:rPr>
              <a:t>核心产业规模 </a:t>
            </a:r>
            <a:r>
              <a:rPr kumimoji="0" lang="en-US" altLang="zh-CN" sz="1200" b="1" i="0" u="none" strike="noStrike" kern="1200" cap="none" spc="0" normalizeH="0" baseline="0" noProof="0" dirty="0">
                <a:ln>
                  <a:noFill/>
                </a:ln>
                <a:solidFill>
                  <a:srgbClr val="0070C0"/>
                </a:solidFill>
                <a:effectLst/>
                <a:uLnTx/>
                <a:uFillTx/>
                <a:latin typeface="Arial" panose="020B0604020202020204"/>
                <a:ea typeface="微软雅黑" panose="020B0503020204020204" charset="-122"/>
                <a:cs typeface="+mn-cs"/>
              </a:rPr>
              <a:t>2030 </a:t>
            </a:r>
            <a:r>
              <a:rPr kumimoji="0" lang="zh-CN" altLang="en-US" sz="1200" b="1" i="0" u="none" strike="noStrike" kern="1200" cap="none" spc="0" normalizeH="0" baseline="0" noProof="0" dirty="0">
                <a:ln>
                  <a:noFill/>
                </a:ln>
                <a:solidFill>
                  <a:srgbClr val="0070C0"/>
                </a:solidFill>
                <a:effectLst/>
                <a:uLnTx/>
                <a:uFillTx/>
                <a:latin typeface="Arial" panose="020B0604020202020204"/>
                <a:ea typeface="微软雅黑" panose="020B0503020204020204" charset="-122"/>
                <a:cs typeface="+mn-cs"/>
              </a:rPr>
              <a:t>年超 </a:t>
            </a:r>
            <a:r>
              <a:rPr kumimoji="0" lang="en-US" altLang="zh-CN" sz="1200" b="1" i="0" u="none" strike="noStrike" kern="1200" cap="none" spc="0" normalizeH="0" baseline="0" noProof="0" dirty="0">
                <a:ln>
                  <a:noFill/>
                </a:ln>
                <a:solidFill>
                  <a:srgbClr val="0070C0"/>
                </a:solidFill>
                <a:effectLst/>
                <a:uLnTx/>
                <a:uFillTx/>
                <a:latin typeface="Arial" panose="020B0604020202020204"/>
                <a:ea typeface="微软雅黑" panose="020B0503020204020204" charset="-122"/>
                <a:cs typeface="+mn-cs"/>
              </a:rPr>
              <a:t>1 </a:t>
            </a:r>
            <a:r>
              <a:rPr kumimoji="0" lang="zh-CN" altLang="en-US" sz="1200" b="1" i="0" u="none" strike="noStrike" kern="1200" cap="none" spc="0" normalizeH="0" baseline="0" noProof="0" dirty="0">
                <a:ln>
                  <a:noFill/>
                </a:ln>
                <a:solidFill>
                  <a:srgbClr val="0070C0"/>
                </a:solidFill>
                <a:effectLst/>
                <a:uLnTx/>
                <a:uFillTx/>
                <a:latin typeface="Arial" panose="020B0604020202020204"/>
                <a:ea typeface="微软雅黑" panose="020B0503020204020204" charset="-122"/>
                <a:cs typeface="+mn-cs"/>
              </a:rPr>
              <a:t>万亿元</a:t>
            </a:r>
            <a:r>
              <a:rPr kumimoji="0" lang="zh-CN" altLang="en-US" sz="12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 panose="020B0604020202020204"/>
                <a:ea typeface="微软雅黑" panose="020B0503020204020204" charset="-122"/>
                <a:cs typeface="+mn-cs"/>
              </a:rPr>
              <a:t>。</a:t>
            </a:r>
            <a:endParaRPr kumimoji="0" lang="en-US" altLang="zh-CN" sz="12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rial" panose="020B0604020202020204"/>
              <a:ea typeface="微软雅黑" panose="020B0503020204020204" charset="-122"/>
              <a:cs typeface="+mn-cs"/>
            </a:endParaRPr>
          </a:p>
          <a:p>
            <a:pPr marL="0" marR="0" lvl="0" indent="0" algn="l" defTabSz="914400" rtl="0" eaLnBrk="1" fontAlgn="auto" latinLnBrk="0" hangingPunct="1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en-US" altLang="zh-CN" sz="1200" b="0" i="0" u="none" strike="noStrike" kern="1200" cap="none" spc="0" normalizeH="0" baseline="0" noProof="0" dirty="0">
                <a:ln>
                  <a:noFill/>
                </a:ln>
                <a:solidFill>
                  <a:srgbClr val="0070C0"/>
                </a:solidFill>
                <a:effectLst/>
                <a:uLnTx/>
                <a:uFillTx/>
                <a:latin typeface="Arial" panose="020B0604020202020204"/>
                <a:ea typeface="微软雅黑" panose="020B0503020204020204" charset="-122"/>
                <a:cs typeface="+mn-cs"/>
              </a:rPr>
              <a:t>1. </a:t>
            </a:r>
            <a:r>
              <a:rPr kumimoji="0" lang="zh-CN" altLang="en-US" sz="1200" b="1" i="0" u="none" strike="noStrike" kern="1200" cap="none" spc="0" normalizeH="0" baseline="0" noProof="0" dirty="0">
                <a:ln>
                  <a:noFill/>
                </a:ln>
                <a:solidFill>
                  <a:srgbClr val="0070C0"/>
                </a:solidFill>
                <a:effectLst/>
                <a:uLnTx/>
                <a:uFillTx/>
                <a:latin typeface="Arial" panose="020B0604020202020204"/>
                <a:ea typeface="微软雅黑" panose="020B0503020204020204" charset="-122"/>
                <a:cs typeface="+mn-cs"/>
              </a:rPr>
              <a:t>国内产业方向明确</a:t>
            </a:r>
            <a:r>
              <a:rPr kumimoji="0" lang="zh-CN" altLang="en-US" sz="1200" b="0" i="0" u="none" strike="noStrike" kern="1200" cap="none" spc="0" normalizeH="0" baseline="0" noProof="0" dirty="0">
                <a:ln>
                  <a:noFill/>
                </a:ln>
                <a:solidFill>
                  <a:srgbClr val="0070C0"/>
                </a:solidFill>
                <a:effectLst/>
                <a:uLnTx/>
                <a:uFillTx/>
                <a:latin typeface="Arial" panose="020B0604020202020204"/>
                <a:ea typeface="微软雅黑" panose="020B0503020204020204" charset="-122"/>
                <a:cs typeface="+mn-cs"/>
              </a:rPr>
              <a:t>：</a:t>
            </a:r>
            <a:r>
              <a:rPr kumimoji="0" lang="zh-CN" altLang="en-US" sz="12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 panose="020B0604020202020204"/>
                <a:ea typeface="微软雅黑" panose="020B0503020204020204" charset="-122"/>
                <a:cs typeface="+mn-cs"/>
              </a:rPr>
              <a:t>为中国 </a:t>
            </a:r>
            <a:r>
              <a:rPr kumimoji="0" lang="en-US" altLang="zh-CN" sz="12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 panose="020B0604020202020204"/>
                <a:ea typeface="微软雅黑" panose="020B0503020204020204" charset="-122"/>
                <a:cs typeface="+mn-cs"/>
              </a:rPr>
              <a:t>AI </a:t>
            </a:r>
            <a:r>
              <a:rPr kumimoji="0" lang="zh-CN" altLang="en-US" sz="12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 panose="020B0604020202020204"/>
                <a:ea typeface="微软雅黑" panose="020B0503020204020204" charset="-122"/>
                <a:cs typeface="+mn-cs"/>
              </a:rPr>
              <a:t>发展划定清晰路径，推动 “</a:t>
            </a:r>
            <a:r>
              <a:rPr kumimoji="0" lang="en-US" altLang="zh-CN" sz="12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 panose="020B0604020202020204"/>
                <a:ea typeface="微软雅黑" panose="020B0503020204020204" charset="-122"/>
                <a:cs typeface="+mn-cs"/>
              </a:rPr>
              <a:t>AI + </a:t>
            </a:r>
            <a:r>
              <a:rPr kumimoji="0" lang="zh-CN" altLang="en-US" sz="12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 panose="020B0604020202020204"/>
                <a:ea typeface="微软雅黑" panose="020B0503020204020204" charset="-122"/>
                <a:cs typeface="+mn-cs"/>
              </a:rPr>
              <a:t>制造”“</a:t>
            </a:r>
            <a:r>
              <a:rPr kumimoji="0" lang="en-US" altLang="zh-CN" sz="12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 panose="020B0604020202020204"/>
                <a:ea typeface="微软雅黑" panose="020B0503020204020204" charset="-122"/>
                <a:cs typeface="+mn-cs"/>
              </a:rPr>
              <a:t>AI + </a:t>
            </a:r>
            <a:r>
              <a:rPr kumimoji="0" lang="zh-CN" altLang="en-US" sz="12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 panose="020B0604020202020204"/>
                <a:ea typeface="微软雅黑" panose="020B0503020204020204" charset="-122"/>
                <a:cs typeface="+mn-cs"/>
              </a:rPr>
              <a:t>医疗” 等场景落地，激发企业（如百度、腾讯等）的技术投入与场景探索；</a:t>
            </a:r>
            <a:endParaRPr kumimoji="0" lang="zh-CN" altLang="en-US" sz="12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rial" panose="020B0604020202020204"/>
              <a:ea typeface="微软雅黑" panose="020B0503020204020204" charset="-122"/>
              <a:cs typeface="+mn-cs"/>
            </a:endParaRPr>
          </a:p>
          <a:p>
            <a:pPr marL="0" marR="0" lvl="0" indent="0" algn="l" defTabSz="914400" rtl="0" eaLnBrk="1" fontAlgn="auto" latinLnBrk="0" hangingPunct="1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en-US" altLang="zh-CN" sz="1200" b="0" i="0" u="none" strike="noStrike" kern="1200" cap="none" spc="0" normalizeH="0" baseline="0" noProof="0" dirty="0">
                <a:ln>
                  <a:noFill/>
                </a:ln>
                <a:solidFill>
                  <a:srgbClr val="0070C0"/>
                </a:solidFill>
                <a:effectLst/>
                <a:uLnTx/>
                <a:uFillTx/>
                <a:latin typeface="Arial" panose="020B0604020202020204"/>
                <a:ea typeface="微软雅黑" panose="020B0503020204020204" charset="-122"/>
                <a:cs typeface="+mn-cs"/>
              </a:rPr>
              <a:t>2. </a:t>
            </a:r>
            <a:r>
              <a:rPr kumimoji="0" lang="zh-CN" altLang="en-US" sz="1200" b="1" i="0" u="none" strike="noStrike" kern="1200" cap="none" spc="0" normalizeH="0" baseline="0" noProof="0" dirty="0">
                <a:ln>
                  <a:noFill/>
                </a:ln>
                <a:solidFill>
                  <a:srgbClr val="0070C0"/>
                </a:solidFill>
                <a:effectLst/>
                <a:uLnTx/>
                <a:uFillTx/>
                <a:latin typeface="Arial" panose="020B0604020202020204"/>
                <a:ea typeface="微软雅黑" panose="020B0503020204020204" charset="-122"/>
                <a:cs typeface="+mn-cs"/>
              </a:rPr>
              <a:t>产教融合加速</a:t>
            </a:r>
            <a:r>
              <a:rPr kumimoji="0" lang="zh-CN" altLang="en-US" sz="1200" b="0" i="0" u="none" strike="noStrike" kern="1200" cap="none" spc="0" normalizeH="0" baseline="0" noProof="0" dirty="0">
                <a:ln>
                  <a:noFill/>
                </a:ln>
                <a:solidFill>
                  <a:srgbClr val="0070C0"/>
                </a:solidFill>
                <a:effectLst/>
                <a:uLnTx/>
                <a:uFillTx/>
                <a:latin typeface="Arial" panose="020B0604020202020204"/>
                <a:ea typeface="微软雅黑" panose="020B0503020204020204" charset="-122"/>
                <a:cs typeface="+mn-cs"/>
              </a:rPr>
              <a:t>：</a:t>
            </a:r>
            <a:r>
              <a:rPr kumimoji="0" lang="zh-CN" altLang="en-US" sz="12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 panose="020B0604020202020204"/>
                <a:ea typeface="微软雅黑" panose="020B0503020204020204" charset="-122"/>
                <a:cs typeface="+mn-cs"/>
              </a:rPr>
              <a:t>政策推动</a:t>
            </a:r>
            <a:r>
              <a:rPr kumimoji="0" lang="zh-CN" altLang="en-US" sz="1200" b="1" i="0" u="none" strike="noStrike" kern="1200" cap="none" spc="0" normalizeH="0" baseline="0" noProof="0" dirty="0">
                <a:ln>
                  <a:noFill/>
                </a:ln>
                <a:solidFill>
                  <a:srgbClr val="0070C0"/>
                </a:solidFill>
                <a:effectLst/>
                <a:highlight>
                  <a:srgbClr val="FFFF00"/>
                </a:highlight>
                <a:uLnTx/>
                <a:uFillTx/>
                <a:latin typeface="Arial" panose="020B0604020202020204"/>
                <a:ea typeface="微软雅黑" panose="020B0503020204020204" charset="-122"/>
                <a:cs typeface="+mn-cs"/>
              </a:rPr>
              <a:t>高校设立 </a:t>
            </a:r>
            <a:r>
              <a:rPr kumimoji="0" lang="en-US" altLang="zh-CN" sz="1200" b="1" i="0" u="none" strike="noStrike" kern="1200" cap="none" spc="0" normalizeH="0" baseline="0" noProof="0" dirty="0">
                <a:ln>
                  <a:noFill/>
                </a:ln>
                <a:solidFill>
                  <a:srgbClr val="0070C0"/>
                </a:solidFill>
                <a:effectLst/>
                <a:highlight>
                  <a:srgbClr val="FFFF00"/>
                </a:highlight>
                <a:uLnTx/>
                <a:uFillTx/>
                <a:latin typeface="Arial" panose="020B0604020202020204"/>
                <a:ea typeface="微软雅黑" panose="020B0503020204020204" charset="-122"/>
                <a:cs typeface="+mn-cs"/>
              </a:rPr>
              <a:t>AI </a:t>
            </a:r>
            <a:r>
              <a:rPr kumimoji="0" lang="zh-CN" altLang="en-US" sz="1200" b="1" i="0" u="none" strike="noStrike" kern="1200" cap="none" spc="0" normalizeH="0" baseline="0" noProof="0" dirty="0">
                <a:ln>
                  <a:noFill/>
                </a:ln>
                <a:solidFill>
                  <a:srgbClr val="0070C0"/>
                </a:solidFill>
                <a:effectLst/>
                <a:highlight>
                  <a:srgbClr val="FFFF00"/>
                </a:highlight>
                <a:uLnTx/>
                <a:uFillTx/>
                <a:latin typeface="Arial" panose="020B0604020202020204"/>
                <a:ea typeface="微软雅黑" panose="020B0503020204020204" charset="-122"/>
                <a:cs typeface="+mn-cs"/>
              </a:rPr>
              <a:t>学科</a:t>
            </a:r>
            <a:r>
              <a:rPr kumimoji="0" lang="zh-CN" altLang="en-US" sz="12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 panose="020B0604020202020204"/>
                <a:ea typeface="微软雅黑" panose="020B0503020204020204" charset="-122"/>
                <a:cs typeface="+mn-cs"/>
              </a:rPr>
              <a:t>、建设创新基地，</a:t>
            </a:r>
            <a:r>
              <a:rPr kumimoji="0" lang="zh-CN" altLang="en-US" sz="1200" b="1" i="0" u="none" strike="noStrike" kern="1200" cap="none" spc="0" normalizeH="0" baseline="0" noProof="0" dirty="0">
                <a:ln>
                  <a:noFill/>
                </a:ln>
                <a:solidFill>
                  <a:srgbClr val="0070C0"/>
                </a:solidFill>
                <a:effectLst/>
                <a:highlight>
                  <a:srgbClr val="FFFF00"/>
                </a:highlight>
                <a:uLnTx/>
                <a:uFillTx/>
                <a:latin typeface="Arial" panose="020B0604020202020204"/>
                <a:ea typeface="微软雅黑" panose="020B0503020204020204" charset="-122"/>
                <a:cs typeface="+mn-cs"/>
              </a:rPr>
              <a:t>解决 </a:t>
            </a:r>
            <a:r>
              <a:rPr kumimoji="0" lang="en-US" altLang="zh-CN" sz="1200" b="1" i="0" u="none" strike="noStrike" kern="1200" cap="none" spc="0" normalizeH="0" baseline="0" noProof="0" dirty="0">
                <a:ln>
                  <a:noFill/>
                </a:ln>
                <a:solidFill>
                  <a:srgbClr val="0070C0"/>
                </a:solidFill>
                <a:effectLst/>
                <a:highlight>
                  <a:srgbClr val="FFFF00"/>
                </a:highlight>
                <a:uLnTx/>
                <a:uFillTx/>
                <a:latin typeface="Arial" panose="020B0604020202020204"/>
                <a:ea typeface="微软雅黑" panose="020B0503020204020204" charset="-122"/>
                <a:cs typeface="+mn-cs"/>
              </a:rPr>
              <a:t>AI </a:t>
            </a:r>
            <a:r>
              <a:rPr kumimoji="0" lang="zh-CN" altLang="en-US" sz="1200" b="1" i="0" u="none" strike="noStrike" kern="1200" cap="none" spc="0" normalizeH="0" baseline="0" noProof="0" dirty="0">
                <a:ln>
                  <a:noFill/>
                </a:ln>
                <a:solidFill>
                  <a:srgbClr val="0070C0"/>
                </a:solidFill>
                <a:effectLst/>
                <a:highlight>
                  <a:srgbClr val="FFFF00"/>
                </a:highlight>
                <a:uLnTx/>
                <a:uFillTx/>
                <a:latin typeface="Arial" panose="020B0604020202020204"/>
                <a:ea typeface="微软雅黑" panose="020B0503020204020204" charset="-122"/>
                <a:cs typeface="+mn-cs"/>
              </a:rPr>
              <a:t>人才短缺问题</a:t>
            </a:r>
            <a:r>
              <a:rPr kumimoji="0" lang="zh-CN" altLang="en-US" sz="12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 panose="020B0604020202020204"/>
                <a:ea typeface="微软雅黑" panose="020B0503020204020204" charset="-122"/>
                <a:cs typeface="+mn-cs"/>
              </a:rPr>
              <a:t>，为产业爆发储备核心资源</a:t>
            </a:r>
            <a:r>
              <a:rPr kumimoji="0" lang="zh-CN" altLang="en-US" sz="1200" b="1" i="0" u="none" strike="noStrike" kern="1200" cap="none" spc="0" normalizeH="0" baseline="0" noProof="0" dirty="0">
                <a:ln>
                  <a:noFill/>
                </a:ln>
                <a:solidFill>
                  <a:srgbClr val="0070C0"/>
                </a:solidFill>
                <a:effectLst/>
                <a:uLnTx/>
                <a:uFillTx/>
                <a:latin typeface="Arial" panose="020B0604020202020204"/>
                <a:ea typeface="微软雅黑" panose="020B0503020204020204" charset="-122"/>
                <a:cs typeface="+mn-cs"/>
              </a:rPr>
              <a:t>。</a:t>
            </a:r>
            <a:endParaRPr kumimoji="0" lang="en-US" altLang="zh-CN" sz="1200" b="1" i="0" u="none" strike="noStrike" kern="1200" cap="none" spc="0" normalizeH="0" baseline="0" noProof="0" dirty="0">
              <a:ln>
                <a:noFill/>
              </a:ln>
              <a:solidFill>
                <a:srgbClr val="0070C0"/>
              </a:solidFill>
              <a:effectLst/>
              <a:uLnTx/>
              <a:uFillTx/>
              <a:latin typeface="Arial" panose="020B0604020202020204"/>
              <a:ea typeface="微软雅黑" panose="020B0503020204020204" charset="-122"/>
              <a:cs typeface="+mn-cs"/>
            </a:endParaRPr>
          </a:p>
          <a:p>
            <a:pPr marL="0" marR="0" lvl="0" indent="0" algn="l" defTabSz="914400" rtl="0" eaLnBrk="1" fontAlgn="auto" latinLnBrk="0" hangingPunct="1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en-US" altLang="zh-CN" sz="900" b="1" i="0" u="none" strike="noStrike" kern="1200" cap="none" spc="0" normalizeH="0" baseline="0" noProof="0" dirty="0">
                <a:ln>
                  <a:noFill/>
                </a:ln>
                <a:solidFill>
                  <a:srgbClr val="0070C0"/>
                </a:solidFill>
                <a:effectLst/>
                <a:uLnTx/>
                <a:uFillTx/>
                <a:latin typeface="Arial" panose="020B0604020202020204"/>
                <a:ea typeface="微软雅黑" panose="020B0503020204020204" charset="-122"/>
                <a:cs typeface="+mn-cs"/>
              </a:rPr>
              <a:t>【</a:t>
            </a:r>
            <a:r>
              <a:rPr kumimoji="0" lang="zh-CN" altLang="en-US" sz="900" b="1" i="0" u="none" strike="noStrike" kern="1200" cap="none" spc="0" normalizeH="0" baseline="0" noProof="0" dirty="0">
                <a:ln>
                  <a:noFill/>
                </a:ln>
                <a:solidFill>
                  <a:srgbClr val="0070C0"/>
                </a:solidFill>
                <a:effectLst/>
                <a:uLnTx/>
                <a:uFillTx/>
                <a:latin typeface="Arial" panose="020B0604020202020204"/>
                <a:ea typeface="微软雅黑" panose="020B0503020204020204" charset="-122"/>
                <a:cs typeface="+mn-cs"/>
              </a:rPr>
              <a:t>广东：华师大</a:t>
            </a:r>
            <a:r>
              <a:rPr kumimoji="0" lang="en-US" altLang="zh-CN" sz="900" b="1" i="0" u="none" strike="noStrike" kern="1200" cap="none" spc="0" normalizeH="0" baseline="0" noProof="0" dirty="0">
                <a:ln>
                  <a:noFill/>
                </a:ln>
                <a:solidFill>
                  <a:srgbClr val="0070C0"/>
                </a:solidFill>
                <a:effectLst/>
                <a:uLnTx/>
                <a:uFillTx/>
                <a:latin typeface="Arial" panose="020B0604020202020204"/>
                <a:ea typeface="微软雅黑" panose="020B0503020204020204" charset="-122"/>
                <a:cs typeface="+mn-cs"/>
              </a:rPr>
              <a:t>2018</a:t>
            </a:r>
            <a:r>
              <a:rPr kumimoji="0" lang="zh-CN" altLang="en-US" sz="900" b="1" i="0" u="none" strike="noStrike" kern="1200" cap="none" spc="0" normalizeH="0" baseline="0" noProof="0" dirty="0">
                <a:ln>
                  <a:noFill/>
                </a:ln>
                <a:solidFill>
                  <a:srgbClr val="0070C0"/>
                </a:solidFill>
                <a:effectLst/>
                <a:uLnTx/>
                <a:uFillTx/>
                <a:latin typeface="Arial" panose="020B0604020202020204"/>
                <a:ea typeface="微软雅黑" panose="020B0503020204020204" charset="-122"/>
                <a:cs typeface="+mn-cs"/>
              </a:rPr>
              <a:t>年；广工大、华农大</a:t>
            </a:r>
            <a:r>
              <a:rPr kumimoji="0" lang="en-US" altLang="zh-CN" sz="900" b="1" i="0" u="none" strike="noStrike" kern="1200" cap="none" spc="0" normalizeH="0" baseline="0" noProof="0" dirty="0">
                <a:ln>
                  <a:noFill/>
                </a:ln>
                <a:solidFill>
                  <a:srgbClr val="0070C0"/>
                </a:solidFill>
                <a:effectLst/>
                <a:uLnTx/>
                <a:uFillTx/>
                <a:latin typeface="Arial" panose="020B0604020202020204"/>
                <a:ea typeface="微软雅黑" panose="020B0503020204020204" charset="-122"/>
                <a:cs typeface="+mn-cs"/>
              </a:rPr>
              <a:t>2019</a:t>
            </a:r>
            <a:r>
              <a:rPr kumimoji="0" lang="zh-CN" altLang="en-US" sz="900" b="1" i="0" u="none" strike="noStrike" kern="1200" cap="none" spc="0" normalizeH="0" baseline="0" noProof="0" dirty="0">
                <a:ln>
                  <a:noFill/>
                </a:ln>
                <a:solidFill>
                  <a:srgbClr val="0070C0"/>
                </a:solidFill>
                <a:effectLst/>
                <a:uLnTx/>
                <a:uFillTx/>
                <a:latin typeface="Arial" panose="020B0604020202020204"/>
                <a:ea typeface="微软雅黑" panose="020B0503020204020204" charset="-122"/>
                <a:cs typeface="+mn-cs"/>
              </a:rPr>
              <a:t>年；中大、华工大</a:t>
            </a:r>
            <a:r>
              <a:rPr kumimoji="0" lang="en-US" altLang="zh-CN" sz="900" b="1" i="0" u="none" strike="noStrike" kern="1200" cap="none" spc="0" normalizeH="0" baseline="0" noProof="0" dirty="0">
                <a:ln>
                  <a:noFill/>
                </a:ln>
                <a:solidFill>
                  <a:srgbClr val="0070C0"/>
                </a:solidFill>
                <a:effectLst/>
                <a:uLnTx/>
                <a:uFillTx/>
                <a:latin typeface="Arial" panose="020B0604020202020204"/>
                <a:ea typeface="微软雅黑" panose="020B0503020204020204" charset="-122"/>
                <a:cs typeface="+mn-cs"/>
              </a:rPr>
              <a:t>2020</a:t>
            </a:r>
            <a:r>
              <a:rPr kumimoji="0" lang="zh-CN" altLang="en-US" sz="900" b="1" i="0" u="none" strike="noStrike" kern="1200" cap="none" spc="0" normalizeH="0" baseline="0" noProof="0" dirty="0">
                <a:ln>
                  <a:noFill/>
                </a:ln>
                <a:solidFill>
                  <a:srgbClr val="0070C0"/>
                </a:solidFill>
                <a:effectLst/>
                <a:uLnTx/>
                <a:uFillTx/>
                <a:latin typeface="Arial" panose="020B0604020202020204"/>
                <a:ea typeface="微软雅黑" panose="020B0503020204020204" charset="-122"/>
                <a:cs typeface="+mn-cs"/>
              </a:rPr>
              <a:t>年；还有大量学校今年汕大、嘉应学院，珠江学院等</a:t>
            </a:r>
            <a:r>
              <a:rPr kumimoji="0" lang="en-US" altLang="zh-CN" sz="900" b="1" i="0" u="none" strike="noStrike" kern="1200" cap="none" spc="0" normalizeH="0" baseline="0" noProof="0" dirty="0">
                <a:ln>
                  <a:noFill/>
                </a:ln>
                <a:solidFill>
                  <a:srgbClr val="0070C0"/>
                </a:solidFill>
                <a:effectLst/>
                <a:uLnTx/>
                <a:uFillTx/>
                <a:latin typeface="Arial" panose="020B0604020202020204"/>
                <a:ea typeface="微软雅黑" panose="020B0503020204020204" charset="-122"/>
                <a:cs typeface="+mn-cs"/>
              </a:rPr>
              <a:t>…..】</a:t>
            </a:r>
            <a:endParaRPr kumimoji="0" lang="en-US" altLang="zh-CN" sz="9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rial" panose="020B0604020202020204"/>
              <a:ea typeface="微软雅黑" panose="020B0503020204020204" charset="-122"/>
              <a:cs typeface="+mn-cs"/>
            </a:endParaRPr>
          </a:p>
        </p:txBody>
      </p:sp>
      <p:sp>
        <p:nvSpPr>
          <p:cNvPr id="19" name="矩形 18"/>
          <p:cNvSpPr/>
          <p:nvPr>
            <p:custDataLst>
              <p:tags r:id="rId9"/>
            </p:custDataLst>
          </p:nvPr>
        </p:nvSpPr>
        <p:spPr>
          <a:xfrm>
            <a:off x="1598744" y="935300"/>
            <a:ext cx="6385210" cy="443230"/>
          </a:xfrm>
          <a:prstGeom prst="rect">
            <a:avLst/>
          </a:prstGeom>
          <a:noFill/>
        </p:spPr>
        <p:txBody>
          <a:bodyPr wrap="square" lIns="0" tIns="0" rIns="0" bIns="0" rtlCol="0" anchor="ctr" anchorCtr="0">
            <a:noAutofit/>
          </a:bodyPr>
          <a:lstStyle/>
          <a:p>
            <a:pPr marL="0" marR="0" lvl="0" indent="0" algn="just" defTabSz="914400" rtl="0" eaLnBrk="1" fontAlgn="auto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kumimoji="0" lang="zh-CN" altLang="en-US" sz="14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 panose="020B0604020202020204"/>
                <a:ea typeface="微软雅黑" panose="020B0503020204020204" charset="-122"/>
                <a:cs typeface="+mn-cs"/>
              </a:rPr>
              <a:t>核心战略文件：</a:t>
            </a:r>
            <a:r>
              <a:rPr kumimoji="0" lang="zh-CN" altLang="en-US" sz="1400" b="1" i="0" u="none" strike="noStrike" kern="1200" cap="none" spc="40" normalizeH="0" baseline="0" noProof="0" dirty="0">
                <a:ln w="3175">
                  <a:noFill/>
                  <a:prstDash val="dash"/>
                </a:ln>
                <a:solidFill>
                  <a:prstClr val="black">
                    <a:lumMod val="75000"/>
                    <a:lumOff val="25000"/>
                  </a:prstClr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ea"/>
              </a:rPr>
              <a:t>《</a:t>
            </a:r>
            <a:r>
              <a:rPr kumimoji="0" lang="zh-CN" altLang="en-US" sz="14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 panose="020B0604020202020204"/>
                <a:ea typeface="微软雅黑" panose="020B0503020204020204" charset="-122"/>
                <a:cs typeface="+mn-cs"/>
              </a:rPr>
              <a:t>新一代人工智能发展规划</a:t>
            </a:r>
            <a:r>
              <a:rPr kumimoji="0" lang="zh-CN" altLang="en-US" sz="1400" b="1" i="0" u="none" strike="noStrike" kern="1200" cap="none" spc="40" normalizeH="0" baseline="0" noProof="0" dirty="0">
                <a:ln w="3175">
                  <a:noFill/>
                  <a:prstDash val="dash"/>
                </a:ln>
                <a:solidFill>
                  <a:prstClr val="black">
                    <a:lumMod val="75000"/>
                    <a:lumOff val="25000"/>
                  </a:prstClr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ea"/>
              </a:rPr>
              <a:t>》</a:t>
            </a:r>
            <a:r>
              <a:rPr kumimoji="0" lang="en-US" altLang="zh-CN" sz="1400" b="1" i="0" u="none" strike="noStrike" kern="1200" cap="none" spc="40" normalizeH="0" baseline="0" noProof="0" dirty="0">
                <a:ln w="3175">
                  <a:noFill/>
                  <a:prstDash val="dash"/>
                </a:ln>
                <a:solidFill>
                  <a:prstClr val="black">
                    <a:lumMod val="75000"/>
                    <a:lumOff val="25000"/>
                  </a:prstClr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ea"/>
              </a:rPr>
              <a:t>2017</a:t>
            </a:r>
            <a:r>
              <a:rPr kumimoji="0" lang="zh-CN" altLang="en-US" sz="1400" b="1" i="0" u="none" strike="noStrike" kern="1200" cap="none" spc="40" normalizeH="0" baseline="0" noProof="0" dirty="0">
                <a:ln w="3175">
                  <a:noFill/>
                  <a:prstDash val="dash"/>
                </a:ln>
                <a:solidFill>
                  <a:prstClr val="black">
                    <a:lumMod val="75000"/>
                    <a:lumOff val="25000"/>
                  </a:prstClr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ea"/>
              </a:rPr>
              <a:t>年</a:t>
            </a:r>
            <a:endParaRPr kumimoji="0" lang="zh-CN" altLang="en-US" sz="1400" b="1" i="0" u="none" strike="noStrike" kern="1200" cap="none" spc="40" normalizeH="0" baseline="0" noProof="0" dirty="0">
              <a:ln w="3175">
                <a:noFill/>
                <a:prstDash val="dash"/>
              </a:ln>
              <a:solidFill>
                <a:prstClr val="black">
                  <a:lumMod val="75000"/>
                  <a:lumOff val="25000"/>
                </a:prstClr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  <a:sym typeface="+mn-ea"/>
            </a:endParaRPr>
          </a:p>
        </p:txBody>
      </p:sp>
      <p:pic>
        <p:nvPicPr>
          <p:cNvPr id="21" name="图片 20" descr="placingpictureplaceholder"/>
          <p:cNvPicPr>
            <a:picLocks noChangeAspect="1"/>
          </p:cNvPicPr>
          <p:nvPr>
            <p:custDataLst>
              <p:tags r:id="rId10"/>
            </p:custDataLst>
          </p:nvPr>
        </p:nvPicPr>
        <p:blipFill>
          <a:blip r:embed="rId11"/>
          <a:srcRect t="1234" b="1234"/>
          <a:stretch>
            <a:fillRect/>
          </a:stretch>
        </p:blipFill>
        <p:spPr>
          <a:xfrm>
            <a:off x="8642142" y="822864"/>
            <a:ext cx="2866858" cy="1565811"/>
          </a:xfrm>
          <a:prstGeom prst="rect">
            <a:avLst/>
          </a:prstGeom>
        </p:spPr>
      </p:pic>
      <p:pic>
        <p:nvPicPr>
          <p:cNvPr id="22" name="图片 21"/>
          <p:cNvPicPr>
            <a:picLocks noChangeAspect="1"/>
          </p:cNvPicPr>
          <p:nvPr/>
        </p:nvPicPr>
        <p:blipFill>
          <a:blip r:embed="rId1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7440" t="25837" r="7788" b="13919"/>
          <a:stretch>
            <a:fillRect/>
          </a:stretch>
        </p:blipFill>
        <p:spPr>
          <a:xfrm>
            <a:off x="8603458" y="2508665"/>
            <a:ext cx="2905542" cy="4015211"/>
          </a:xfrm>
          <a:prstGeom prst="rect">
            <a:avLst/>
          </a:prstGeom>
        </p:spPr>
      </p:pic>
      <p:sp>
        <p:nvSpPr>
          <p:cNvPr id="23" name="矩形 22"/>
          <p:cNvSpPr/>
          <p:nvPr/>
        </p:nvSpPr>
        <p:spPr>
          <a:xfrm>
            <a:off x="10035778" y="5836019"/>
            <a:ext cx="719666" cy="204793"/>
          </a:xfrm>
          <a:prstGeom prst="rect">
            <a:avLst/>
          </a:prstGeom>
          <a:noFill/>
          <a:ln>
            <a:solidFill>
              <a:srgbClr val="C0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cs typeface="+mn-cs"/>
            </a:endParaRPr>
          </a:p>
        </p:txBody>
      </p:sp>
      <p:sp>
        <p:nvSpPr>
          <p:cNvPr id="24" name="矩形 23"/>
          <p:cNvSpPr/>
          <p:nvPr/>
        </p:nvSpPr>
        <p:spPr>
          <a:xfrm>
            <a:off x="683000" y="856878"/>
            <a:ext cx="7717000" cy="2572122"/>
          </a:xfrm>
          <a:prstGeom prst="rect">
            <a:avLst/>
          </a:prstGeom>
          <a:noFill/>
          <a:ln w="25400">
            <a:solidFill>
              <a:srgbClr val="76B9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Arial" panose="020B0604020202020204"/>
              <a:ea typeface="微软雅黑" panose="020B0503020204020204" charset="-122"/>
              <a:cs typeface="+mn-cs"/>
            </a:endParaRPr>
          </a:p>
        </p:txBody>
      </p:sp>
      <p:sp>
        <p:nvSpPr>
          <p:cNvPr id="25" name="文本框 24"/>
          <p:cNvSpPr txBox="1"/>
          <p:nvPr/>
        </p:nvSpPr>
        <p:spPr>
          <a:xfrm>
            <a:off x="1526005" y="3566139"/>
            <a:ext cx="6657993" cy="97719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en-US" altLang="zh-CN" sz="14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 panose="020B0604020202020204"/>
                <a:ea typeface="微软雅黑" panose="020B0503020204020204" charset="-122"/>
                <a:cs typeface="+mn-cs"/>
              </a:rPr>
              <a:t>2021 </a:t>
            </a:r>
            <a:r>
              <a:rPr kumimoji="0" lang="zh-CN" altLang="en-US" sz="14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 panose="020B0604020202020204"/>
                <a:ea typeface="微软雅黑" panose="020B0503020204020204" charset="-122"/>
                <a:cs typeface="+mn-cs"/>
              </a:rPr>
              <a:t>年 “十四五” 规划</a:t>
            </a:r>
            <a:r>
              <a:rPr kumimoji="0" lang="zh-CN" altLang="en-US" sz="14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 panose="020B0604020202020204"/>
                <a:ea typeface="微软雅黑" panose="020B0503020204020204" charset="-122"/>
                <a:cs typeface="+mn-cs"/>
              </a:rPr>
              <a:t>：将 “新一代人工智能” </a:t>
            </a:r>
            <a:r>
              <a:rPr kumimoji="0" lang="zh-CN" altLang="en-US" sz="12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 panose="020B0604020202020204"/>
                <a:ea typeface="微软雅黑" panose="020B0503020204020204" charset="-122"/>
                <a:cs typeface="+mn-cs"/>
              </a:rPr>
              <a:t>列为科技前沿攻关的七大领域之一，明确 “加强原创性引领性科技攻关”，推动人工智能与实体经济深度融合；</a:t>
            </a:r>
            <a:endParaRPr kumimoji="0" lang="en-US" altLang="zh-CN" sz="12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rial" panose="020B0604020202020204"/>
              <a:ea typeface="微软雅黑" panose="020B0503020204020204" charset="-122"/>
              <a:cs typeface="+mn-cs"/>
            </a:endParaRPr>
          </a:p>
          <a:p>
            <a:pPr marL="0" marR="0" lvl="0" indent="0" algn="l" defTabSz="914400" rtl="0" eaLnBrk="1" fontAlgn="auto" latinLnBrk="0" hangingPunct="1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en-US" altLang="zh-CN" sz="14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 panose="020B0604020202020204"/>
                <a:ea typeface="微软雅黑" panose="020B0503020204020204" charset="-122"/>
                <a:cs typeface="+mn-cs"/>
              </a:rPr>
              <a:t>2025</a:t>
            </a:r>
            <a:r>
              <a:rPr kumimoji="0" lang="zh-CN" altLang="en-US" sz="14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 panose="020B0604020202020204"/>
                <a:ea typeface="微软雅黑" panose="020B0503020204020204" charset="-122"/>
                <a:cs typeface="+mn-cs"/>
              </a:rPr>
              <a:t>年</a:t>
            </a:r>
            <a:r>
              <a:rPr kumimoji="0" lang="en-US" altLang="zh-CN" sz="14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 panose="020B0604020202020204"/>
                <a:ea typeface="微软雅黑" panose="020B0503020204020204" charset="-122"/>
                <a:cs typeface="+mn-cs"/>
              </a:rPr>
              <a:t>8</a:t>
            </a:r>
            <a:r>
              <a:rPr kumimoji="0" lang="zh-CN" altLang="en-US" sz="14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 panose="020B0604020202020204"/>
                <a:ea typeface="微软雅黑" panose="020B0503020204020204" charset="-122"/>
                <a:cs typeface="+mn-cs"/>
              </a:rPr>
              <a:t>月份国务院发布</a:t>
            </a:r>
            <a:r>
              <a:rPr kumimoji="0" lang="en-US" altLang="zh-CN" sz="14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 panose="020B0604020202020204"/>
                <a:ea typeface="微软雅黑" panose="020B0503020204020204" charset="-122"/>
                <a:cs typeface="+mn-cs"/>
              </a:rPr>
              <a:t>《</a:t>
            </a:r>
            <a:r>
              <a:rPr kumimoji="0" lang="zh-CN" altLang="en-US" sz="14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 panose="020B0604020202020204"/>
                <a:ea typeface="微软雅黑" panose="020B0503020204020204" charset="-122"/>
                <a:cs typeface="+mn-cs"/>
              </a:rPr>
              <a:t>关于深入实施 </a:t>
            </a:r>
            <a:r>
              <a:rPr kumimoji="0" lang="zh-CN" altLang="en-US" sz="14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highlight>
                  <a:srgbClr val="FFFF00"/>
                </a:highlight>
                <a:uLnTx/>
                <a:uFillTx/>
                <a:latin typeface="Arial" panose="020B0604020202020204"/>
                <a:ea typeface="微软雅黑" panose="020B0503020204020204" charset="-122"/>
                <a:cs typeface="+mn-cs"/>
              </a:rPr>
              <a:t>“人工智能 </a:t>
            </a:r>
            <a:r>
              <a:rPr kumimoji="0" lang="en-US" altLang="zh-CN" sz="14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highlight>
                  <a:srgbClr val="FFFF00"/>
                </a:highlight>
                <a:uLnTx/>
                <a:uFillTx/>
                <a:latin typeface="Arial" panose="020B0604020202020204"/>
                <a:ea typeface="微软雅黑" panose="020B0503020204020204" charset="-122"/>
                <a:cs typeface="+mn-cs"/>
              </a:rPr>
              <a:t>+” </a:t>
            </a:r>
            <a:r>
              <a:rPr kumimoji="0" lang="zh-CN" altLang="en-US" sz="14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 panose="020B0604020202020204"/>
                <a:ea typeface="微软雅黑" panose="020B0503020204020204" charset="-122"/>
                <a:cs typeface="+mn-cs"/>
              </a:rPr>
              <a:t>行动的意见</a:t>
            </a:r>
            <a:r>
              <a:rPr kumimoji="0" lang="en-US" altLang="zh-CN" sz="14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 panose="020B0604020202020204"/>
                <a:ea typeface="微软雅黑" panose="020B0503020204020204" charset="-122"/>
                <a:cs typeface="+mn-cs"/>
              </a:rPr>
              <a:t>》</a:t>
            </a:r>
            <a:endParaRPr kumimoji="0" lang="zh-CN" altLang="en-US" sz="1400" b="1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rial" panose="020B0604020202020204"/>
              <a:ea typeface="微软雅黑" panose="020B0503020204020204" charset="-122"/>
              <a:cs typeface="+mn-cs"/>
            </a:endParaRPr>
          </a:p>
        </p:txBody>
      </p:sp>
      <p:sp>
        <p:nvSpPr>
          <p:cNvPr id="26" name="矩形 25"/>
          <p:cNvSpPr/>
          <p:nvPr>
            <p:custDataLst>
              <p:tags r:id="rId13"/>
            </p:custDataLst>
          </p:nvPr>
        </p:nvSpPr>
        <p:spPr>
          <a:xfrm>
            <a:off x="697072" y="3609123"/>
            <a:ext cx="556185" cy="556185"/>
          </a:xfrm>
          <a:prstGeom prst="rect">
            <a:avLst/>
          </a:prstGeom>
          <a:solidFill>
            <a:srgbClr val="376FFF"/>
          </a:solidFill>
          <a:ln>
            <a:noFill/>
          </a:ln>
          <a:effectLst/>
        </p:spPr>
        <p:style>
          <a:lnRef idx="2">
            <a:srgbClr val="376FFF">
              <a:shade val="50000"/>
            </a:srgbClr>
          </a:lnRef>
          <a:fillRef idx="1">
            <a:srgbClr val="376FFF"/>
          </a:fillRef>
          <a:effectRef idx="0">
            <a:srgbClr val="376FFF"/>
          </a:effectRef>
          <a:fontRef idx="minor">
            <a:srgbClr val="FFFFFF"/>
          </a:fontRef>
        </p:style>
        <p:txBody>
          <a:bodyPr wrap="square" lIns="0" tIns="0" rIns="0" bIns="0" rtlCol="0" anchor="ctr">
            <a:no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kumimoji="0" lang="en-US" altLang="zh-CN" sz="2400" b="0" i="0" u="none" strike="noStrike" kern="1200" cap="none" spc="0" normalizeH="0" baseline="0" noProof="0" dirty="0">
                <a:ln>
                  <a:noFill/>
                </a:ln>
                <a:solidFill>
                  <a:srgbClr val="FFFFFF">
                    <a:lumMod val="100000"/>
                  </a:srgbClr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微软雅黑" panose="020B0503020204020204" charset="-122"/>
              </a:rPr>
              <a:t>02</a:t>
            </a:r>
            <a:endParaRPr kumimoji="0" lang="zh-CN" altLang="en-US" sz="2400" b="0" i="0" u="none" strike="noStrike" kern="1200" cap="none" spc="0" normalizeH="0" baseline="0" noProof="0" dirty="0">
              <a:ln>
                <a:noFill/>
              </a:ln>
              <a:solidFill>
                <a:srgbClr val="FFFFFF">
                  <a:lumMod val="100000"/>
                </a:srgbClr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  <a:sym typeface="微软雅黑" panose="020B0503020204020204" charset="-122"/>
            </a:endParaRPr>
          </a:p>
        </p:txBody>
      </p:sp>
      <p:sp>
        <p:nvSpPr>
          <p:cNvPr id="2" name="灯片编号占位符 1"/>
          <p:cNvSpPr>
            <a:spLocks noGrp="1"/>
          </p:cNvSpPr>
          <p:nvPr>
            <p:ph type="sldNum" sz="quarter" idx="12"/>
          </p:nvPr>
        </p:nvSpPr>
        <p:spPr>
          <a:xfrm>
            <a:off x="10659867" y="6460608"/>
            <a:ext cx="1513800" cy="365125"/>
          </a:xfrm>
        </p:spPr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fld id="{C54551FF-272A-4B62-AA4C-4A17E4F94828}" type="slidenum">
              <a:rPr kumimoji="0" lang="zh-CN" altLang="en-US" sz="1200" b="0" i="0" u="none" strike="noStrike" kern="1200" cap="none" spc="0" normalizeH="0" baseline="0" noProof="0" smtClean="0">
                <a:ln>
                  <a:noFill/>
                </a:ln>
                <a:solidFill>
                  <a:srgbClr val="7030A0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cs typeface="+mn-cs"/>
              </a:rPr>
            </a:fld>
            <a:endParaRPr kumimoji="0" lang="zh-CN" altLang="en-US" sz="1200" b="0" i="0" u="none" strike="noStrike" kern="1200" cap="none" spc="0" normalizeH="0" baseline="0" noProof="0" dirty="0">
              <a:ln>
                <a:noFill/>
              </a:ln>
              <a:solidFill>
                <a:srgbClr val="7030A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cs typeface="+mn-cs"/>
            </a:endParaRP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文本框 2"/>
          <p:cNvSpPr txBox="1"/>
          <p:nvPr/>
        </p:nvSpPr>
        <p:spPr>
          <a:xfrm>
            <a:off x="552000" y="663335"/>
            <a:ext cx="3570208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CN" altLang="en-US" sz="2400" b="1" dirty="0">
                <a:solidFill>
                  <a:srgbClr val="00285A"/>
                </a:solidFill>
                <a:latin typeface="微软雅黑" panose="020B0503020204020204" charset="-122"/>
                <a:ea typeface="微软雅黑" panose="020B0503020204020204" charset="-122"/>
              </a:rPr>
              <a:t>国家政策及行业发展背景</a:t>
            </a:r>
            <a:endParaRPr lang="en-US" altLang="zh-CN" sz="2400" b="1" dirty="0">
              <a:solidFill>
                <a:srgbClr val="00285A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grpSp>
        <p:nvGrpSpPr>
          <p:cNvPr id="9" name="组合 4"/>
          <p:cNvGrpSpPr>
            <a:grpSpLocks noChangeAspect="1"/>
          </p:cNvGrpSpPr>
          <p:nvPr>
            <p:custDataLst>
              <p:tags r:id="rId1"/>
            </p:custDataLst>
          </p:nvPr>
        </p:nvGrpSpPr>
        <p:grpSpPr>
          <a:xfrm>
            <a:off x="909836" y="1125000"/>
            <a:ext cx="10730164" cy="5307760"/>
            <a:chOff x="1024292" y="1216201"/>
            <a:chExt cx="10730164" cy="5620418"/>
          </a:xfrm>
        </p:grpSpPr>
        <p:grpSp>
          <p:nvGrpSpPr>
            <p:cNvPr id="10" name="组合 0"/>
            <p:cNvGrpSpPr/>
            <p:nvPr/>
          </p:nvGrpSpPr>
          <p:grpSpPr>
            <a:xfrm>
              <a:off x="1867123" y="1216201"/>
              <a:ext cx="8457754" cy="3509295"/>
              <a:chOff x="1867123" y="1216201"/>
              <a:chExt cx="8457754" cy="3509295"/>
            </a:xfrm>
          </p:grpSpPr>
          <p:sp>
            <p:nvSpPr>
              <p:cNvPr id="39" name="0"/>
              <p:cNvSpPr/>
              <p:nvPr/>
            </p:nvSpPr>
            <p:spPr>
              <a:xfrm>
                <a:off x="1867123" y="2565799"/>
                <a:ext cx="8457754" cy="2159697"/>
              </a:xfrm>
              <a:prstGeom prst="ellipse">
                <a:avLst/>
              </a:prstGeom>
              <a:gradFill flip="none" rotWithShape="1">
                <a:gsLst>
                  <a:gs pos="28000">
                    <a:srgbClr val="4CD2FF"/>
                  </a:gs>
                  <a:gs pos="80000">
                    <a:schemeClr val="accent5"/>
                  </a:gs>
                  <a:gs pos="0">
                    <a:srgbClr val="BAE9FC"/>
                  </a:gs>
                </a:gsLst>
                <a:lin ang="5400000" scaled="1"/>
                <a:tileRect/>
              </a:gradFill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>
                <a:noAutofit/>
              </a:bodyPr>
              <a:lstStyle/>
              <a:p>
                <a:pPr algn="ctr"/>
                <a:endParaRPr lang="zh-CN" altLang="en-US">
                  <a:latin typeface="+mj-ea"/>
                  <a:ea typeface="+mj-ea"/>
                </a:endParaRPr>
              </a:p>
            </p:txBody>
          </p:sp>
          <p:sp>
            <p:nvSpPr>
              <p:cNvPr id="40" name="0"/>
              <p:cNvSpPr/>
              <p:nvPr/>
            </p:nvSpPr>
            <p:spPr>
              <a:xfrm>
                <a:off x="2165037" y="2477669"/>
                <a:ext cx="7861926" cy="1994779"/>
              </a:xfrm>
              <a:prstGeom prst="ellipse">
                <a:avLst/>
              </a:prstGeom>
              <a:gradFill>
                <a:gsLst>
                  <a:gs pos="0">
                    <a:schemeClr val="accent1">
                      <a:lumMod val="20000"/>
                      <a:lumOff val="80000"/>
                    </a:schemeClr>
                  </a:gs>
                  <a:gs pos="100000">
                    <a:schemeClr val="bg1"/>
                  </a:gs>
                  <a:gs pos="38000">
                    <a:schemeClr val="bg1"/>
                  </a:gs>
                </a:gsLst>
                <a:lin ang="5400000" scaled="1"/>
              </a:gradFill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>
                <a:noAutofit/>
              </a:bodyPr>
              <a:lstStyle/>
              <a:p>
                <a:pPr algn="ctr"/>
                <a:r>
                  <a:rPr lang="zh-CN" altLang="en-US" dirty="0">
                    <a:latin typeface="+mj-ea"/>
                    <a:ea typeface="+mj-ea"/>
                  </a:rPr>
                  <a:t>产教深度融合</a:t>
                </a:r>
                <a:endParaRPr lang="zh-CN" altLang="en-US" dirty="0">
                  <a:latin typeface="+mj-ea"/>
                  <a:ea typeface="+mj-ea"/>
                </a:endParaRPr>
              </a:p>
            </p:txBody>
          </p:sp>
          <p:sp>
            <p:nvSpPr>
              <p:cNvPr id="41" name="0"/>
              <p:cNvSpPr/>
              <p:nvPr/>
            </p:nvSpPr>
            <p:spPr>
              <a:xfrm>
                <a:off x="3263854" y="2667396"/>
                <a:ext cx="5664292" cy="1199482"/>
              </a:xfrm>
              <a:prstGeom prst="ellipse">
                <a:avLst/>
              </a:prstGeom>
              <a:noFill/>
              <a:ln w="38100" cap="rnd" cmpd="sng">
                <a:gradFill>
                  <a:gsLst>
                    <a:gs pos="50000">
                      <a:schemeClr val="accent5"/>
                    </a:gs>
                    <a:gs pos="84000">
                      <a:schemeClr val="accent1">
                        <a:lumMod val="20000"/>
                        <a:lumOff val="80000"/>
                      </a:schemeClr>
                    </a:gs>
                    <a:gs pos="1000">
                      <a:srgbClr val="4CD2FF"/>
                    </a:gs>
                    <a:gs pos="100000">
                      <a:schemeClr val="bg1">
                        <a:lumMod val="95000"/>
                        <a:alpha val="0"/>
                      </a:schemeClr>
                    </a:gs>
                  </a:gsLst>
                  <a:lin ang="16200000" scaled="0"/>
                </a:gradFill>
                <a:prstDash val="solid"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>
                <a:noAutofit/>
              </a:bodyPr>
              <a:lstStyle/>
              <a:p>
                <a:pPr algn="ctr"/>
                <a:endParaRPr lang="zh-CN" altLang="en-US" dirty="0">
                  <a:latin typeface="+mj-ea"/>
                  <a:ea typeface="+mj-ea"/>
                </a:endParaRPr>
              </a:p>
            </p:txBody>
          </p:sp>
          <p:sp>
            <p:nvSpPr>
              <p:cNvPr id="42" name="0"/>
              <p:cNvSpPr/>
              <p:nvPr/>
            </p:nvSpPr>
            <p:spPr>
              <a:xfrm>
                <a:off x="5120071" y="1344269"/>
                <a:ext cx="1988663" cy="1988663"/>
              </a:xfrm>
              <a:prstGeom prst="ellipse">
                <a:avLst/>
              </a:prstGeom>
              <a:gradFill>
                <a:gsLst>
                  <a:gs pos="75000">
                    <a:srgbClr val="75A3FD"/>
                  </a:gs>
                  <a:gs pos="0">
                    <a:schemeClr val="accent1">
                      <a:lumMod val="75000"/>
                    </a:schemeClr>
                  </a:gs>
                  <a:gs pos="100000">
                    <a:schemeClr val="accent2"/>
                  </a:gs>
                </a:gsLst>
                <a:lin ang="3600000" scaled="0"/>
              </a:gradFill>
              <a:ln>
                <a:noFill/>
              </a:ln>
              <a:effectLst>
                <a:outerShdw blurRad="38100" algn="ctr" rotWithShape="0">
                  <a:schemeClr val="accent1">
                    <a:alpha val="45000"/>
                  </a:schemeClr>
                </a:outerShdw>
              </a:effectLst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>
                <a:noAutofit/>
              </a:bodyPr>
              <a:lstStyle/>
              <a:p>
                <a:pPr algn="ctr"/>
                <a:endParaRPr lang="zh-CN" altLang="en-US" dirty="0">
                  <a:latin typeface="+mj-ea"/>
                  <a:ea typeface="+mj-ea"/>
                </a:endParaRPr>
              </a:p>
            </p:txBody>
          </p:sp>
          <p:sp>
            <p:nvSpPr>
              <p:cNvPr id="43" name="0"/>
              <p:cNvSpPr/>
              <p:nvPr/>
            </p:nvSpPr>
            <p:spPr>
              <a:xfrm rot="16200000">
                <a:off x="4974922" y="1216201"/>
                <a:ext cx="1136191" cy="1136191"/>
              </a:xfrm>
              <a:custGeom>
                <a:avLst/>
                <a:gdLst>
                  <a:gd name="connsiteX0" fmla="*/ 1136191 w 2272382"/>
                  <a:gd name="connsiteY0" fmla="*/ 0 h 2272382"/>
                  <a:gd name="connsiteX1" fmla="*/ 2272382 w 2272382"/>
                  <a:gd name="connsiteY1" fmla="*/ 1136191 h 2272382"/>
                  <a:gd name="connsiteX2" fmla="*/ 1136191 w 2272382"/>
                  <a:gd name="connsiteY2" fmla="*/ 1136191 h 2272382"/>
                  <a:gd name="connsiteX3" fmla="*/ 1136191 w 2272382"/>
                  <a:gd name="connsiteY3" fmla="*/ 0 h 2272382"/>
                  <a:gd name="connsiteX0-1" fmla="*/ 1136191 w 2272382"/>
                  <a:gd name="connsiteY0-2" fmla="*/ 0 h 2272382"/>
                  <a:gd name="connsiteX1-3" fmla="*/ 2272382 w 2272382"/>
                  <a:gd name="connsiteY1-4" fmla="*/ 1136191 h 2272382"/>
                  <a:gd name="connsiteX0-5" fmla="*/ 0 w 1136191"/>
                  <a:gd name="connsiteY0-6" fmla="*/ 0 h 1136191"/>
                  <a:gd name="connsiteX1-7" fmla="*/ 1136191 w 1136191"/>
                  <a:gd name="connsiteY1-8" fmla="*/ 1136191 h 1136191"/>
                  <a:gd name="connsiteX2-9" fmla="*/ 0 w 1136191"/>
                  <a:gd name="connsiteY2-10" fmla="*/ 0 h 1136191"/>
                  <a:gd name="connsiteX0-11" fmla="*/ 0 w 1136191"/>
                  <a:gd name="connsiteY0-12" fmla="*/ 0 h 1136191"/>
                  <a:gd name="connsiteX1-13" fmla="*/ 1136191 w 1136191"/>
                  <a:gd name="connsiteY1-14" fmla="*/ 1136191 h 1136191"/>
                </a:gdLst>
                <a:ahLst/>
                <a:cxnLst>
                  <a:cxn ang="0">
                    <a:pos x="connsiteX0-1" y="connsiteY0-2"/>
                  </a:cxn>
                  <a:cxn ang="0">
                    <a:pos x="connsiteX1-3" y="connsiteY1-4"/>
                  </a:cxn>
                </a:cxnLst>
                <a:rect l="l" t="t" r="r" b="b"/>
                <a:pathLst>
                  <a:path w="1136191" h="1136191" stroke="0" extrusionOk="0">
                    <a:moveTo>
                      <a:pt x="0" y="0"/>
                    </a:moveTo>
                    <a:cubicBezTo>
                      <a:pt x="627501" y="0"/>
                      <a:pt x="1136191" y="508690"/>
                      <a:pt x="1136191" y="1136191"/>
                    </a:cubicBezTo>
                    <a:lnTo>
                      <a:pt x="0" y="0"/>
                    </a:lnTo>
                    <a:close/>
                  </a:path>
                  <a:path w="1136191" h="1136191" fill="none">
                    <a:moveTo>
                      <a:pt x="0" y="0"/>
                    </a:moveTo>
                    <a:cubicBezTo>
                      <a:pt x="627501" y="0"/>
                      <a:pt x="1136191" y="508690"/>
                      <a:pt x="1136191" y="1136191"/>
                    </a:cubicBezTo>
                  </a:path>
                </a:pathLst>
              </a:custGeom>
              <a:noFill/>
              <a:ln w="19050">
                <a:gradFill>
                  <a:gsLst>
                    <a:gs pos="100000">
                      <a:schemeClr val="accent1">
                        <a:alpha val="0"/>
                      </a:schemeClr>
                    </a:gs>
                    <a:gs pos="0">
                      <a:schemeClr val="accent1"/>
                    </a:gs>
                  </a:gsLst>
                  <a:lin ang="5400000" scaled="1"/>
                </a:gradFill>
                <a:headEnd type="oval" w="sm" len="sm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  <p:txBody>
              <a:bodyPr rtlCol="0" anchor="ctr">
                <a:noAutofit/>
              </a:bodyPr>
              <a:lstStyle/>
              <a:p>
                <a:pPr algn="ctr"/>
                <a:endParaRPr lang="zh-CN" altLang="en-US">
                  <a:latin typeface="+mj-ea"/>
                  <a:ea typeface="+mj-ea"/>
                </a:endParaRPr>
              </a:p>
            </p:txBody>
          </p:sp>
          <p:sp>
            <p:nvSpPr>
              <p:cNvPr id="44" name="0"/>
              <p:cNvSpPr/>
              <p:nvPr/>
            </p:nvSpPr>
            <p:spPr>
              <a:xfrm rot="5400000">
                <a:off x="6080887" y="2335191"/>
                <a:ext cx="1136191" cy="1136191"/>
              </a:xfrm>
              <a:custGeom>
                <a:avLst/>
                <a:gdLst>
                  <a:gd name="connsiteX0" fmla="*/ 1136191 w 2272382"/>
                  <a:gd name="connsiteY0" fmla="*/ 0 h 2272382"/>
                  <a:gd name="connsiteX1" fmla="*/ 2272382 w 2272382"/>
                  <a:gd name="connsiteY1" fmla="*/ 1136191 h 2272382"/>
                  <a:gd name="connsiteX2" fmla="*/ 1136191 w 2272382"/>
                  <a:gd name="connsiteY2" fmla="*/ 1136191 h 2272382"/>
                  <a:gd name="connsiteX3" fmla="*/ 1136191 w 2272382"/>
                  <a:gd name="connsiteY3" fmla="*/ 0 h 2272382"/>
                  <a:gd name="connsiteX0-1" fmla="*/ 1136191 w 2272382"/>
                  <a:gd name="connsiteY0-2" fmla="*/ 0 h 2272382"/>
                  <a:gd name="connsiteX1-3" fmla="*/ 2272382 w 2272382"/>
                  <a:gd name="connsiteY1-4" fmla="*/ 1136191 h 2272382"/>
                  <a:gd name="connsiteX0-5" fmla="*/ 0 w 1136191"/>
                  <a:gd name="connsiteY0-6" fmla="*/ 0 h 1136191"/>
                  <a:gd name="connsiteX1-7" fmla="*/ 1136191 w 1136191"/>
                  <a:gd name="connsiteY1-8" fmla="*/ 1136191 h 1136191"/>
                  <a:gd name="connsiteX2-9" fmla="*/ 0 w 1136191"/>
                  <a:gd name="connsiteY2-10" fmla="*/ 0 h 1136191"/>
                  <a:gd name="connsiteX0-11" fmla="*/ 0 w 1136191"/>
                  <a:gd name="connsiteY0-12" fmla="*/ 0 h 1136191"/>
                  <a:gd name="connsiteX1-13" fmla="*/ 1136191 w 1136191"/>
                  <a:gd name="connsiteY1-14" fmla="*/ 1136191 h 1136191"/>
                </a:gdLst>
                <a:ahLst/>
                <a:cxnLst>
                  <a:cxn ang="0">
                    <a:pos x="connsiteX0-1" y="connsiteY0-2"/>
                  </a:cxn>
                  <a:cxn ang="0">
                    <a:pos x="connsiteX1-3" y="connsiteY1-4"/>
                  </a:cxn>
                </a:cxnLst>
                <a:rect l="l" t="t" r="r" b="b"/>
                <a:pathLst>
                  <a:path w="1136191" h="1136191" stroke="0" extrusionOk="0">
                    <a:moveTo>
                      <a:pt x="0" y="0"/>
                    </a:moveTo>
                    <a:cubicBezTo>
                      <a:pt x="627501" y="0"/>
                      <a:pt x="1136191" y="508690"/>
                      <a:pt x="1136191" y="1136191"/>
                    </a:cubicBezTo>
                    <a:lnTo>
                      <a:pt x="0" y="0"/>
                    </a:lnTo>
                    <a:close/>
                  </a:path>
                  <a:path w="1136191" h="1136191" fill="none">
                    <a:moveTo>
                      <a:pt x="0" y="0"/>
                    </a:moveTo>
                    <a:cubicBezTo>
                      <a:pt x="627501" y="0"/>
                      <a:pt x="1136191" y="508690"/>
                      <a:pt x="1136191" y="1136191"/>
                    </a:cubicBezTo>
                  </a:path>
                </a:pathLst>
              </a:custGeom>
              <a:noFill/>
              <a:ln w="19050">
                <a:gradFill>
                  <a:gsLst>
                    <a:gs pos="100000">
                      <a:schemeClr val="accent1">
                        <a:alpha val="0"/>
                      </a:schemeClr>
                    </a:gs>
                    <a:gs pos="0">
                      <a:schemeClr val="accent1"/>
                    </a:gs>
                  </a:gsLst>
                  <a:lin ang="5400000" scaled="1"/>
                </a:gradFill>
                <a:headEnd type="oval" w="sm" len="sm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  <p:txBody>
              <a:bodyPr rtlCol="0" anchor="ctr">
                <a:noAutofit/>
              </a:bodyPr>
              <a:lstStyle/>
              <a:p>
                <a:pPr algn="ctr"/>
                <a:endParaRPr lang="zh-CN" altLang="en-US">
                  <a:latin typeface="+mj-ea"/>
                  <a:ea typeface="+mj-ea"/>
                </a:endParaRPr>
              </a:p>
            </p:txBody>
          </p:sp>
          <p:sp>
            <p:nvSpPr>
              <p:cNvPr id="45" name="0"/>
              <p:cNvSpPr/>
              <p:nvPr/>
            </p:nvSpPr>
            <p:spPr>
              <a:xfrm>
                <a:off x="5445415" y="1669612"/>
                <a:ext cx="1337974" cy="1337976"/>
              </a:xfrm>
              <a:prstGeom prst="ellipse">
                <a:avLst/>
              </a:prstGeom>
              <a:gradFill flip="none" rotWithShape="1">
                <a:gsLst>
                  <a:gs pos="64000">
                    <a:schemeClr val="accent1">
                      <a:lumMod val="5000"/>
                      <a:lumOff val="95000"/>
                    </a:schemeClr>
                  </a:gs>
                  <a:gs pos="100000">
                    <a:schemeClr val="accent2">
                      <a:lumMod val="20000"/>
                      <a:lumOff val="80000"/>
                      <a:alpha val="0"/>
                    </a:schemeClr>
                  </a:gs>
                </a:gsLst>
                <a:path path="circle">
                  <a:fillToRect l="50000" t="50000" r="50000" b="50000"/>
                </a:path>
                <a:tileRect/>
              </a:gradFill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>
                <a:noAutofit/>
              </a:bodyPr>
              <a:lstStyle/>
              <a:p>
                <a:pPr algn="ctr"/>
                <a:endParaRPr lang="zh-CN" altLang="en-US">
                  <a:latin typeface="+mj-ea"/>
                  <a:ea typeface="+mj-ea"/>
                </a:endParaRPr>
              </a:p>
            </p:txBody>
          </p:sp>
          <p:sp>
            <p:nvSpPr>
              <p:cNvPr id="46" name="0"/>
              <p:cNvSpPr/>
              <p:nvPr/>
            </p:nvSpPr>
            <p:spPr>
              <a:xfrm>
                <a:off x="5261157" y="1485354"/>
                <a:ext cx="1706490" cy="1706492"/>
              </a:xfrm>
              <a:prstGeom prst="ellipse">
                <a:avLst/>
              </a:prstGeom>
              <a:noFill/>
              <a:ln w="12700">
                <a:gradFill>
                  <a:gsLst>
                    <a:gs pos="0">
                      <a:schemeClr val="bg1"/>
                    </a:gs>
                    <a:gs pos="100000">
                      <a:schemeClr val="accent2">
                        <a:lumMod val="20000"/>
                        <a:lumOff val="80000"/>
                      </a:schemeClr>
                    </a:gs>
                  </a:gsLst>
                  <a:lin ang="8400000" scaled="0"/>
                </a:gradFill>
                <a:prstDash val="dash"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>
                <a:noAutofit/>
              </a:bodyPr>
              <a:lstStyle/>
              <a:p>
                <a:pPr algn="ctr"/>
                <a:endParaRPr lang="zh-CN" altLang="en-US">
                  <a:latin typeface="+mj-ea"/>
                  <a:ea typeface="+mj-ea"/>
                </a:endParaRPr>
              </a:p>
            </p:txBody>
          </p:sp>
          <p:sp>
            <p:nvSpPr>
              <p:cNvPr id="47" name="Index-0"/>
              <p:cNvSpPr txBox="1"/>
              <p:nvPr>
                <p:custDataLst>
                  <p:tags r:id="rId2"/>
                </p:custDataLst>
              </p:nvPr>
            </p:nvSpPr>
            <p:spPr>
              <a:xfrm>
                <a:off x="5380215" y="1892749"/>
                <a:ext cx="1431569" cy="513182"/>
              </a:xfrm>
              <a:prstGeom prst="rect">
                <a:avLst/>
              </a:prstGeom>
              <a:noFill/>
            </p:spPr>
            <p:txBody>
              <a:bodyPr wrap="square" rtlCol="0">
                <a:noAutofit/>
              </a:bodyPr>
              <a:lstStyle/>
              <a:p>
                <a:pPr algn="ctr"/>
                <a:r>
                  <a:rPr lang="zh-CN" altLang="en-US" sz="2500" b="1" dirty="0">
                    <a:gradFill flip="none" rotWithShape="1">
                      <a:gsLst>
                        <a:gs pos="41000">
                          <a:schemeClr val="accent1"/>
                        </a:gs>
                        <a:gs pos="96000">
                          <a:schemeClr val="accent2"/>
                        </a:gs>
                      </a:gsLst>
                      <a:lin ang="2700000" scaled="1"/>
                      <a:tileRect/>
                    </a:gradFill>
                    <a:latin typeface="+mj-ea"/>
                    <a:ea typeface="+mj-ea"/>
                  </a:rPr>
                  <a:t>具身</a:t>
                </a:r>
                <a:endParaRPr lang="en-US" altLang="zh-CN" sz="2500" b="1" dirty="0">
                  <a:gradFill flip="none" rotWithShape="1">
                    <a:gsLst>
                      <a:gs pos="41000">
                        <a:schemeClr val="accent1"/>
                      </a:gs>
                      <a:gs pos="96000">
                        <a:schemeClr val="accent2"/>
                      </a:gs>
                    </a:gsLst>
                    <a:lin ang="2700000" scaled="1"/>
                    <a:tileRect/>
                  </a:gradFill>
                  <a:latin typeface="+mj-ea"/>
                  <a:ea typeface="+mj-ea"/>
                </a:endParaRPr>
              </a:p>
              <a:p>
                <a:pPr algn="ctr"/>
                <a:r>
                  <a:rPr lang="zh-CN" altLang="en-US" sz="2500" b="1" dirty="0">
                    <a:gradFill flip="none" rotWithShape="1">
                      <a:gsLst>
                        <a:gs pos="41000">
                          <a:schemeClr val="accent1"/>
                        </a:gs>
                        <a:gs pos="96000">
                          <a:schemeClr val="accent2"/>
                        </a:gs>
                      </a:gsLst>
                      <a:lin ang="2700000" scaled="1"/>
                      <a:tileRect/>
                    </a:gradFill>
                    <a:latin typeface="+mj-ea"/>
                    <a:ea typeface="+mj-ea"/>
                  </a:rPr>
                  <a:t>智能</a:t>
                </a:r>
                <a:endParaRPr lang="zh-CN" altLang="en-US" sz="2500" b="1" dirty="0">
                  <a:gradFill flip="none" rotWithShape="1">
                    <a:gsLst>
                      <a:gs pos="41000">
                        <a:schemeClr val="accent1"/>
                      </a:gs>
                      <a:gs pos="96000">
                        <a:schemeClr val="accent2"/>
                      </a:gs>
                    </a:gsLst>
                    <a:lin ang="2700000" scaled="1"/>
                    <a:tileRect/>
                  </a:gradFill>
                  <a:latin typeface="+mj-ea"/>
                  <a:ea typeface="+mj-ea"/>
                </a:endParaRPr>
              </a:p>
            </p:txBody>
          </p:sp>
        </p:grpSp>
        <p:grpSp>
          <p:nvGrpSpPr>
            <p:cNvPr id="12" name="组合 1"/>
            <p:cNvGrpSpPr/>
            <p:nvPr/>
          </p:nvGrpSpPr>
          <p:grpSpPr>
            <a:xfrm>
              <a:off x="1024292" y="3620025"/>
              <a:ext cx="3023999" cy="2611758"/>
              <a:chOff x="254754" y="3108949"/>
              <a:chExt cx="3023999" cy="2611758"/>
            </a:xfrm>
          </p:grpSpPr>
          <p:sp>
            <p:nvSpPr>
              <p:cNvPr id="34" name="Title-1"/>
              <p:cNvSpPr txBox="1"/>
              <p:nvPr>
                <p:custDataLst>
                  <p:tags r:id="rId3"/>
                </p:custDataLst>
              </p:nvPr>
            </p:nvSpPr>
            <p:spPr>
              <a:xfrm flipH="1">
                <a:off x="795987" y="4103408"/>
                <a:ext cx="2103291" cy="369332"/>
              </a:xfrm>
              <a:prstGeom prst="rect">
                <a:avLst/>
              </a:prstGeom>
              <a:noFill/>
            </p:spPr>
            <p:txBody>
              <a:bodyPr wrap="square" rtlCol="0">
                <a:noAutofit/>
              </a:bodyPr>
              <a:lstStyle/>
              <a:p>
                <a:pPr algn="just"/>
                <a:r>
                  <a:rPr lang="zh-CN" altLang="en-US" b="1" dirty="0">
                    <a:gradFill flip="none" rotWithShape="1">
                      <a:gsLst>
                        <a:gs pos="41000">
                          <a:schemeClr val="accent1"/>
                        </a:gs>
                        <a:gs pos="96000">
                          <a:schemeClr val="accent2"/>
                        </a:gs>
                      </a:gsLst>
                      <a:lin ang="2700000" scaled="1"/>
                      <a:tileRect/>
                    </a:gradFill>
                    <a:latin typeface="+mj-ea"/>
                    <a:ea typeface="+mj-ea"/>
                  </a:rPr>
                  <a:t>国家战略高度定位</a:t>
                </a:r>
                <a:endParaRPr lang="zh-CN" altLang="en-US" b="1" dirty="0">
                  <a:gradFill flip="none" rotWithShape="1">
                    <a:gsLst>
                      <a:gs pos="41000">
                        <a:schemeClr val="accent1"/>
                      </a:gs>
                      <a:gs pos="96000">
                        <a:schemeClr val="accent2"/>
                      </a:gs>
                    </a:gsLst>
                    <a:lin ang="2700000" scaled="1"/>
                    <a:tileRect/>
                  </a:gradFill>
                  <a:latin typeface="+mj-ea"/>
                  <a:ea typeface="+mj-ea"/>
                </a:endParaRPr>
              </a:p>
            </p:txBody>
          </p:sp>
          <p:sp>
            <p:nvSpPr>
              <p:cNvPr id="35" name="Body-1"/>
              <p:cNvSpPr txBox="1"/>
              <p:nvPr>
                <p:custDataLst>
                  <p:tags r:id="rId4"/>
                </p:custDataLst>
              </p:nvPr>
            </p:nvSpPr>
            <p:spPr>
              <a:xfrm flipH="1">
                <a:off x="254754" y="4472740"/>
                <a:ext cx="3023999" cy="1247967"/>
              </a:xfrm>
              <a:prstGeom prst="rect">
                <a:avLst/>
              </a:prstGeom>
              <a:noFill/>
            </p:spPr>
            <p:txBody>
              <a:bodyPr wrap="square" rtlCol="0">
                <a:noAutofit/>
              </a:bodyPr>
              <a:lstStyle/>
              <a:p>
                <a:pPr marL="0" marR="0" lvl="0" indent="0" algn="l" defTabSz="914400" rtl="0" eaLnBrk="0" fontAlgn="base" latinLnBrk="0" hangingPunct="0">
                  <a:lnSpc>
                    <a:spcPct val="12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Char char="•"/>
                </a:pPr>
                <a:r>
                  <a:rPr kumimoji="0" lang="zh-CN" altLang="zh-CN" sz="1000" b="0" i="0" u="none" strike="noStrike" cap="none" normalizeH="0" baseline="0" dirty="0">
                    <a:ln>
                      <a:noFill/>
                    </a:ln>
                    <a:solidFill>
                      <a:srgbClr val="1F2329"/>
                    </a:solidFill>
                    <a:effectLst/>
                    <a:latin typeface="Arial" panose="020B0604020202020204" pitchFamily="34" charset="0"/>
                    <a:ea typeface="ui-sans-serif"/>
                  </a:rPr>
                  <a:t>2025 年首次写入《政府工作报告》，2026 年再次明确为重点培育的未来产业。</a:t>
                </a:r>
                <a:r>
                  <a:rPr kumimoji="0" lang="zh-CN" altLang="zh-CN" sz="200" b="0" i="0" u="none" strike="noStrike" cap="none" normalizeH="0" baseline="0" dirty="0">
                    <a:ln>
                      <a:noFill/>
                    </a:ln>
                    <a:solidFill>
                      <a:schemeClr val="tx1"/>
                    </a:solidFill>
                    <a:effectLst/>
                    <a:latin typeface="Arial" panose="020B0604020202020204" pitchFamily="34" charset="0"/>
                  </a:rPr>
                  <a:t> </a:t>
                </a:r>
                <a:endParaRPr kumimoji="0" lang="zh-CN" altLang="zh-CN" sz="1000" b="0" i="0" u="none" strike="noStrike" cap="none" normalizeH="0" baseline="0" dirty="0">
                  <a:ln>
                    <a:noFill/>
                  </a:ln>
                  <a:solidFill>
                    <a:srgbClr val="1F2329"/>
                  </a:solidFill>
                  <a:effectLst/>
                  <a:latin typeface="Arial" panose="020B0604020202020204" pitchFamily="34" charset="0"/>
                  <a:ea typeface="ui-sans-serif"/>
                </a:endParaRPr>
              </a:p>
              <a:p>
                <a:pPr marL="0" marR="0" lvl="0" indent="0" algn="l" defTabSz="914400" rtl="0" eaLnBrk="0" fontAlgn="base" latinLnBrk="0" hangingPunct="0">
                  <a:lnSpc>
                    <a:spcPct val="12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Char char="•"/>
                </a:pPr>
                <a:r>
                  <a:rPr kumimoji="0" lang="zh-CN" altLang="zh-CN" sz="1000" b="0" i="0" u="none" strike="noStrike" cap="none" normalizeH="0" baseline="0" dirty="0">
                    <a:ln>
                      <a:noFill/>
                    </a:ln>
                    <a:solidFill>
                      <a:srgbClr val="1F2329"/>
                    </a:solidFill>
                    <a:effectLst/>
                    <a:latin typeface="Arial" panose="020B0604020202020204" pitchFamily="34" charset="0"/>
                    <a:ea typeface="ui-sans-serif"/>
                  </a:rPr>
                  <a:t>“十五五” 规划将其列为新经济增长点，定位为全球科技竞争的核心赛道</a:t>
                </a:r>
                <a:r>
                  <a:rPr kumimoji="0" lang="en-US" altLang="zh-CN" sz="300" b="0" i="0" u="none" strike="noStrike" cap="none" normalizeH="0" baseline="0" dirty="0">
                    <a:ln>
                      <a:noFill/>
                    </a:ln>
                    <a:solidFill>
                      <a:srgbClr val="1F2329"/>
                    </a:solidFill>
                    <a:effectLst/>
                    <a:latin typeface="Arial" panose="020B0604020202020204" pitchFamily="34" charset="0"/>
                    <a:ea typeface="ui-sans-serif"/>
                  </a:rPr>
                  <a:t>.</a:t>
                </a:r>
                <a:r>
                  <a:rPr kumimoji="0" lang="zh-CN" altLang="zh-CN" sz="200" b="0" i="0" u="none" strike="noStrike" cap="none" normalizeH="0" baseline="0" dirty="0">
                    <a:ln>
                      <a:noFill/>
                    </a:ln>
                    <a:solidFill>
                      <a:schemeClr val="tx1"/>
                    </a:solidFill>
                    <a:effectLst/>
                    <a:latin typeface="Arial" panose="020B0604020202020204" pitchFamily="34" charset="0"/>
                  </a:rPr>
                  <a:t> </a:t>
                </a:r>
                <a:r>
                  <a:rPr kumimoji="0" lang="zh-CN" altLang="zh-CN" sz="1000" b="0" i="0" u="none" strike="noStrike" cap="none" normalizeH="0" baseline="0" dirty="0">
                    <a:ln>
                      <a:noFill/>
                    </a:ln>
                    <a:solidFill>
                      <a:srgbClr val="1F2329"/>
                    </a:solidFill>
                    <a:effectLst/>
                    <a:latin typeface="Arial" panose="020B0604020202020204" pitchFamily="34" charset="0"/>
                    <a:ea typeface="ui-sans-serif"/>
                  </a:rPr>
                  <a:t>。</a:t>
                </a:r>
                <a:endParaRPr kumimoji="0" lang="en-US" altLang="zh-CN" sz="1000" b="0" i="0" u="none" strike="noStrike" cap="none" normalizeH="0" baseline="0" dirty="0">
                  <a:ln>
                    <a:noFill/>
                  </a:ln>
                  <a:solidFill>
                    <a:srgbClr val="1F2329"/>
                  </a:solidFill>
                  <a:effectLst/>
                  <a:latin typeface="Arial" panose="020B0604020202020204" pitchFamily="34" charset="0"/>
                  <a:ea typeface="ui-sans-serif"/>
                </a:endParaRPr>
              </a:p>
              <a:p>
                <a:pPr marL="0" marR="0" lvl="0" indent="0" algn="l" defTabSz="914400" rtl="0" eaLnBrk="0" fontAlgn="base" latinLnBrk="0" hangingPunct="0">
                  <a:lnSpc>
                    <a:spcPct val="12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Char char="•"/>
                </a:pPr>
                <a:r>
                  <a:rPr kumimoji="0" lang="zh-CN" altLang="zh-CN" sz="1000" b="0" i="0" u="none" strike="noStrike" cap="none" normalizeH="0" baseline="0" dirty="0">
                    <a:ln>
                      <a:noFill/>
                    </a:ln>
                    <a:solidFill>
                      <a:srgbClr val="1F2329"/>
                    </a:solidFill>
                    <a:effectLst/>
                    <a:latin typeface="Arial" panose="020B0604020202020204" pitchFamily="34" charset="0"/>
                    <a:ea typeface="ui-sans-serif"/>
                  </a:rPr>
                  <a:t>政策目标：2030 年市场规模约</a:t>
                </a:r>
                <a:r>
                  <a:rPr kumimoji="0" lang="zh-CN" altLang="zh-CN" sz="1000" b="1" i="0" u="none" strike="noStrike" cap="none" normalizeH="0" baseline="0" dirty="0">
                    <a:ln>
                      <a:noFill/>
                    </a:ln>
                    <a:solidFill>
                      <a:srgbClr val="1F2329"/>
                    </a:solidFill>
                    <a:effectLst/>
                    <a:latin typeface="Arial" panose="020B0604020202020204" pitchFamily="34" charset="0"/>
                    <a:ea typeface="ui-sans-serif"/>
                  </a:rPr>
                  <a:t>4000 亿元</a:t>
                </a:r>
                <a:r>
                  <a:rPr kumimoji="0" lang="zh-CN" altLang="zh-CN" sz="1000" b="0" i="0" u="none" strike="noStrike" cap="none" normalizeH="0" baseline="0" dirty="0">
                    <a:ln>
                      <a:noFill/>
                    </a:ln>
                    <a:solidFill>
                      <a:srgbClr val="1F2329"/>
                    </a:solidFill>
                    <a:effectLst/>
                    <a:latin typeface="Arial" panose="020B0604020202020204" pitchFamily="34" charset="0"/>
                    <a:ea typeface="ui-sans-serif"/>
                  </a:rPr>
                  <a:t>，2035 年突破</a:t>
                </a:r>
                <a:r>
                  <a:rPr kumimoji="0" lang="zh-CN" altLang="zh-CN" sz="1000" b="1" i="0" u="none" strike="noStrike" cap="none" normalizeH="0" baseline="0" dirty="0">
                    <a:ln>
                      <a:noFill/>
                    </a:ln>
                    <a:solidFill>
                      <a:srgbClr val="1F2329"/>
                    </a:solidFill>
                    <a:effectLst/>
                    <a:latin typeface="Arial" panose="020B0604020202020204" pitchFamily="34" charset="0"/>
                    <a:ea typeface="ui-sans-serif"/>
                  </a:rPr>
                  <a:t>万亿元</a:t>
                </a:r>
                <a:r>
                  <a:rPr kumimoji="0" lang="zh-CN" altLang="zh-CN" sz="1000" b="0" i="0" u="none" strike="noStrike" cap="none" normalizeH="0" baseline="0" dirty="0">
                    <a:ln>
                      <a:noFill/>
                    </a:ln>
                    <a:solidFill>
                      <a:srgbClr val="1F2329"/>
                    </a:solidFill>
                    <a:effectLst/>
                    <a:latin typeface="Arial" panose="020B0604020202020204" pitchFamily="34" charset="0"/>
                    <a:ea typeface="ui-sans-serif"/>
                  </a:rPr>
                  <a:t>。</a:t>
                </a:r>
                <a:r>
                  <a:rPr kumimoji="0" lang="zh-CN" altLang="zh-CN" sz="200" b="0" i="0" u="none" strike="noStrike" cap="none" normalizeH="0" baseline="0" dirty="0">
                    <a:ln>
                      <a:noFill/>
                    </a:ln>
                    <a:solidFill>
                      <a:schemeClr val="tx1"/>
                    </a:solidFill>
                    <a:effectLst/>
                    <a:latin typeface="Arial" panose="020B0604020202020204" pitchFamily="34" charset="0"/>
                  </a:rPr>
                  <a:t> </a:t>
                </a:r>
                <a:endParaRPr kumimoji="0" lang="zh-CN" altLang="zh-CN" sz="1200" b="0" i="0" u="none" strike="noStrike" cap="none" normalizeH="0" baseline="0" dirty="0">
                  <a:ln>
                    <a:noFill/>
                  </a:ln>
                  <a:solidFill>
                    <a:schemeClr val="tx1"/>
                  </a:solidFill>
                  <a:effectLst/>
                  <a:latin typeface="Arial" panose="020B0604020202020204" pitchFamily="34" charset="0"/>
                </a:endParaRPr>
              </a:p>
              <a:p>
                <a:pPr algn="ctr"/>
                <a:endParaRPr lang="zh-CN" altLang="en-US" sz="1000" dirty="0">
                  <a:effectLst/>
                  <a:latin typeface="+mj-ea"/>
                  <a:ea typeface="+mj-ea"/>
                </a:endParaRPr>
              </a:p>
            </p:txBody>
          </p:sp>
          <p:sp>
            <p:nvSpPr>
              <p:cNvPr id="36" name="1"/>
              <p:cNvSpPr/>
              <p:nvPr/>
            </p:nvSpPr>
            <p:spPr>
              <a:xfrm flipH="1">
                <a:off x="1458934" y="3108949"/>
                <a:ext cx="868960" cy="868960"/>
              </a:xfrm>
              <a:prstGeom prst="ellipse">
                <a:avLst/>
              </a:prstGeom>
              <a:gradFill flip="none" rotWithShape="1">
                <a:gsLst>
                  <a:gs pos="0">
                    <a:schemeClr val="accent2">
                      <a:lumMod val="60000"/>
                      <a:lumOff val="40000"/>
                    </a:schemeClr>
                  </a:gs>
                  <a:gs pos="100000">
                    <a:schemeClr val="accent1"/>
                  </a:gs>
                </a:gsLst>
                <a:lin ang="5400000" scaled="1"/>
                <a:tileRect/>
              </a:gradFill>
              <a:ln>
                <a:noFill/>
              </a:ln>
              <a:effectLst>
                <a:outerShdw blurRad="203200" dir="5400000" sx="90000" sy="-19000" rotWithShape="0">
                  <a:schemeClr val="accent1">
                    <a:lumMod val="60000"/>
                    <a:lumOff val="40000"/>
                    <a:alpha val="43000"/>
                  </a:schemeClr>
                </a:outerShdw>
              </a:effectLst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>
                <a:noAutofit/>
              </a:bodyPr>
              <a:lstStyle/>
              <a:p>
                <a:pPr algn="ctr"/>
                <a:endParaRPr lang="zh-CN" altLang="en-US" dirty="0">
                  <a:latin typeface="+mj-ea"/>
                  <a:ea typeface="+mj-ea"/>
                </a:endParaRPr>
              </a:p>
            </p:txBody>
          </p:sp>
          <p:sp>
            <p:nvSpPr>
              <p:cNvPr id="37" name="1"/>
              <p:cNvSpPr/>
              <p:nvPr/>
            </p:nvSpPr>
            <p:spPr>
              <a:xfrm flipH="1">
                <a:off x="1497024" y="3147039"/>
                <a:ext cx="792780" cy="792780"/>
              </a:xfrm>
              <a:prstGeom prst="ellipse">
                <a:avLst/>
              </a:prstGeom>
              <a:solidFill>
                <a:schemeClr val="bg1"/>
              </a:solidFill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>
                <a:noAutofit/>
              </a:bodyPr>
              <a:lstStyle/>
              <a:p>
                <a:pPr algn="ctr"/>
                <a:endParaRPr lang="zh-CN" altLang="en-US" dirty="0">
                  <a:latin typeface="+mj-ea"/>
                  <a:ea typeface="+mj-ea"/>
                </a:endParaRPr>
              </a:p>
            </p:txBody>
          </p:sp>
        </p:grpSp>
        <p:grpSp>
          <p:nvGrpSpPr>
            <p:cNvPr id="13" name="组合 2"/>
            <p:cNvGrpSpPr/>
            <p:nvPr/>
          </p:nvGrpSpPr>
          <p:grpSpPr>
            <a:xfrm>
              <a:off x="4770453" y="4238580"/>
              <a:ext cx="3456001" cy="2598039"/>
              <a:chOff x="567866" y="3108949"/>
              <a:chExt cx="3456001" cy="2598039"/>
            </a:xfrm>
          </p:grpSpPr>
          <p:sp>
            <p:nvSpPr>
              <p:cNvPr id="29" name="Title-2"/>
              <p:cNvSpPr txBox="1"/>
              <p:nvPr>
                <p:custDataLst>
                  <p:tags r:id="rId5"/>
                </p:custDataLst>
              </p:nvPr>
            </p:nvSpPr>
            <p:spPr>
              <a:xfrm flipH="1">
                <a:off x="639868" y="4032668"/>
                <a:ext cx="2736000" cy="369332"/>
              </a:xfrm>
              <a:prstGeom prst="rect">
                <a:avLst/>
              </a:prstGeom>
              <a:noFill/>
            </p:spPr>
            <p:txBody>
              <a:bodyPr wrap="square" rtlCol="0">
                <a:noAutofit/>
              </a:bodyPr>
              <a:lstStyle/>
              <a:p>
                <a:pPr algn="just"/>
                <a:r>
                  <a:rPr lang="zh-CN" altLang="en-US" b="1" dirty="0">
                    <a:gradFill flip="none" rotWithShape="1">
                      <a:gsLst>
                        <a:gs pos="41000">
                          <a:schemeClr val="accent1"/>
                        </a:gs>
                        <a:gs pos="96000">
                          <a:schemeClr val="accent2"/>
                        </a:gs>
                      </a:gsLst>
                      <a:lin ang="2700000" scaled="1"/>
                      <a:tileRect/>
                    </a:gradFill>
                    <a:latin typeface="+mj-ea"/>
                    <a:ea typeface="+mj-ea"/>
                  </a:rPr>
                  <a:t>技术成熟度：快速迭代</a:t>
                </a:r>
                <a:endParaRPr lang="zh-CN" altLang="en-US" b="1" dirty="0">
                  <a:gradFill flip="none" rotWithShape="1">
                    <a:gsLst>
                      <a:gs pos="41000">
                        <a:schemeClr val="accent1"/>
                      </a:gs>
                      <a:gs pos="96000">
                        <a:schemeClr val="accent2"/>
                      </a:gs>
                    </a:gsLst>
                    <a:lin ang="2700000" scaled="1"/>
                    <a:tileRect/>
                  </a:gradFill>
                  <a:latin typeface="+mj-ea"/>
                  <a:ea typeface="+mj-ea"/>
                </a:endParaRPr>
              </a:p>
            </p:txBody>
          </p:sp>
          <p:sp>
            <p:nvSpPr>
              <p:cNvPr id="30" name="Body-2"/>
              <p:cNvSpPr txBox="1"/>
              <p:nvPr>
                <p:custDataLst>
                  <p:tags r:id="rId6"/>
                </p:custDataLst>
              </p:nvPr>
            </p:nvSpPr>
            <p:spPr>
              <a:xfrm flipH="1">
                <a:off x="567866" y="4459021"/>
                <a:ext cx="3456001" cy="1247967"/>
              </a:xfrm>
              <a:prstGeom prst="rect">
                <a:avLst/>
              </a:prstGeom>
              <a:noFill/>
            </p:spPr>
            <p:txBody>
              <a:bodyPr wrap="square" rtlCol="0">
                <a:noAutofit/>
              </a:bodyPr>
              <a:lstStyle/>
              <a:p>
                <a:pPr marL="0" marR="0" lvl="0" indent="0" algn="l" defTabSz="914400" rtl="0" eaLnBrk="0" fontAlgn="base" latinLnBrk="0" hangingPunct="0">
                  <a:lnSpc>
                    <a:spcPct val="12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Char char="•"/>
                </a:pPr>
                <a:r>
                  <a:rPr kumimoji="0" lang="zh-CN" altLang="zh-CN" sz="1000" b="0" i="0" u="none" strike="noStrike" cap="none" normalizeH="0" baseline="0" dirty="0">
                    <a:ln>
                      <a:noFill/>
                    </a:ln>
                    <a:solidFill>
                      <a:srgbClr val="1F2329"/>
                    </a:solidFill>
                    <a:effectLst/>
                    <a:latin typeface="Arial" panose="020B0604020202020204" pitchFamily="34" charset="0"/>
                    <a:ea typeface="ui-sans-serif"/>
                  </a:rPr>
                  <a:t>核心突破：</a:t>
                </a:r>
                <a:r>
                  <a:rPr kumimoji="0" lang="zh-CN" altLang="zh-CN" sz="1000" b="1" i="0" u="none" strike="noStrike" cap="none" normalizeH="0" baseline="0" dirty="0">
                    <a:ln>
                      <a:noFill/>
                    </a:ln>
                    <a:solidFill>
                      <a:srgbClr val="1F2329"/>
                    </a:solidFill>
                    <a:effectLst/>
                    <a:latin typeface="Arial" panose="020B0604020202020204" pitchFamily="34" charset="0"/>
                    <a:ea typeface="ui-sans-serif"/>
                  </a:rPr>
                  <a:t>大模型 + 机器人本体 + 多模态感知</a:t>
                </a:r>
                <a:r>
                  <a:rPr kumimoji="0" lang="zh-CN" altLang="zh-CN" sz="1000" b="0" i="0" u="none" strike="noStrike" cap="none" normalizeH="0" baseline="0" dirty="0">
                    <a:ln>
                      <a:noFill/>
                    </a:ln>
                    <a:solidFill>
                      <a:srgbClr val="1F2329"/>
                    </a:solidFill>
                    <a:effectLst/>
                    <a:latin typeface="Arial" panose="020B0604020202020204" pitchFamily="34" charset="0"/>
                    <a:ea typeface="ui-sans-serif"/>
                  </a:rPr>
                  <a:t>深度融合，实现 “感知 - 决策 - 执行” 闭环</a:t>
                </a:r>
                <a:r>
                  <a:rPr kumimoji="0" lang="zh-CN" altLang="en-US" sz="1000" b="0" i="0" u="none" strike="noStrike" cap="none" normalizeH="0" baseline="0" dirty="0">
                    <a:ln>
                      <a:noFill/>
                    </a:ln>
                    <a:solidFill>
                      <a:srgbClr val="1F2329"/>
                    </a:solidFill>
                    <a:effectLst/>
                    <a:latin typeface="Arial" panose="020B0604020202020204" pitchFamily="34" charset="0"/>
                    <a:ea typeface="ui-sans-serif"/>
                  </a:rPr>
                  <a:t>。</a:t>
                </a:r>
                <a:endParaRPr kumimoji="0" lang="zh-CN" altLang="zh-CN" sz="1000" b="0" i="0" u="none" strike="noStrike" cap="none" normalizeH="0" baseline="0" dirty="0">
                  <a:ln>
                    <a:noFill/>
                  </a:ln>
                  <a:solidFill>
                    <a:srgbClr val="1F2329"/>
                  </a:solidFill>
                  <a:effectLst/>
                  <a:latin typeface="Arial" panose="020B0604020202020204" pitchFamily="34" charset="0"/>
                  <a:ea typeface="ui-sans-serif"/>
                </a:endParaRPr>
              </a:p>
              <a:p>
                <a:pPr marL="0" marR="0" lvl="0" indent="0" algn="l" defTabSz="914400" rtl="0" eaLnBrk="0" fontAlgn="base" latinLnBrk="0" hangingPunct="0">
                  <a:lnSpc>
                    <a:spcPct val="12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Char char="•"/>
                </a:pPr>
                <a:r>
                  <a:rPr kumimoji="0" lang="zh-CN" altLang="zh-CN" sz="1000" b="0" i="0" u="none" strike="noStrike" cap="none" normalizeH="0" baseline="0" dirty="0">
                    <a:ln>
                      <a:noFill/>
                    </a:ln>
                    <a:solidFill>
                      <a:srgbClr val="1F2329"/>
                    </a:solidFill>
                    <a:effectLst/>
                    <a:latin typeface="Arial" panose="020B0604020202020204" pitchFamily="34" charset="0"/>
                    <a:ea typeface="ui-sans-serif"/>
                  </a:rPr>
                  <a:t>硬件：人形 / 四足 / 机械臂等载体成熟，灵巧手、关节模组、力觉传感等关键部件快速迭代。</a:t>
                </a:r>
                <a:r>
                  <a:rPr kumimoji="0" lang="zh-CN" altLang="zh-CN" sz="200" b="0" i="0" u="none" strike="noStrike" cap="none" normalizeH="0" baseline="0" dirty="0">
                    <a:ln>
                      <a:noFill/>
                    </a:ln>
                    <a:solidFill>
                      <a:schemeClr val="tx1"/>
                    </a:solidFill>
                    <a:effectLst/>
                    <a:latin typeface="Arial" panose="020B0604020202020204" pitchFamily="34" charset="0"/>
                  </a:rPr>
                  <a:t> </a:t>
                </a:r>
                <a:endParaRPr kumimoji="0" lang="zh-CN" altLang="zh-CN" sz="1000" b="0" i="0" u="none" strike="noStrike" cap="none" normalizeH="0" baseline="0" dirty="0">
                  <a:ln>
                    <a:noFill/>
                  </a:ln>
                  <a:solidFill>
                    <a:srgbClr val="1F2329"/>
                  </a:solidFill>
                  <a:effectLst/>
                  <a:latin typeface="Arial" panose="020B0604020202020204" pitchFamily="34" charset="0"/>
                  <a:ea typeface="ui-sans-serif"/>
                </a:endParaRPr>
              </a:p>
              <a:p>
                <a:pPr marL="0" marR="0" lvl="0" indent="0" algn="l" defTabSz="914400" rtl="0" eaLnBrk="0" fontAlgn="base" latinLnBrk="0" hangingPunct="0">
                  <a:lnSpc>
                    <a:spcPct val="12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Char char="•"/>
                </a:pPr>
                <a:r>
                  <a:rPr kumimoji="0" lang="zh-CN" altLang="zh-CN" sz="1000" b="0" i="0" u="none" strike="noStrike" cap="none" normalizeH="0" baseline="0" dirty="0">
                    <a:ln>
                      <a:noFill/>
                    </a:ln>
                    <a:solidFill>
                      <a:srgbClr val="1F2329"/>
                    </a:solidFill>
                    <a:effectLst/>
                    <a:latin typeface="Arial" panose="020B0604020202020204" pitchFamily="34" charset="0"/>
                    <a:ea typeface="ui-sans-serif"/>
                  </a:rPr>
                  <a:t>软件：具身 VLA 大模型、大小脑分离架构、数字孪生仿真训练，大幅降低落地门槛。</a:t>
                </a:r>
                <a:r>
                  <a:rPr kumimoji="0" lang="zh-CN" altLang="zh-CN" sz="200" b="0" i="0" u="none" strike="noStrike" cap="none" normalizeH="0" baseline="0" dirty="0">
                    <a:ln>
                      <a:noFill/>
                    </a:ln>
                    <a:solidFill>
                      <a:schemeClr val="tx1"/>
                    </a:solidFill>
                    <a:effectLst/>
                    <a:latin typeface="Arial" panose="020B0604020202020204" pitchFamily="34" charset="0"/>
                  </a:rPr>
                  <a:t> </a:t>
                </a:r>
                <a:endParaRPr kumimoji="0" lang="zh-CN" altLang="zh-CN" sz="1200" b="0" i="0" u="none" strike="noStrike" cap="none" normalizeH="0" baseline="0" dirty="0">
                  <a:ln>
                    <a:noFill/>
                  </a:ln>
                  <a:solidFill>
                    <a:schemeClr val="tx1"/>
                  </a:solidFill>
                  <a:effectLst/>
                  <a:latin typeface="Arial" panose="020B0604020202020204" pitchFamily="34" charset="0"/>
                </a:endParaRPr>
              </a:p>
            </p:txBody>
          </p:sp>
          <p:sp>
            <p:nvSpPr>
              <p:cNvPr id="31" name="2"/>
              <p:cNvSpPr/>
              <p:nvPr/>
            </p:nvSpPr>
            <p:spPr>
              <a:xfrm flipH="1">
                <a:off x="1458934" y="3108949"/>
                <a:ext cx="868960" cy="868960"/>
              </a:xfrm>
              <a:prstGeom prst="ellipse">
                <a:avLst/>
              </a:prstGeom>
              <a:gradFill flip="none" rotWithShape="1">
                <a:gsLst>
                  <a:gs pos="0">
                    <a:schemeClr val="accent2">
                      <a:lumMod val="60000"/>
                      <a:lumOff val="40000"/>
                    </a:schemeClr>
                  </a:gs>
                  <a:gs pos="100000">
                    <a:schemeClr val="accent1"/>
                  </a:gs>
                </a:gsLst>
                <a:lin ang="5400000" scaled="1"/>
                <a:tileRect/>
              </a:gradFill>
              <a:ln>
                <a:noFill/>
              </a:ln>
              <a:effectLst>
                <a:outerShdw blurRad="203200" dir="5400000" sx="90000" sy="-19000" rotWithShape="0">
                  <a:schemeClr val="accent1">
                    <a:lumMod val="60000"/>
                    <a:lumOff val="40000"/>
                    <a:alpha val="43000"/>
                  </a:schemeClr>
                </a:outerShdw>
              </a:effectLst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>
                <a:noAutofit/>
              </a:bodyPr>
              <a:lstStyle/>
              <a:p>
                <a:pPr algn="ctr"/>
                <a:endParaRPr lang="zh-CN" altLang="en-US" dirty="0">
                  <a:latin typeface="+mj-ea"/>
                  <a:ea typeface="+mj-ea"/>
                </a:endParaRPr>
              </a:p>
            </p:txBody>
          </p:sp>
          <p:sp>
            <p:nvSpPr>
              <p:cNvPr id="32" name="2"/>
              <p:cNvSpPr/>
              <p:nvPr/>
            </p:nvSpPr>
            <p:spPr>
              <a:xfrm flipH="1">
                <a:off x="1497024" y="3147039"/>
                <a:ext cx="792780" cy="792780"/>
              </a:xfrm>
              <a:prstGeom prst="ellipse">
                <a:avLst/>
              </a:prstGeom>
              <a:solidFill>
                <a:schemeClr val="bg1"/>
              </a:solidFill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>
                <a:noAutofit/>
              </a:bodyPr>
              <a:lstStyle/>
              <a:p>
                <a:pPr algn="ctr"/>
                <a:endParaRPr lang="zh-CN" altLang="en-US" dirty="0">
                  <a:latin typeface="+mj-ea"/>
                  <a:ea typeface="+mj-ea"/>
                </a:endParaRPr>
              </a:p>
            </p:txBody>
          </p:sp>
        </p:grpSp>
        <p:grpSp>
          <p:nvGrpSpPr>
            <p:cNvPr id="15" name="组合 3"/>
            <p:cNvGrpSpPr/>
            <p:nvPr/>
          </p:nvGrpSpPr>
          <p:grpSpPr>
            <a:xfrm flipH="1">
              <a:off x="8730456" y="3581935"/>
              <a:ext cx="3024000" cy="2649848"/>
              <a:chOff x="-15856" y="3108949"/>
              <a:chExt cx="3024000" cy="2649848"/>
            </a:xfrm>
          </p:grpSpPr>
          <p:sp>
            <p:nvSpPr>
              <p:cNvPr id="16" name="Title-3"/>
              <p:cNvSpPr txBox="1"/>
              <p:nvPr>
                <p:custDataLst>
                  <p:tags r:id="rId7"/>
                </p:custDataLst>
              </p:nvPr>
            </p:nvSpPr>
            <p:spPr>
              <a:xfrm flipH="1">
                <a:off x="560144" y="4055155"/>
                <a:ext cx="2448000" cy="369332"/>
              </a:xfrm>
              <a:prstGeom prst="rect">
                <a:avLst/>
              </a:prstGeom>
              <a:noFill/>
            </p:spPr>
            <p:txBody>
              <a:bodyPr wrap="square" rtlCol="0">
                <a:noAutofit/>
              </a:bodyPr>
              <a:lstStyle/>
              <a:p>
                <a:pPr algn="just"/>
                <a:r>
                  <a:rPr lang="zh-CN" altLang="en-US" b="1" dirty="0">
                    <a:gradFill flip="none" rotWithShape="1">
                      <a:gsLst>
                        <a:gs pos="41000">
                          <a:schemeClr val="accent1"/>
                        </a:gs>
                        <a:gs pos="96000">
                          <a:schemeClr val="accent2"/>
                        </a:gs>
                      </a:gsLst>
                      <a:lin ang="2700000" scaled="1"/>
                      <a:tileRect/>
                    </a:gradFill>
                    <a:latin typeface="+mj-ea"/>
                    <a:ea typeface="+mj-ea"/>
                  </a:rPr>
                  <a:t>产业生态与资本热度</a:t>
                </a:r>
                <a:endParaRPr lang="zh-CN" altLang="en-US" b="1" dirty="0">
                  <a:gradFill flip="none" rotWithShape="1">
                    <a:gsLst>
                      <a:gs pos="41000">
                        <a:schemeClr val="accent1"/>
                      </a:gs>
                      <a:gs pos="96000">
                        <a:schemeClr val="accent2"/>
                      </a:gs>
                    </a:gsLst>
                    <a:lin ang="2700000" scaled="1"/>
                    <a:tileRect/>
                  </a:gradFill>
                  <a:latin typeface="+mj-ea"/>
                  <a:ea typeface="+mj-ea"/>
                </a:endParaRPr>
              </a:p>
            </p:txBody>
          </p:sp>
          <p:sp>
            <p:nvSpPr>
              <p:cNvPr id="17" name="Body-3"/>
              <p:cNvSpPr txBox="1"/>
              <p:nvPr>
                <p:custDataLst>
                  <p:tags r:id="rId8"/>
                </p:custDataLst>
              </p:nvPr>
            </p:nvSpPr>
            <p:spPr>
              <a:xfrm flipH="1">
                <a:off x="-15856" y="4472739"/>
                <a:ext cx="3024000" cy="1286058"/>
              </a:xfrm>
              <a:prstGeom prst="rect">
                <a:avLst/>
              </a:prstGeom>
              <a:noFill/>
            </p:spPr>
            <p:txBody>
              <a:bodyPr wrap="square" rtlCol="0">
                <a:noAutofit/>
              </a:bodyPr>
              <a:lstStyle/>
              <a:p>
                <a:pPr marL="0" marR="0" lvl="0" indent="0" algn="l" defTabSz="914400" rtl="0" eaLnBrk="0" fontAlgn="base" latinLnBrk="0" hangingPunct="0">
                  <a:lnSpc>
                    <a:spcPct val="12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Char char="•"/>
                </a:pPr>
                <a:r>
                  <a:rPr kumimoji="0" lang="zh-CN" altLang="zh-CN" sz="1000" b="0" i="0" u="none" strike="noStrike" cap="none" normalizeH="0" baseline="0" dirty="0">
                    <a:ln>
                      <a:noFill/>
                    </a:ln>
                    <a:solidFill>
                      <a:srgbClr val="1F2329"/>
                    </a:solidFill>
                    <a:effectLst/>
                    <a:latin typeface="Arial" panose="020B0604020202020204" pitchFamily="34" charset="0"/>
                    <a:ea typeface="ui-sans-serif"/>
                  </a:rPr>
                  <a:t>国内超</a:t>
                </a:r>
                <a:r>
                  <a:rPr kumimoji="0" lang="zh-CN" altLang="zh-CN" sz="1000" b="1" i="0" u="none" strike="noStrike" cap="none" normalizeH="0" baseline="0" dirty="0">
                    <a:ln>
                      <a:noFill/>
                    </a:ln>
                    <a:solidFill>
                      <a:srgbClr val="1F2329"/>
                    </a:solidFill>
                    <a:effectLst/>
                    <a:latin typeface="Arial" panose="020B0604020202020204" pitchFamily="34" charset="0"/>
                    <a:ea typeface="ui-sans-serif"/>
                  </a:rPr>
                  <a:t>150 家</a:t>
                </a:r>
                <a:r>
                  <a:rPr kumimoji="0" lang="zh-CN" altLang="zh-CN" sz="1000" b="0" i="0" u="none" strike="noStrike" cap="none" normalizeH="0" baseline="0" dirty="0">
                    <a:ln>
                      <a:noFill/>
                    </a:ln>
                    <a:solidFill>
                      <a:srgbClr val="1F2329"/>
                    </a:solidFill>
                    <a:effectLst/>
                    <a:latin typeface="Arial" panose="020B0604020202020204" pitchFamily="34" charset="0"/>
                    <a:ea typeface="ui-sans-serif"/>
                  </a:rPr>
                  <a:t>人形机器人企业，产业链（核心部件 - 整机 - 场景应用）初步成型。</a:t>
                </a:r>
                <a:r>
                  <a:rPr kumimoji="0" lang="zh-CN" altLang="zh-CN" sz="200" b="0" i="0" u="none" strike="noStrike" cap="none" normalizeH="0" baseline="0" dirty="0">
                    <a:ln>
                      <a:noFill/>
                    </a:ln>
                    <a:solidFill>
                      <a:schemeClr val="tx1"/>
                    </a:solidFill>
                    <a:effectLst/>
                    <a:latin typeface="Arial" panose="020B0604020202020204" pitchFamily="34" charset="0"/>
                  </a:rPr>
                  <a:t> </a:t>
                </a:r>
                <a:endParaRPr kumimoji="0" lang="zh-CN" altLang="zh-CN" sz="1000" b="0" i="0" u="none" strike="noStrike" cap="none" normalizeH="0" baseline="0" dirty="0">
                  <a:ln>
                    <a:noFill/>
                  </a:ln>
                  <a:solidFill>
                    <a:srgbClr val="1F2329"/>
                  </a:solidFill>
                  <a:effectLst/>
                  <a:latin typeface="Arial" panose="020B0604020202020204" pitchFamily="34" charset="0"/>
                  <a:ea typeface="ui-sans-serif"/>
                </a:endParaRPr>
              </a:p>
              <a:p>
                <a:pPr marL="0" marR="0" lvl="0" indent="0" algn="l" defTabSz="914400" rtl="0" eaLnBrk="0" fontAlgn="base" latinLnBrk="0" hangingPunct="0">
                  <a:lnSpc>
                    <a:spcPct val="12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Char char="•"/>
                </a:pPr>
                <a:r>
                  <a:rPr kumimoji="0" lang="zh-CN" altLang="zh-CN" sz="1000" b="0" i="0" u="none" strike="noStrike" cap="none" normalizeH="0" baseline="0" dirty="0">
                    <a:ln>
                      <a:noFill/>
                    </a:ln>
                    <a:solidFill>
                      <a:srgbClr val="1F2329"/>
                    </a:solidFill>
                    <a:effectLst/>
                    <a:latin typeface="Arial" panose="020B0604020202020204" pitchFamily="34" charset="0"/>
                    <a:ea typeface="ui-sans-serif"/>
                  </a:rPr>
                  <a:t>投融资活跃：天使轮 / Pre-A 轮融资密集，产业资本与地方基金加速布局。</a:t>
                </a:r>
                <a:r>
                  <a:rPr kumimoji="0" lang="zh-CN" altLang="zh-CN" sz="200" b="0" i="0" u="none" strike="noStrike" cap="none" normalizeH="0" baseline="0" dirty="0">
                    <a:ln>
                      <a:noFill/>
                    </a:ln>
                    <a:solidFill>
                      <a:schemeClr val="tx1"/>
                    </a:solidFill>
                    <a:effectLst/>
                    <a:latin typeface="Arial" panose="020B0604020202020204" pitchFamily="34" charset="0"/>
                  </a:rPr>
                  <a:t> </a:t>
                </a:r>
                <a:endParaRPr kumimoji="0" lang="zh-CN" altLang="zh-CN" sz="1000" b="0" i="0" u="none" strike="noStrike" cap="none" normalizeH="0" baseline="0" dirty="0">
                  <a:ln>
                    <a:noFill/>
                  </a:ln>
                  <a:solidFill>
                    <a:srgbClr val="1F2329"/>
                  </a:solidFill>
                  <a:effectLst/>
                  <a:latin typeface="Arial" panose="020B0604020202020204" pitchFamily="34" charset="0"/>
                  <a:ea typeface="ui-sans-serif"/>
                </a:endParaRPr>
              </a:p>
              <a:p>
                <a:pPr marL="0" marR="0" lvl="0" indent="0" algn="l" defTabSz="914400" rtl="0" eaLnBrk="0" fontAlgn="base" latinLnBrk="0" hangingPunct="0">
                  <a:lnSpc>
                    <a:spcPct val="12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Char char="•"/>
                </a:pPr>
                <a:r>
                  <a:rPr kumimoji="0" lang="zh-CN" altLang="zh-CN" sz="1000" b="0" i="0" u="none" strike="noStrike" cap="none" normalizeH="0" baseline="0" dirty="0">
                    <a:ln>
                      <a:noFill/>
                    </a:ln>
                    <a:solidFill>
                      <a:srgbClr val="1F2329"/>
                    </a:solidFill>
                    <a:effectLst/>
                    <a:latin typeface="Arial" panose="020B0604020202020204" pitchFamily="34" charset="0"/>
                    <a:ea typeface="ui-sans-serif"/>
                  </a:rPr>
                  <a:t>阶段判断：</a:t>
                </a:r>
                <a:r>
                  <a:rPr kumimoji="0" lang="zh-CN" altLang="zh-CN" sz="1000" b="1" i="0" u="none" strike="noStrike" cap="none" normalizeH="0" baseline="0" dirty="0">
                    <a:ln>
                      <a:noFill/>
                    </a:ln>
                    <a:solidFill>
                      <a:srgbClr val="1F2329"/>
                    </a:solidFill>
                    <a:effectLst/>
                    <a:latin typeface="Arial" panose="020B0604020202020204" pitchFamily="34" charset="0"/>
                    <a:ea typeface="ui-sans-serif"/>
                  </a:rPr>
                  <a:t>202</a:t>
                </a:r>
                <a:r>
                  <a:rPr lang="en-US" altLang="zh-CN" sz="1000" b="1" dirty="0">
                    <a:solidFill>
                      <a:srgbClr val="1F2329"/>
                    </a:solidFill>
                    <a:latin typeface="Arial" panose="020B0604020202020204" pitchFamily="34" charset="0"/>
                    <a:ea typeface="ui-sans-serif"/>
                  </a:rPr>
                  <a:t>6</a:t>
                </a:r>
                <a:r>
                  <a:rPr kumimoji="0" lang="zh-CN" altLang="zh-CN" sz="1000" b="1" i="0" u="none" strike="noStrike" cap="none" normalizeH="0" baseline="0" dirty="0">
                    <a:ln>
                      <a:noFill/>
                    </a:ln>
                    <a:solidFill>
                      <a:srgbClr val="1F2329"/>
                    </a:solidFill>
                    <a:effectLst/>
                    <a:latin typeface="Arial" panose="020B0604020202020204" pitchFamily="34" charset="0"/>
                    <a:ea typeface="ui-sans-serif"/>
                  </a:rPr>
                  <a:t>-202</a:t>
                </a:r>
                <a:r>
                  <a:rPr lang="en-US" altLang="zh-CN" sz="1000" b="1" dirty="0">
                    <a:solidFill>
                      <a:srgbClr val="1F2329"/>
                    </a:solidFill>
                    <a:latin typeface="Arial" panose="020B0604020202020204" pitchFamily="34" charset="0"/>
                    <a:ea typeface="ui-sans-serif"/>
                  </a:rPr>
                  <a:t>7</a:t>
                </a:r>
                <a:r>
                  <a:rPr kumimoji="0" lang="zh-CN" altLang="zh-CN" sz="1000" b="1" i="0" u="none" strike="noStrike" cap="none" normalizeH="0" baseline="0" dirty="0">
                    <a:ln>
                      <a:noFill/>
                    </a:ln>
                    <a:solidFill>
                      <a:srgbClr val="1F2329"/>
                    </a:solidFill>
                    <a:effectLst/>
                    <a:latin typeface="Arial" panose="020B0604020202020204" pitchFamily="34" charset="0"/>
                    <a:ea typeface="ui-sans-serif"/>
                  </a:rPr>
                  <a:t> 年工业场景规模化落地，202</a:t>
                </a:r>
                <a:r>
                  <a:rPr kumimoji="0" lang="en-US" altLang="zh-CN" sz="1000" b="1" i="0" u="none" strike="noStrike" cap="none" normalizeH="0" baseline="0" dirty="0">
                    <a:ln>
                      <a:noFill/>
                    </a:ln>
                    <a:solidFill>
                      <a:srgbClr val="1F2329"/>
                    </a:solidFill>
                    <a:effectLst/>
                    <a:latin typeface="Arial" panose="020B0604020202020204" pitchFamily="34" charset="0"/>
                    <a:ea typeface="ui-sans-serif"/>
                  </a:rPr>
                  <a:t>7</a:t>
                </a:r>
                <a:r>
                  <a:rPr kumimoji="0" lang="zh-CN" altLang="zh-CN" sz="1000" b="1" i="0" u="none" strike="noStrike" cap="none" normalizeH="0" baseline="0" dirty="0">
                    <a:ln>
                      <a:noFill/>
                    </a:ln>
                    <a:solidFill>
                      <a:srgbClr val="1F2329"/>
                    </a:solidFill>
                    <a:effectLst/>
                    <a:latin typeface="Arial" panose="020B0604020202020204" pitchFamily="34" charset="0"/>
                    <a:ea typeface="ui-sans-serif"/>
                  </a:rPr>
                  <a:t> 年后家庭 / 服务场景逐步渗透</a:t>
                </a:r>
                <a:r>
                  <a:rPr kumimoji="0" lang="zh-CN" altLang="zh-CN" sz="1000" b="0" i="0" u="none" strike="noStrike" cap="none" normalizeH="0" baseline="0" dirty="0">
                    <a:ln>
                      <a:noFill/>
                    </a:ln>
                    <a:solidFill>
                      <a:srgbClr val="1F2329"/>
                    </a:solidFill>
                    <a:effectLst/>
                    <a:latin typeface="Arial" panose="020B0604020202020204" pitchFamily="34" charset="0"/>
                    <a:ea typeface="ui-sans-serif"/>
                  </a:rPr>
                  <a:t>。</a:t>
                </a:r>
                <a:r>
                  <a:rPr kumimoji="0" lang="zh-CN" altLang="zh-CN" sz="200" b="0" i="0" u="none" strike="noStrike" cap="none" normalizeH="0" baseline="0" dirty="0">
                    <a:ln>
                      <a:noFill/>
                    </a:ln>
                    <a:solidFill>
                      <a:schemeClr val="tx1"/>
                    </a:solidFill>
                    <a:effectLst/>
                    <a:latin typeface="Arial" panose="020B0604020202020204" pitchFamily="34" charset="0"/>
                  </a:rPr>
                  <a:t> </a:t>
                </a:r>
                <a:endParaRPr kumimoji="0" lang="zh-CN" altLang="zh-CN" sz="1200" b="0" i="0" u="none" strike="noStrike" cap="none" normalizeH="0" baseline="0" dirty="0">
                  <a:ln>
                    <a:noFill/>
                  </a:ln>
                  <a:solidFill>
                    <a:schemeClr val="tx1"/>
                  </a:solidFill>
                  <a:effectLst/>
                  <a:latin typeface="Arial" panose="020B0604020202020204" pitchFamily="34" charset="0"/>
                </a:endParaRPr>
              </a:p>
            </p:txBody>
          </p:sp>
          <p:sp>
            <p:nvSpPr>
              <p:cNvPr id="20" name="3"/>
              <p:cNvSpPr/>
              <p:nvPr/>
            </p:nvSpPr>
            <p:spPr>
              <a:xfrm flipH="1">
                <a:off x="1458934" y="3108949"/>
                <a:ext cx="868960" cy="868960"/>
              </a:xfrm>
              <a:prstGeom prst="ellipse">
                <a:avLst/>
              </a:prstGeom>
              <a:gradFill flip="none" rotWithShape="1">
                <a:gsLst>
                  <a:gs pos="0">
                    <a:schemeClr val="accent2">
                      <a:lumMod val="60000"/>
                      <a:lumOff val="40000"/>
                    </a:schemeClr>
                  </a:gs>
                  <a:gs pos="100000">
                    <a:schemeClr val="accent1"/>
                  </a:gs>
                </a:gsLst>
                <a:lin ang="5400000" scaled="1"/>
                <a:tileRect/>
              </a:gradFill>
              <a:ln>
                <a:noFill/>
              </a:ln>
              <a:effectLst>
                <a:outerShdw blurRad="203200" dir="5400000" sx="90000" sy="-19000" rotWithShape="0">
                  <a:schemeClr val="accent1">
                    <a:lumMod val="60000"/>
                    <a:lumOff val="40000"/>
                    <a:alpha val="43000"/>
                  </a:schemeClr>
                </a:outerShdw>
              </a:effectLst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>
                <a:noAutofit/>
              </a:bodyPr>
              <a:lstStyle/>
              <a:p>
                <a:pPr algn="ctr"/>
                <a:endParaRPr lang="zh-CN" altLang="en-US" dirty="0">
                  <a:latin typeface="+mj-ea"/>
                  <a:ea typeface="+mj-ea"/>
                </a:endParaRPr>
              </a:p>
            </p:txBody>
          </p:sp>
          <p:sp>
            <p:nvSpPr>
              <p:cNvPr id="27" name="3"/>
              <p:cNvSpPr/>
              <p:nvPr/>
            </p:nvSpPr>
            <p:spPr>
              <a:xfrm flipH="1">
                <a:off x="1497024" y="3147039"/>
                <a:ext cx="792780" cy="792780"/>
              </a:xfrm>
              <a:prstGeom prst="ellipse">
                <a:avLst/>
              </a:prstGeom>
              <a:solidFill>
                <a:schemeClr val="bg1"/>
              </a:solidFill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>
                <a:noAutofit/>
              </a:bodyPr>
              <a:lstStyle/>
              <a:p>
                <a:pPr algn="ctr"/>
                <a:endParaRPr lang="zh-CN" altLang="en-US" dirty="0">
                  <a:latin typeface="+mj-ea"/>
                  <a:ea typeface="+mj-ea"/>
                </a:endParaRPr>
              </a:p>
            </p:txBody>
          </p:sp>
        </p:grpSp>
      </p:grpSp>
      <p:pic>
        <p:nvPicPr>
          <p:cNvPr id="52" name="图形 51"/>
          <p:cNvPicPr>
            <a:picLocks noChangeAspect="1"/>
          </p:cNvPicPr>
          <p:nvPr>
            <p:custDataLst>
              <p:tags r:id="rId9"/>
            </p:custDataLst>
          </p:nvPr>
        </p:nvPicPr>
        <p:blipFill>
          <a:blip r:embed="rId10">
            <a:extLst>
              <a:ext uri="{96DAC541-7B7A-43D3-8B79-37D633B846F1}">
                <asvg:svgBlip xmlns:asvg="http://schemas.microsoft.com/office/drawing/2016/SVG/main" r:embed="rId11"/>
              </a:ext>
            </a:extLst>
          </a:blip>
          <a:stretch>
            <a:fillRect/>
          </a:stretch>
        </p:blipFill>
        <p:spPr>
          <a:xfrm>
            <a:off x="5688079" y="4141165"/>
            <a:ext cx="558278" cy="558278"/>
          </a:xfrm>
          <a:prstGeom prst="rect">
            <a:avLst/>
          </a:prstGeom>
        </p:spPr>
      </p:pic>
      <p:sp>
        <p:nvSpPr>
          <p:cNvPr id="55" name="文本框 54"/>
          <p:cNvSpPr txBox="1"/>
          <p:nvPr/>
        </p:nvSpPr>
        <p:spPr>
          <a:xfrm>
            <a:off x="2215798" y="6535756"/>
            <a:ext cx="7760401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</a:pPr>
            <a:r>
              <a:rPr kumimoji="0" lang="zh-CN" altLang="en-US" sz="1200" b="1" i="0" u="none" strike="noStrike" cap="none" normalizeH="0" baseline="0" dirty="0">
                <a:ln>
                  <a:noFill/>
                </a:ln>
                <a:solidFill>
                  <a:srgbClr val="1F2329"/>
                </a:solidFill>
                <a:effectLst/>
                <a:latin typeface="Arial" panose="020B0604020202020204" pitchFamily="34" charset="0"/>
                <a:ea typeface="ui-sans-serif"/>
              </a:rPr>
              <a:t>资本与智力都快速聚集到该领域，硬件、软件、模型快速迭代，在</a:t>
            </a:r>
            <a:r>
              <a:rPr kumimoji="0" lang="en-US" altLang="zh-CN" sz="1200" b="1" i="0" u="none" strike="noStrike" cap="none" normalizeH="0" baseline="0" dirty="0">
                <a:ln>
                  <a:noFill/>
                </a:ln>
                <a:solidFill>
                  <a:srgbClr val="1F2329"/>
                </a:solidFill>
                <a:effectLst/>
                <a:latin typeface="Arial" panose="020B0604020202020204" pitchFamily="34" charset="0"/>
                <a:ea typeface="ui-sans-serif"/>
              </a:rPr>
              <a:t>3-5</a:t>
            </a:r>
            <a:r>
              <a:rPr kumimoji="0" lang="zh-CN" altLang="en-US" sz="1200" b="1" i="0" u="none" strike="noStrike" cap="none" normalizeH="0" baseline="0" dirty="0">
                <a:ln>
                  <a:noFill/>
                </a:ln>
                <a:solidFill>
                  <a:srgbClr val="1F2329"/>
                </a:solidFill>
                <a:effectLst/>
                <a:latin typeface="Arial" panose="020B0604020202020204" pitchFamily="34" charset="0"/>
                <a:ea typeface="ui-sans-serif"/>
              </a:rPr>
              <a:t>年内即将迎来具身智能的</a:t>
            </a:r>
            <a:r>
              <a:rPr kumimoji="0" lang="en-US" altLang="zh-CN" sz="1200" b="1" i="0" u="none" strike="noStrike" cap="none" normalizeH="0" baseline="0" dirty="0">
                <a:ln>
                  <a:noFill/>
                </a:ln>
                <a:solidFill>
                  <a:srgbClr val="1F2329"/>
                </a:solidFill>
                <a:effectLst/>
                <a:latin typeface="Arial" panose="020B0604020202020204" pitchFamily="34" charset="0"/>
                <a:ea typeface="ui-sans-serif"/>
              </a:rPr>
              <a:t>ChatGPT</a:t>
            </a:r>
            <a:r>
              <a:rPr kumimoji="0" lang="zh-CN" altLang="en-US" sz="1200" b="1" i="0" u="none" strike="noStrike" cap="none" normalizeH="0" baseline="0" dirty="0">
                <a:ln>
                  <a:noFill/>
                </a:ln>
                <a:solidFill>
                  <a:srgbClr val="1F2329"/>
                </a:solidFill>
                <a:effectLst/>
                <a:latin typeface="Arial" panose="020B0604020202020204" pitchFamily="34" charset="0"/>
                <a:ea typeface="ui-sans-serif"/>
              </a:rPr>
              <a:t>时刻！</a:t>
            </a:r>
            <a:endParaRPr kumimoji="0" lang="zh-CN" altLang="zh-CN" sz="1200" b="1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  <p:sp>
        <p:nvSpPr>
          <p:cNvPr id="4" name="文本框 3"/>
          <p:cNvSpPr txBox="1"/>
          <p:nvPr/>
        </p:nvSpPr>
        <p:spPr>
          <a:xfrm>
            <a:off x="5474675" y="3182140"/>
            <a:ext cx="1242648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CN" b="1" dirty="0"/>
              <a:t>AI+</a:t>
            </a:r>
            <a:r>
              <a:rPr lang="zh-CN" altLang="en-US" b="1" dirty="0"/>
              <a:t>机器人</a:t>
            </a:r>
            <a:endParaRPr lang="zh-CN" altLang="en-US" b="1" dirty="0"/>
          </a:p>
        </p:txBody>
      </p:sp>
      <p:pic>
        <p:nvPicPr>
          <p:cNvPr id="14" name="图形 13"/>
          <p:cNvPicPr>
            <a:picLocks noChangeAspect="1"/>
          </p:cNvPicPr>
          <p:nvPr>
            <p:custDataLst>
              <p:tags r:id="rId12"/>
            </p:custDataLst>
          </p:nvPr>
        </p:nvPicPr>
        <p:blipFill>
          <a:blip r:embed="rId13">
            <a:extLst>
              <a:ext uri="{96DAC541-7B7A-43D3-8B79-37D633B846F1}">
                <asvg:svgBlip xmlns:asvg="http://schemas.microsoft.com/office/drawing/2016/SVG/main" r:embed="rId14"/>
              </a:ext>
            </a:extLst>
          </a:blip>
          <a:stretch>
            <a:fillRect/>
          </a:stretch>
        </p:blipFill>
        <p:spPr>
          <a:xfrm>
            <a:off x="2272067" y="3502166"/>
            <a:ext cx="622065" cy="622065"/>
          </a:xfrm>
          <a:prstGeom prst="rect">
            <a:avLst/>
          </a:prstGeom>
        </p:spPr>
      </p:pic>
      <p:pic>
        <p:nvPicPr>
          <p:cNvPr id="22" name="图形 21"/>
          <p:cNvPicPr>
            <a:picLocks noChangeAspect="1"/>
          </p:cNvPicPr>
          <p:nvPr>
            <p:custDataLst>
              <p:tags r:id="rId15"/>
            </p:custDataLst>
          </p:nvPr>
        </p:nvPicPr>
        <p:blipFill>
          <a:blip r:embed="rId16">
            <a:extLst>
              <a:ext uri="{96DAC541-7B7A-43D3-8B79-37D633B846F1}">
                <asvg:svgBlip xmlns:asvg="http://schemas.microsoft.com/office/drawing/2016/SVG/main" r:embed="rId17"/>
              </a:ext>
            </a:extLst>
          </a:blip>
          <a:stretch>
            <a:fillRect/>
          </a:stretch>
        </p:blipFill>
        <p:spPr>
          <a:xfrm>
            <a:off x="9453900" y="3459831"/>
            <a:ext cx="575252" cy="575252"/>
          </a:xfrm>
          <a:prstGeom prst="rect">
            <a:avLst/>
          </a:prstGeom>
        </p:spPr>
      </p:pic>
    </p:spTree>
  </p:cSld>
  <p:clrMapOvr>
    <a:masterClrMapping/>
  </p:clrMapOvr>
</p:sld>
</file>

<file path=ppt/tags/tag1.xml><?xml version="1.0" encoding="utf-8"?>
<p:tagLst xmlns:p="http://schemas.openxmlformats.org/presentationml/2006/main">
  <p:tag name="KSO_WM_DIAGRAM_VIRTUALLY_FRAME" val="{&quot;height&quot;:340.4307086614173,&quot;left&quot;:134.87362204724408,&quot;top&quot;:99.78464566929134,&quot;width&quot;:687.2645669291338}"/>
</p:tagLst>
</file>

<file path=ppt/tags/tag2.xml><?xml version="1.0" encoding="utf-8"?>
<p:tagLst xmlns:p="http://schemas.openxmlformats.org/presentationml/2006/main">
  <p:tag name="KSO_WM_DIAGRAM_VIRTUALLY_FRAME" val="{&quot;height&quot;:340.4307086614173,&quot;left&quot;:134.87362204724408,&quot;top&quot;:99.78464566929134,&quot;width&quot;:687.2645669291338}"/>
</p:tagLst>
</file>

<file path=ppt/tags/tag3.xml><?xml version="1.0" encoding="utf-8"?>
<p:tagLst xmlns:p="http://schemas.openxmlformats.org/presentationml/2006/main">
  <p:tag name="KSO_WM_DIAGRAM_VIRTUALLY_FRAME" val="{&quot;height&quot;:340.4307086614173,&quot;left&quot;:134.87362204724408,&quot;top&quot;:99.78464566929134,&quot;width&quot;:687.2645669291338}"/>
</p:tagLst>
</file>

<file path=ppt/tags/tag4.xml><?xml version="1.0" encoding="utf-8"?>
<p:tagLst xmlns:p="http://schemas.openxmlformats.org/presentationml/2006/main">
  <p:tag name="KSO_WM_DIAGRAM_VIRTUALLY_FRAME" val="{&quot;height&quot;:340.4307086614173,&quot;left&quot;:134.87362204724408,&quot;top&quot;:99.78464566929134,&quot;width&quot;:687.2645669291338}"/>
</p:tagLst>
</file>

<file path=ppt/tags/tag5.xml><?xml version="1.0" encoding="utf-8"?>
<p:tagLst xmlns:p="http://schemas.openxmlformats.org/presentationml/2006/main">
  <p:tag name="KSO_WM_DIAGRAM_VIRTUALLY_FRAME" val="{&quot;height&quot;:340.4307086614173,&quot;left&quot;:134.87362204724408,&quot;top&quot;:99.78464566929134,&quot;width&quot;:687.2645669291338}"/>
</p:tagLst>
</file>

<file path=ppt/tags/tag6.xml><?xml version="1.0" encoding="utf-8"?>
<p:tagLst xmlns:p="http://schemas.openxmlformats.org/presentationml/2006/main">
  <p:tag name="KSO_WM_DIAGRAM_VIRTUALLY_FRAME" val="{&quot;height&quot;:340.4307086614173,&quot;left&quot;:134.87362204724408,&quot;top&quot;:99.78464566929134,&quot;width&quot;:687.2645669291338}"/>
</p:tagLst>
</file>

<file path=ppt/tags/tag7.xml><?xml version="1.0" encoding="utf-8"?>
<p:tagLst xmlns:p="http://schemas.openxmlformats.org/presentationml/2006/main">
  <p:tag name="KSO_WM_DIAGRAM_VIRTUALLY_FRAME" val="{&quot;height&quot;:340.4307086614173,&quot;left&quot;:134.87362204724408,&quot;top&quot;:99.78464566929134,&quot;width&quot;:687.2645669291338}"/>
</p:tagLst>
</file>

<file path=ppt/tags/tag8.xml><?xml version="1.0" encoding="utf-8"?>
<p:tagLst xmlns:p="http://schemas.openxmlformats.org/presentationml/2006/main">
  <p:tag name="KSO_WM_DIAGRAM_VIRTUALLY_FRAME" val="{&quot;height&quot;:340.4307086614173,&quot;left&quot;:134.87362204724408,&quot;top&quot;:99.78464566929134,&quot;width&quot;:687.2645669291338}"/>
</p:tagLst>
</file>

<file path=ppt/tags/tag9.xml><?xml version="1.0" encoding="utf-8"?>
<p:tagLst xmlns:p="http://schemas.openxmlformats.org/presentationml/2006/main">
  <p:tag name="KSO_WM_DIAGRAM_VERSION" val="3"/>
  <p:tag name="KSO_WM_DIAGRAM_COLOR_TRICK" val="1"/>
  <p:tag name="KSO_WM_DIAGRAM_COLOR_TEXT_CAN_REMOVE" val="n"/>
  <p:tag name="KSO_WM_UNIT_SUBTYPE" val="a"/>
  <p:tag name="KSO_WM_UNIT_NOCLEAR" val="0"/>
  <p:tag name="KSO_WM_UNIT_HIGHLIGHT" val="0"/>
  <p:tag name="KSO_WM_UNIT_COMPATIBLE" val="0"/>
  <p:tag name="KSO_WM_UNIT_DIAGRAM_ISNUMVISUAL" val="0"/>
  <p:tag name="KSO_WM_UNIT_DIAGRAM_ISREFERUNIT" val="0"/>
  <p:tag name="KSO_WM_DIAGRAM_GROUP_CODE" val="l1-1"/>
  <p:tag name="KSO_WM_UNIT_TYPE" val="l_h_f"/>
  <p:tag name="KSO_WM_UNIT_INDEX" val="1_1_1"/>
  <p:tag name="KSO_WM_UNIT_ID" val="diagram20231967_3*l_h_f*1_1_1"/>
  <p:tag name="KSO_WM_TEMPLATE_CATEGORY" val="diagram"/>
  <p:tag name="KSO_WM_TEMPLATE_INDEX" val="20231967"/>
  <p:tag name="KSO_WM_UNIT_LAYERLEVEL" val="1_1_1"/>
  <p:tag name="KSO_WM_TAG_VERSION" val="3.0"/>
  <p:tag name="KSO_WM_BEAUTIFY_FLAG" val="#wm#"/>
  <p:tag name="KSO_WM_UNIT_VALUE" val="88"/>
  <p:tag name="KSO_WM_DIAGRAM_MAX_ITEMCNT" val="4"/>
  <p:tag name="KSO_WM_DIAGRAM_MIN_ITEMCNT" val="2"/>
  <p:tag name="KSO_WM_DIAGRAM_VIRTUALLY_FRAME" val="{&quot;height&quot;:474.0255118110237,&quot;left&quot;:15.744287109375,&quot;top&quot;:73.64566929133858,&quot;width&quot;:748.6921695835388}"/>
  <p:tag name="KSO_WM_DIAGRAM_COLOR_MATCH_VALUE" val="{&quot;shape&quot;:{&quot;fill&quot;:{&quot;type&quot;:0},&quot;glow&quot;:{&quot;colorType&quot;:0},&quot;line&quot;:{&quot;type&quot;:0},&quot;shadow&quot;:{&quot;colorType&quot;:0},&quot;threeD&quot;:{&quot;curvedSurface&quot;:{&quot;brightness&quot;:0,&quot;colorType&quot;:2,&quot;rgb&quot;:&quot;#000000&quot;},&quot;depth&quot;:{&quot;colorType&quot;:0}}},&quot;text&quot;:{&quot;fill&quot;:{&quot;solid&quot;:{&quot;brightness&quot;:0.15000000596046448,&quot;colorType&quot;:1,&quot;foreColorIndex&quot;:13,&quot;transparency&quot;:0},&quot;type&quot;:1},&quot;glow&quot;:{&quot;colorType&quot;:0},&quot;line&quot;:{&quot;type&quot;:0},&quot;shadow&quot;:{&quot;colorType&quot;:0},&quot;threeD&quot;:{&quot;curvedSurface&quot;:{&quot;brightness&quot;:0,&quot;colorType&quot;:2,&quot;rgb&quot;:&quot;#000000&quot;},&quot;depth&quot;:{&quot;colorType&quot;:0}}}}"/>
  <p:tag name="KSO_WM_UNIT_TEXT_FILL_FORE_SCHEMECOLOR_INDEX" val="1"/>
  <p:tag name="KSO_WM_UNIT_TEXT_FILL_TYPE" val="1"/>
  <p:tag name="KSO_WM_UNIT_PRESET_TEXT" val="单击此处添加文本内容，简明扼要地阐述您的观点。根据需要增减文字，准确地理解您传达的思想。"/>
  <p:tag name="KSO_WM_UNIT_TEXT_TYPE" val="1"/>
  <p:tag name="KSO_WM_DIAGRAM_USE_COLOR_VALUE" val="{&quot;color_scheme&quot;:1,&quot;color_type&quot;:1,&quot;theme_color_indexes&quot;:[]}"/>
  <p:tag name="KSO_WM_UNIT_PLACING_PICTURE_USER_VIEWPORT" val="{&quot;height&quot;:971,&quot;width&quot;:11852}"/>
</p:tagLst>
</file>

<file path=ppt/tags/tag10.xml><?xml version="1.0" encoding="utf-8"?>
<p:tagLst xmlns:p="http://schemas.openxmlformats.org/presentationml/2006/main">
  <p:tag name="KSO_WM_DIAGRAM_VERSION" val="3"/>
  <p:tag name="KSO_WM_DIAGRAM_COLOR_TRICK" val="1"/>
  <p:tag name="KSO_WM_DIAGRAM_COLOR_TEXT_CAN_REMOVE" val="n"/>
  <p:tag name="KSO_WM_UNIT_ISCONTENTSTITLE" val="0"/>
  <p:tag name="KSO_WM_UNIT_ISNUMDGMTITLE" val="0"/>
  <p:tag name="KSO_WM_UNIT_NOCLEAR" val="0"/>
  <p:tag name="KSO_WM_UNIT_HIGHLIGHT" val="0"/>
  <p:tag name="KSO_WM_UNIT_COMPATIBLE" val="0"/>
  <p:tag name="KSO_WM_UNIT_DIAGRAM_ISNUMVISUAL" val="0"/>
  <p:tag name="KSO_WM_UNIT_DIAGRAM_ISREFERUNIT" val="0"/>
  <p:tag name="KSO_WM_DIAGRAM_GROUP_CODE" val="l1-1"/>
  <p:tag name="KSO_WM_UNIT_TYPE" val="l_h_a"/>
  <p:tag name="KSO_WM_UNIT_INDEX" val="1_1_1"/>
  <p:tag name="KSO_WM_UNIT_ID" val="diagram20231967_3*l_h_a*1_1_1"/>
  <p:tag name="KSO_WM_TEMPLATE_CATEGORY" val="diagram"/>
  <p:tag name="KSO_WM_TEMPLATE_INDEX" val="20231967"/>
  <p:tag name="KSO_WM_UNIT_LAYERLEVEL" val="1_1_1"/>
  <p:tag name="KSO_WM_TAG_VERSION" val="3.0"/>
  <p:tag name="KSO_WM_BEAUTIFY_FLAG" val="#wm#"/>
  <p:tag name="KSO_WM_DIAGRAM_MAX_ITEMCNT" val="4"/>
  <p:tag name="KSO_WM_DIAGRAM_MIN_ITEMCNT" val="2"/>
  <p:tag name="KSO_WM_DIAGRAM_VIRTUALLY_FRAME" val="{&quot;height&quot;:474.0255118110237,&quot;left&quot;:15.744287109375,&quot;top&quot;:73.64566929133858,&quot;width&quot;:748.6921695835388}"/>
  <p:tag name="KSO_WM_DIAGRAM_COLOR_MATCH_VALUE" val="{&quot;shape&quot;:{&quot;fill&quot;:{&quot;type&quot;:0},&quot;glow&quot;:{&quot;colorType&quot;:0},&quot;line&quot;:{&quot;type&quot;:0},&quot;shadow&quot;:{&quot;colorType&quot;:0},&quot;threeD&quot;:{&quot;curvedSurface&quot;:{&quot;brightness&quot;:0,&quot;colorType&quot;:2,&quot;rgb&quot;:&quot;#000000&quot;},&quot;depth&quot;:{&quot;colorType&quot;:0}}},&quot;text&quot;:{&quot;fill&quot;:{&quot;solid&quot;:{&quot;brightness&quot;:0,&quot;colorType&quot;:1,&quot;foreColorIndex&quot;:5,&quot;transparency&quot;:0},&quot;type&quot;:1},&quot;glow&quot;:{&quot;colorType&quot;:0},&quot;line&quot;:{&quot;type&quot;:0},&quot;shadow&quot;:{&quot;colorType&quot;:0},&quot;threeD&quot;:{&quot;curvedSurface&quot;:{&quot;brightness&quot;:0,&quot;colorType&quot;:2,&quot;rgb&quot;:&quot;#000000&quot;},&quot;depth&quot;:{&quot;colorType&quot;:0}}}}"/>
  <p:tag name="KSO_WM_UNIT_VALUE" val="39"/>
  <p:tag name="KSO_WM_UNIT_TEXT_FILL_FORE_SCHEMECOLOR_INDEX" val="1"/>
  <p:tag name="KSO_WM_UNIT_TEXT_FILL_TYPE" val="1"/>
  <p:tag name="KSO_WM_UNIT_PRESET_TEXT" val="单击此处添加标题"/>
  <p:tag name="KSO_WM_UNIT_TEXT_TYPE" val="1"/>
  <p:tag name="KSO_WM_DIAGRAM_USE_COLOR_VALUE" val="{&quot;color_scheme&quot;:1,&quot;color_type&quot;:1,&quot;theme_color_indexes&quot;:[]}"/>
  <p:tag name="KSO_WM_UNIT_PLACING_PICTURE_USER_VIEWPORT" val="{&quot;height&quot;:698,&quot;width&quot;:11840}"/>
</p:tagLst>
</file>

<file path=ppt/tags/tag11.xml><?xml version="1.0" encoding="utf-8"?>
<p:tagLst xmlns:p="http://schemas.openxmlformats.org/presentationml/2006/main">
  <p:tag name="KSO_WM_DIAGRAM_VERSION" val="3"/>
  <p:tag name="KSO_WM_DIAGRAM_COLOR_TRICK" val="1"/>
  <p:tag name="KSO_WM_DIAGRAM_COLOR_TEXT_CAN_REMOVE" val="n"/>
  <p:tag name="KSO_WM_UNIT_HIGHLIGHT" val="0"/>
  <p:tag name="KSO_WM_UNIT_COMPATIBLE" val="0"/>
  <p:tag name="KSO_WM_UNIT_DIAGRAM_ISNUMVISUAL" val="0"/>
  <p:tag name="KSO_WM_UNIT_DIAGRAM_ISREFERUNIT" val="0"/>
  <p:tag name="KSO_WM_DIAGRAM_GROUP_CODE" val="l1-1"/>
  <p:tag name="KSO_WM_UNIT_SUBTYPE" val="d"/>
  <p:tag name="KSO_WM_UNIT_TYPE" val="l_h_i"/>
  <p:tag name="KSO_WM_UNIT_INDEX" val="1_1_1"/>
  <p:tag name="KSO_WM_UNIT_ID" val="diagram20231967_3*l_h_i*1_1_1"/>
  <p:tag name="KSO_WM_TEMPLATE_CATEGORY" val="diagram"/>
  <p:tag name="KSO_WM_TEMPLATE_INDEX" val="20231967"/>
  <p:tag name="KSO_WM_UNIT_LAYERLEVEL" val="1_1_1"/>
  <p:tag name="KSO_WM_TAG_VERSION" val="3.0"/>
  <p:tag name="KSO_WM_BEAUTIFY_FLAG" val="#wm#"/>
  <p:tag name="KSO_WM_DIAGRAM_MAX_ITEMCNT" val="4"/>
  <p:tag name="KSO_WM_DIAGRAM_MIN_ITEMCNT" val="2"/>
  <p:tag name="KSO_WM_DIAGRAM_VIRTUALLY_FRAME" val="{&quot;height&quot;:474.0255118110237,&quot;left&quot;:15.744287109375,&quot;top&quot;:73.64566929133858,&quot;width&quot;:748.6921695835388}"/>
  <p:tag name="KSO_WM_DIAGRAM_COLOR_MATCH_VALUE" val="{&quot;shape&quot;:{&quot;fill&quot;:{&quot;solid&quot;:{&quot;brightness&quot;:0,&quot;colorType&quot;:1,&quot;foreColorIndex&quot;:5,&quot;transparency&quot;:0},&quot;type&quot;:1},&quot;glow&quot;:{&quot;colorType&quot;:0},&quot;line&quot;:{&quot;type&quot;:0},&quot;shadow&quot;:{&quot;colorType&quot;:0},&quot;threeD&quot;:{&quot;curvedSurface&quot;:{&quot;brightness&quot;:0,&quot;colorType&quot;:2,&quot;rgb&quot;:&quot;#000000&quot;},&quot;depth&quot;:{&quot;colorType&quot;:0}}},&quot;text&quot;:{&quot;fill&quot;:{&quot;solid&quot;:{&quot;brightness&quot;:0,&quot;colorType&quot;:1,&quot;foreColorIndex&quot;:2,&quot;transparency&quot;:0},&quot;type&quot;:1},&quot;glow&quot;:{&quot;colorType&quot;:0},&quot;line&quot;:{&quot;type&quot;:0},&quot;shadow&quot;:{&quot;colorType&quot;:0},&quot;threeD&quot;:{&quot;curvedSurface&quot;:{&quot;brightness&quot;:0,&quot;colorType&quot;:2,&quot;rgb&quot;:&quot;#000000&quot;},&quot;depth&quot;:{&quot;colorType&quot;:0}}}}"/>
  <p:tag name="KSO_WM_UNIT_FILL_TYPE" val="1"/>
  <p:tag name="KSO_WM_UNIT_FILL_FORE_SCHEMECOLOR_INDEX" val="5"/>
  <p:tag name="KSO_WM_UNIT_FILL_FORE_SCHEMECOLOR_INDEX_BRIGHTNESS" val="0"/>
  <p:tag name="KSO_WM_UNIT_TEXT_FILL_FORE_SCHEMECOLOR_INDEX" val="1"/>
  <p:tag name="KSO_WM_UNIT_TEXT_FILL_TYPE" val="1"/>
  <p:tag name="KSO_WM_DIAGRAM_USE_COLOR_VALUE" val="{&quot;color_scheme&quot;:1,&quot;color_type&quot;:1,&quot;theme_color_indexes&quot;:[]}"/>
  <p:tag name="KSO_WM_UNIT_PLACING_PICTURE_USER_VIEWPORT" val="{&quot;height&quot;:875.8820801965509,&quot;width&quot;:875.8820801965524}"/>
</p:tagLst>
</file>

<file path=ppt/tags/tag12.xml><?xml version="1.0" encoding="utf-8"?>
<p:tagLst xmlns:p="http://schemas.openxmlformats.org/presentationml/2006/main">
  <p:tag name="KSO_WM_DIAGRAM_VERSION" val="3"/>
  <p:tag name="KSO_WM_DIAGRAM_COLOR_TRICK" val="1"/>
  <p:tag name="KSO_WM_DIAGRAM_COLOR_TEXT_CAN_REMOVE" val="n"/>
  <p:tag name="KSO_WM_UNIT_SUBTYPE" val="a"/>
  <p:tag name="KSO_WM_UNIT_NOCLEAR" val="0"/>
  <p:tag name="KSO_WM_UNIT_HIGHLIGHT" val="0"/>
  <p:tag name="KSO_WM_UNIT_COMPATIBLE" val="0"/>
  <p:tag name="KSO_WM_UNIT_DIAGRAM_ISNUMVISUAL" val="0"/>
  <p:tag name="KSO_WM_UNIT_DIAGRAM_ISREFERUNIT" val="0"/>
  <p:tag name="KSO_WM_DIAGRAM_GROUP_CODE" val="l1-1"/>
  <p:tag name="KSO_WM_UNIT_TYPE" val="l_h_f"/>
  <p:tag name="KSO_WM_UNIT_INDEX" val="1_2_1"/>
  <p:tag name="KSO_WM_UNIT_ID" val="diagram20231967_3*l_h_f*1_2_1"/>
  <p:tag name="KSO_WM_TEMPLATE_CATEGORY" val="diagram"/>
  <p:tag name="KSO_WM_TEMPLATE_INDEX" val="20231967"/>
  <p:tag name="KSO_WM_UNIT_LAYERLEVEL" val="1_1_1"/>
  <p:tag name="KSO_WM_TAG_VERSION" val="3.0"/>
  <p:tag name="KSO_WM_BEAUTIFY_FLAG" val="#wm#"/>
  <p:tag name="KSO_WM_UNIT_VALUE" val="88"/>
  <p:tag name="KSO_WM_DIAGRAM_MAX_ITEMCNT" val="4"/>
  <p:tag name="KSO_WM_DIAGRAM_MIN_ITEMCNT" val="2"/>
  <p:tag name="KSO_WM_DIAGRAM_VIRTUALLY_FRAME" val="{&quot;height&quot;:474.0255118110237,&quot;left&quot;:15.744287109375,&quot;top&quot;:73.64566929133858,&quot;width&quot;:748.6921695835388}"/>
  <p:tag name="KSO_WM_DIAGRAM_COLOR_MATCH_VALUE" val="{&quot;shape&quot;:{&quot;fill&quot;:{&quot;type&quot;:0},&quot;glow&quot;:{&quot;colorType&quot;:0},&quot;line&quot;:{&quot;type&quot;:0},&quot;shadow&quot;:{&quot;colorType&quot;:0},&quot;threeD&quot;:{&quot;curvedSurface&quot;:{&quot;brightness&quot;:0,&quot;colorType&quot;:2,&quot;rgb&quot;:&quot;#000000&quot;},&quot;depth&quot;:{&quot;colorType&quot;:0}}},&quot;text&quot;:{&quot;fill&quot;:{&quot;solid&quot;:{&quot;brightness&quot;:0.15000000596046448,&quot;colorType&quot;:1,&quot;foreColorIndex&quot;:13,&quot;transparency&quot;:0},&quot;type&quot;:1},&quot;glow&quot;:{&quot;colorType&quot;:0},&quot;line&quot;:{&quot;type&quot;:0},&quot;shadow&quot;:{&quot;colorType&quot;:0},&quot;threeD&quot;:{&quot;curvedSurface&quot;:{&quot;brightness&quot;:0,&quot;colorType&quot;:2,&quot;rgb&quot;:&quot;#000000&quot;},&quot;depth&quot;:{&quot;colorType&quot;:0}}}}"/>
  <p:tag name="KSO_WM_UNIT_TEXT_FILL_FORE_SCHEMECOLOR_INDEX" val="1"/>
  <p:tag name="KSO_WM_UNIT_TEXT_FILL_TYPE" val="1"/>
  <p:tag name="KSO_WM_UNIT_PRESET_TEXT" val="单击此处添加文本内容，简明扼要地阐述您的观点。根据需要增减文字，准确地理解您传达的思想。"/>
  <p:tag name="KSO_WM_UNIT_TEXT_TYPE" val="1"/>
  <p:tag name="KSO_WM_DIAGRAM_USE_COLOR_VALUE" val="{&quot;color_scheme&quot;:1,&quot;color_type&quot;:1,&quot;theme_color_indexes&quot;:[]}"/>
  <p:tag name="KSO_WM_UNIT_PLACING_PICTURE_USER_VIEWPORT" val="{&quot;height&quot;:971,&quot;width&quot;:11840}"/>
</p:tagLst>
</file>

<file path=ppt/tags/tag13.xml><?xml version="1.0" encoding="utf-8"?>
<p:tagLst xmlns:p="http://schemas.openxmlformats.org/presentationml/2006/main">
  <p:tag name="KSO_WM_DIAGRAM_VERSION" val="3"/>
  <p:tag name="KSO_WM_DIAGRAM_COLOR_TRICK" val="1"/>
  <p:tag name="KSO_WM_DIAGRAM_COLOR_TEXT_CAN_REMOVE" val="n"/>
  <p:tag name="KSO_WM_UNIT_ISCONTENTSTITLE" val="0"/>
  <p:tag name="KSO_WM_UNIT_ISNUMDGMTITLE" val="0"/>
  <p:tag name="KSO_WM_UNIT_NOCLEAR" val="0"/>
  <p:tag name="KSO_WM_UNIT_HIGHLIGHT" val="0"/>
  <p:tag name="KSO_WM_UNIT_COMPATIBLE" val="0"/>
  <p:tag name="KSO_WM_UNIT_DIAGRAM_ISNUMVISUAL" val="0"/>
  <p:tag name="KSO_WM_UNIT_DIAGRAM_ISREFERUNIT" val="0"/>
  <p:tag name="KSO_WM_DIAGRAM_GROUP_CODE" val="l1-1"/>
  <p:tag name="KSO_WM_UNIT_TYPE" val="l_h_a"/>
  <p:tag name="KSO_WM_UNIT_INDEX" val="1_2_1"/>
  <p:tag name="KSO_WM_UNIT_ID" val="diagram20231967_3*l_h_a*1_2_1"/>
  <p:tag name="KSO_WM_TEMPLATE_CATEGORY" val="diagram"/>
  <p:tag name="KSO_WM_TEMPLATE_INDEX" val="20231967"/>
  <p:tag name="KSO_WM_UNIT_LAYERLEVEL" val="1_1_1"/>
  <p:tag name="KSO_WM_TAG_VERSION" val="3.0"/>
  <p:tag name="KSO_WM_BEAUTIFY_FLAG" val="#wm#"/>
  <p:tag name="KSO_WM_DIAGRAM_MAX_ITEMCNT" val="4"/>
  <p:tag name="KSO_WM_DIAGRAM_MIN_ITEMCNT" val="2"/>
  <p:tag name="KSO_WM_DIAGRAM_VIRTUALLY_FRAME" val="{&quot;height&quot;:474.0255118110237,&quot;left&quot;:15.744287109375,&quot;top&quot;:73.64566929133858,&quot;width&quot;:748.6921695835388}"/>
  <p:tag name="KSO_WM_DIAGRAM_COLOR_MATCH_VALUE" val="{&quot;shape&quot;:{&quot;fill&quot;:{&quot;type&quot;:0},&quot;glow&quot;:{&quot;colorType&quot;:0},&quot;line&quot;:{&quot;type&quot;:0},&quot;shadow&quot;:{&quot;colorType&quot;:0},&quot;threeD&quot;:{&quot;curvedSurface&quot;:{&quot;brightness&quot;:0,&quot;colorType&quot;:2,&quot;rgb&quot;:&quot;#000000&quot;},&quot;depth&quot;:{&quot;colorType&quot;:0}}},&quot;text&quot;:{&quot;fill&quot;:{&quot;solid&quot;:{&quot;brightness&quot;:0,&quot;colorType&quot;:1,&quot;foreColorIndex&quot;:5,&quot;transparency&quot;:0},&quot;type&quot;:1},&quot;glow&quot;:{&quot;colorType&quot;:0},&quot;line&quot;:{&quot;type&quot;:0},&quot;shadow&quot;:{&quot;colorType&quot;:0},&quot;threeD&quot;:{&quot;curvedSurface&quot;:{&quot;brightness&quot;:0,&quot;colorType&quot;:2,&quot;rgb&quot;:&quot;#000000&quot;},&quot;depth&quot;:{&quot;colorType&quot;:0}}}}"/>
  <p:tag name="KSO_WM_UNIT_TEXT_FILL_FORE_SCHEMECOLOR_INDEX" val="1"/>
  <p:tag name="KSO_WM_UNIT_TEXT_FILL_TYPE" val="1"/>
  <p:tag name="KSO_WM_UNIT_PRESET_TEXT" val="单击此处添加标题"/>
  <p:tag name="KSO_WM_UNIT_TEXT_TYPE" val="1"/>
  <p:tag name="KSO_WM_DIAGRAM_USE_COLOR_VALUE" val="{&quot;color_scheme&quot;:1,&quot;color_type&quot;:1,&quot;theme_color_indexes&quot;:[]}"/>
  <p:tag name="KSO_WM_UNIT_PLACING_PICTURE_USER_VIEWPORT" val="{&quot;height&quot;:698,&quot;width&quot;:11840}"/>
</p:tagLst>
</file>

<file path=ppt/tags/tag14.xml><?xml version="1.0" encoding="utf-8"?>
<p:tagLst xmlns:p="http://schemas.openxmlformats.org/presentationml/2006/main">
  <p:tag name="KSO_WM_DIAGRAM_VERSION" val="3"/>
  <p:tag name="KSO_WM_DIAGRAM_COLOR_TRICK" val="1"/>
  <p:tag name="KSO_WM_DIAGRAM_COLOR_TEXT_CAN_REMOVE" val="n"/>
  <p:tag name="KSO_WM_UNIT_HIGHLIGHT" val="0"/>
  <p:tag name="KSO_WM_UNIT_COMPATIBLE" val="0"/>
  <p:tag name="KSO_WM_UNIT_DIAGRAM_ISNUMVISUAL" val="0"/>
  <p:tag name="KSO_WM_UNIT_DIAGRAM_ISREFERUNIT" val="0"/>
  <p:tag name="KSO_WM_DIAGRAM_GROUP_CODE" val="l1-1"/>
  <p:tag name="KSO_WM_UNIT_SUBTYPE" val="d"/>
  <p:tag name="KSO_WM_UNIT_TYPE" val="l_h_i"/>
  <p:tag name="KSO_WM_UNIT_INDEX" val="1_2_1"/>
  <p:tag name="KSO_WM_UNIT_ID" val="diagram20231967_3*l_h_i*1_2_1"/>
  <p:tag name="KSO_WM_TEMPLATE_CATEGORY" val="diagram"/>
  <p:tag name="KSO_WM_TEMPLATE_INDEX" val="20231967"/>
  <p:tag name="KSO_WM_UNIT_LAYERLEVEL" val="1_1_1"/>
  <p:tag name="KSO_WM_TAG_VERSION" val="3.0"/>
  <p:tag name="KSO_WM_BEAUTIFY_FLAG" val="#wm#"/>
  <p:tag name="KSO_WM_DIAGRAM_MAX_ITEMCNT" val="4"/>
  <p:tag name="KSO_WM_DIAGRAM_MIN_ITEMCNT" val="2"/>
  <p:tag name="KSO_WM_DIAGRAM_VIRTUALLY_FRAME" val="{&quot;height&quot;:474.0255118110237,&quot;left&quot;:15.744287109375,&quot;top&quot;:73.64566929133858,&quot;width&quot;:748.6921695835388}"/>
  <p:tag name="KSO_WM_DIAGRAM_COLOR_MATCH_VALUE" val="{&quot;shape&quot;:{&quot;fill&quot;:{&quot;solid&quot;:{&quot;brightness&quot;:0,&quot;colorType&quot;:1,&quot;foreColorIndex&quot;:5,&quot;transparency&quot;:0},&quot;type&quot;:1},&quot;glow&quot;:{&quot;colorType&quot;:0},&quot;line&quot;:{&quot;type&quot;:0},&quot;shadow&quot;:{&quot;colorType&quot;:0},&quot;threeD&quot;:{&quot;curvedSurface&quot;:{&quot;brightness&quot;:0,&quot;colorType&quot;:2,&quot;rgb&quot;:&quot;#000000&quot;},&quot;depth&quot;:{&quot;colorType&quot;:0}}},&quot;text&quot;:{&quot;fill&quot;:{&quot;solid&quot;:{&quot;brightness&quot;:0,&quot;colorType&quot;:1,&quot;foreColorIndex&quot;:2,&quot;transparency&quot;:0},&quot;type&quot;:1},&quot;glow&quot;:{&quot;colorType&quot;:0},&quot;line&quot;:{&quot;type&quot;:0},&quot;shadow&quot;:{&quot;colorType&quot;:0},&quot;threeD&quot;:{&quot;curvedSurface&quot;:{&quot;brightness&quot;:0,&quot;colorType&quot;:2,&quot;rgb&quot;:&quot;#000000&quot;},&quot;depth&quot;:{&quot;colorType&quot;:0}}}}"/>
  <p:tag name="KSO_WM_UNIT_FILL_TYPE" val="1"/>
  <p:tag name="KSO_WM_UNIT_FILL_FORE_SCHEMECOLOR_INDEX" val="5"/>
  <p:tag name="KSO_WM_UNIT_FILL_FORE_SCHEMECOLOR_INDEX_BRIGHTNESS" val="0"/>
  <p:tag name="KSO_WM_UNIT_TEXT_FILL_FORE_SCHEMECOLOR_INDEX" val="1"/>
  <p:tag name="KSO_WM_UNIT_TEXT_FILL_TYPE" val="1"/>
  <p:tag name="KSO_WM_DIAGRAM_USE_COLOR_VALUE" val="{&quot;color_scheme&quot;:1,&quot;color_type&quot;:1,&quot;theme_color_indexes&quot;:[]}"/>
  <p:tag name="KSO_WM_UNIT_PLACING_PICTURE_USER_VIEWPORT" val="{&quot;height&quot;:875.8820801965509,&quot;width&quot;:875.8820801965524}"/>
</p:tagLst>
</file>

<file path=ppt/tags/tag15.xml><?xml version="1.0" encoding="utf-8"?>
<p:tagLst xmlns:p="http://schemas.openxmlformats.org/presentationml/2006/main">
  <p:tag name="KSO_WM_DIAGRAM_VERSION" val="3"/>
  <p:tag name="KSO_WM_DIAGRAM_COLOR_TRICK" val="1"/>
  <p:tag name="KSO_WM_DIAGRAM_COLOR_TEXT_CAN_REMOVE" val="n"/>
  <p:tag name="KSO_WM_UNIT_HIGHLIGHT" val="0"/>
  <p:tag name="KSO_WM_UNIT_COMPATIBLE" val="0"/>
  <p:tag name="KSO_WM_UNIT_DIAGRAM_ISNUMVISUAL" val="0"/>
  <p:tag name="KSO_WM_UNIT_DIAGRAM_ISREFERUNIT" val="0"/>
  <p:tag name="KSO_WM_DIAGRAM_GROUP_CODE" val="l1-1"/>
  <p:tag name="KSO_WM_UNIT_SUBTYPE" val="d"/>
  <p:tag name="KSO_WM_UNIT_TYPE" val="l_h_i"/>
  <p:tag name="KSO_WM_UNIT_INDEX" val="1_3_1"/>
  <p:tag name="KSO_WM_UNIT_ID" val="diagram20231967_3*l_h_i*1_3_1"/>
  <p:tag name="KSO_WM_TEMPLATE_CATEGORY" val="diagram"/>
  <p:tag name="KSO_WM_TEMPLATE_INDEX" val="20231967"/>
  <p:tag name="KSO_WM_UNIT_LAYERLEVEL" val="1_1_1"/>
  <p:tag name="KSO_WM_TAG_VERSION" val="3.0"/>
  <p:tag name="KSO_WM_BEAUTIFY_FLAG" val="#wm#"/>
  <p:tag name="KSO_WM_DIAGRAM_MAX_ITEMCNT" val="4"/>
  <p:tag name="KSO_WM_DIAGRAM_MIN_ITEMCNT" val="2"/>
  <p:tag name="KSO_WM_DIAGRAM_VIRTUALLY_FRAME" val="{&quot;height&quot;:474.0255118110237,&quot;left&quot;:15.744287109375,&quot;top&quot;:73.64566929133858,&quot;width&quot;:748.6921695835388}"/>
  <p:tag name="KSO_WM_DIAGRAM_COLOR_MATCH_VALUE" val="{&quot;shape&quot;:{&quot;fill&quot;:{&quot;solid&quot;:{&quot;brightness&quot;:0,&quot;colorType&quot;:1,&quot;foreColorIndex&quot;:5,&quot;transparency&quot;:0},&quot;type&quot;:1},&quot;glow&quot;:{&quot;colorType&quot;:0},&quot;line&quot;:{&quot;type&quot;:0},&quot;shadow&quot;:{&quot;colorType&quot;:0},&quot;threeD&quot;:{&quot;curvedSurface&quot;:{&quot;brightness&quot;:0,&quot;colorType&quot;:2,&quot;rgb&quot;:&quot;#000000&quot;},&quot;depth&quot;:{&quot;colorType&quot;:0}}},&quot;text&quot;:{&quot;fill&quot;:{&quot;solid&quot;:{&quot;brightness&quot;:0,&quot;colorType&quot;:1,&quot;foreColorIndex&quot;:2,&quot;transparency&quot;:0},&quot;type&quot;:1},&quot;glow&quot;:{&quot;colorType&quot;:0},&quot;line&quot;:{&quot;type&quot;:0},&quot;shadow&quot;:{&quot;colorType&quot;:0},&quot;threeD&quot;:{&quot;curvedSurface&quot;:{&quot;brightness&quot;:0,&quot;colorType&quot;:2,&quot;rgb&quot;:&quot;#000000&quot;},&quot;depth&quot;:{&quot;colorType&quot;:0}}}}"/>
  <p:tag name="KSO_WM_UNIT_FILL_TYPE" val="1"/>
  <p:tag name="KSO_WM_UNIT_FILL_FORE_SCHEMECOLOR_INDEX" val="5"/>
  <p:tag name="KSO_WM_UNIT_FILL_FORE_SCHEMECOLOR_INDEX_BRIGHTNESS" val="0"/>
  <p:tag name="KSO_WM_UNIT_TEXT_FILL_FORE_SCHEMECOLOR_INDEX" val="1"/>
  <p:tag name="KSO_WM_UNIT_TEXT_FILL_TYPE" val="1"/>
  <p:tag name="KSO_WM_DIAGRAM_USE_COLOR_VALUE" val="{&quot;color_scheme&quot;:1,&quot;color_type&quot;:1,&quot;theme_color_indexes&quot;:[]}"/>
</p:tagLst>
</file>

<file path=ppt/tags/tag16.xml><?xml version="1.0" encoding="utf-8"?>
<p:tagLst xmlns:p="http://schemas.openxmlformats.org/presentationml/2006/main">
  <p:tag name="KSO_WM_DIAGRAM_VERSION" val="3"/>
  <p:tag name="KSO_WM_DIAGRAM_COLOR_TRICK" val="1"/>
  <p:tag name="KSO_WM_DIAGRAM_COLOR_TEXT_CAN_REMOVE" val="n"/>
  <p:tag name="KSO_WM_UNIT_SUBTYPE" val="a"/>
  <p:tag name="KSO_WM_UNIT_NOCLEAR" val="0"/>
  <p:tag name="KSO_WM_UNIT_HIGHLIGHT" val="0"/>
  <p:tag name="KSO_WM_UNIT_COMPATIBLE" val="0"/>
  <p:tag name="KSO_WM_UNIT_DIAGRAM_ISNUMVISUAL" val="0"/>
  <p:tag name="KSO_WM_UNIT_DIAGRAM_ISREFERUNIT" val="0"/>
  <p:tag name="KSO_WM_DIAGRAM_GROUP_CODE" val="l1-1"/>
  <p:tag name="KSO_WM_UNIT_TYPE" val="l_h_f"/>
  <p:tag name="KSO_WM_UNIT_INDEX" val="1_4_1"/>
  <p:tag name="KSO_WM_UNIT_ID" val="diagram20231967_3*l_h_f*1_4_1"/>
  <p:tag name="KSO_WM_TEMPLATE_CATEGORY" val="diagram"/>
  <p:tag name="KSO_WM_TEMPLATE_INDEX" val="20231967"/>
  <p:tag name="KSO_WM_UNIT_LAYERLEVEL" val="1_1_1"/>
  <p:tag name="KSO_WM_TAG_VERSION" val="3.0"/>
  <p:tag name="KSO_WM_BEAUTIFY_FLAG" val="#wm#"/>
  <p:tag name="KSO_WM_UNIT_VALUE" val="88"/>
  <p:tag name="KSO_WM_DIAGRAM_MAX_ITEMCNT" val="4"/>
  <p:tag name="KSO_WM_DIAGRAM_MIN_ITEMCNT" val="2"/>
  <p:tag name="KSO_WM_DIAGRAM_VIRTUALLY_FRAME" val="{&quot;height&quot;:474.0255118110237,&quot;left&quot;:15.744287109375,&quot;top&quot;:73.64566929133858,&quot;width&quot;:748.6921695835388}"/>
  <p:tag name="KSO_WM_DIAGRAM_COLOR_MATCH_VALUE" val="{&quot;shape&quot;:{&quot;fill&quot;:{&quot;type&quot;:0},&quot;glow&quot;:{&quot;colorType&quot;:0},&quot;line&quot;:{&quot;type&quot;:0},&quot;shadow&quot;:{&quot;colorType&quot;:0},&quot;threeD&quot;:{&quot;curvedSurface&quot;:{&quot;brightness&quot;:0,&quot;colorType&quot;:2,&quot;rgb&quot;:&quot;#000000&quot;},&quot;depth&quot;:{&quot;colorType&quot;:0}}},&quot;text&quot;:{&quot;fill&quot;:{&quot;solid&quot;:{&quot;brightness&quot;:0.15000000596046448,&quot;colorType&quot;:1,&quot;foreColorIndex&quot;:13,&quot;transparency&quot;:0},&quot;type&quot;:1},&quot;glow&quot;:{&quot;colorType&quot;:0},&quot;line&quot;:{&quot;type&quot;:0},&quot;shadow&quot;:{&quot;colorType&quot;:0},&quot;threeD&quot;:{&quot;curvedSurface&quot;:{&quot;brightness&quot;:0,&quot;colorType&quot;:2,&quot;rgb&quot;:&quot;#000000&quot;},&quot;depth&quot;:{&quot;colorType&quot;:0}}}}"/>
  <p:tag name="KSO_WM_UNIT_TEXT_FILL_FORE_SCHEMECOLOR_INDEX" val="1"/>
  <p:tag name="KSO_WM_UNIT_TEXT_FILL_TYPE" val="1"/>
  <p:tag name="KSO_WM_UNIT_PRESET_TEXT" val="单击此处添加文本内容，简明扼要地阐述您的观点。根据需要增减文字，准确地理解您传达的思想。"/>
  <p:tag name="KSO_WM_UNIT_TEXT_TYPE" val="1"/>
  <p:tag name="KSO_WM_DIAGRAM_USE_COLOR_VALUE" val="{&quot;color_scheme&quot;:1,&quot;color_type&quot;:1,&quot;theme_color_indexes&quot;:[]}"/>
</p:tagLst>
</file>

<file path=ppt/tags/tag17.xml><?xml version="1.0" encoding="utf-8"?>
<p:tagLst xmlns:p="http://schemas.openxmlformats.org/presentationml/2006/main">
  <p:tag name="KSO_WM_DIAGRAM_VERSION" val="3"/>
  <p:tag name="KSO_WM_DIAGRAM_COLOR_TRICK" val="1"/>
  <p:tag name="KSO_WM_DIAGRAM_COLOR_TEXT_CAN_REMOVE" val="n"/>
  <p:tag name="KSO_WM_UNIT_ISCONTENTSTITLE" val="0"/>
  <p:tag name="KSO_WM_UNIT_ISNUMDGMTITLE" val="0"/>
  <p:tag name="KSO_WM_UNIT_NOCLEAR" val="0"/>
  <p:tag name="KSO_WM_UNIT_HIGHLIGHT" val="0"/>
  <p:tag name="KSO_WM_UNIT_COMPATIBLE" val="0"/>
  <p:tag name="KSO_WM_UNIT_DIAGRAM_ISNUMVISUAL" val="0"/>
  <p:tag name="KSO_WM_UNIT_DIAGRAM_ISREFERUNIT" val="0"/>
  <p:tag name="KSO_WM_DIAGRAM_GROUP_CODE" val="l1-1"/>
  <p:tag name="KSO_WM_UNIT_TYPE" val="l_h_a"/>
  <p:tag name="KSO_WM_UNIT_INDEX" val="1_4_1"/>
  <p:tag name="KSO_WM_UNIT_ID" val="diagram20231967_3*l_h_a*1_4_1"/>
  <p:tag name="KSO_WM_TEMPLATE_CATEGORY" val="diagram"/>
  <p:tag name="KSO_WM_TEMPLATE_INDEX" val="20231967"/>
  <p:tag name="KSO_WM_UNIT_LAYERLEVEL" val="1_1_1"/>
  <p:tag name="KSO_WM_TAG_VERSION" val="3.0"/>
  <p:tag name="KSO_WM_BEAUTIFY_FLAG" val="#wm#"/>
  <p:tag name="KSO_WM_DIAGRAM_MAX_ITEMCNT" val="4"/>
  <p:tag name="KSO_WM_DIAGRAM_MIN_ITEMCNT" val="2"/>
  <p:tag name="KSO_WM_DIAGRAM_VIRTUALLY_FRAME" val="{&quot;height&quot;:474.0255118110237,&quot;left&quot;:15.744287109375,&quot;top&quot;:73.64566929133858,&quot;width&quot;:748.6921695835388}"/>
  <p:tag name="KSO_WM_DIAGRAM_COLOR_MATCH_VALUE" val="{&quot;shape&quot;:{&quot;fill&quot;:{&quot;type&quot;:0},&quot;glow&quot;:{&quot;colorType&quot;:0},&quot;line&quot;:{&quot;type&quot;:0},&quot;shadow&quot;:{&quot;colorType&quot;:0},&quot;threeD&quot;:{&quot;curvedSurface&quot;:{&quot;brightness&quot;:0,&quot;colorType&quot;:2,&quot;rgb&quot;:&quot;#000000&quot;},&quot;depth&quot;:{&quot;colorType&quot;:0}}},&quot;text&quot;:{&quot;fill&quot;:{&quot;solid&quot;:{&quot;brightness&quot;:0,&quot;colorType&quot;:1,&quot;foreColorIndex&quot;:5,&quot;transparency&quot;:0},&quot;type&quot;:1},&quot;glow&quot;:{&quot;colorType&quot;:0},&quot;line&quot;:{&quot;type&quot;:0},&quot;shadow&quot;:{&quot;colorType&quot;:0},&quot;threeD&quot;:{&quot;curvedSurface&quot;:{&quot;brightness&quot;:0,&quot;colorType&quot;:2,&quot;rgb&quot;:&quot;#000000&quot;},&quot;depth&quot;:{&quot;colorType&quot;:0}}}}"/>
  <p:tag name="KSO_WM_UNIT_TEXT_FILL_FORE_SCHEMECOLOR_INDEX" val="1"/>
  <p:tag name="KSO_WM_UNIT_TEXT_FILL_TYPE" val="1"/>
  <p:tag name="KSO_WM_UNIT_PRESET_TEXT" val="单击此处添加标题"/>
  <p:tag name="KSO_WM_UNIT_TEXT_TYPE" val="1"/>
  <p:tag name="KSO_WM_DIAGRAM_USE_COLOR_VALUE" val="{&quot;color_scheme&quot;:1,&quot;color_type&quot;:1,&quot;theme_color_indexes&quot;:[]}"/>
</p:tagLst>
</file>

<file path=ppt/tags/tag18.xml><?xml version="1.0" encoding="utf-8"?>
<p:tagLst xmlns:p="http://schemas.openxmlformats.org/presentationml/2006/main">
  <p:tag name="KSO_WM_DIAGRAM_VIRTUALLY_FRAME" val="{&quot;height&quot;:487.2,&quot;left&quot;:-65.85,&quot;top&quot;:39.7,&quot;width&quot;:1050.0216522216797}"/>
  <p:tag name="KSO_WM_UNIT_VALUE" val="761*1354"/>
  <p:tag name="KSO_WM_UNIT_HIGHLIGHT" val="0"/>
  <p:tag name="KSO_WM_UNIT_DIAGRAM_ISNUMVISUAL" val="0"/>
  <p:tag name="KSO_WM_UNIT_DIAGRAM_ISREFERUNIT" val="0"/>
  <p:tag name="KSO_WM_UNIT_TYPE" val="d"/>
  <p:tag name="KSO_WM_UNIT_INDEX" val="1"/>
  <p:tag name="KSO_WM_UNIT_ID" val="diagram20211919_1*d*1"/>
  <p:tag name="KSO_WM_TEMPLATE_CATEGORY" val="diagram"/>
  <p:tag name="KSO_WM_TEMPLATE_INDEX" val="20211919"/>
  <p:tag name="KSO_WM_UNIT_LAYERLEVEL" val="1"/>
  <p:tag name="KSO_WM_TAG_VERSION" val="1.0"/>
  <p:tag name="KSO_WM_BEAUTIFY_FLAG" val="#wm#"/>
  <p:tag name="KSO_WM_CHIP_GROUPID" val="5e7310da9a230a26b9e88a19"/>
  <p:tag name="KSO_WM_CHIP_XID" val="5e7310da9a230a26b9e88a1a"/>
  <p:tag name="KSO_WM_UNIT_DEC_AREA_ID" val="4039ffacf8a04f7a9fe95474914dc708"/>
  <p:tag name="KSO_WM_UNIT_DECORATE_INFO" val="{&quot;ReferentInfo&quot;:{&quot;Id&quot;:&quot;slide&quot;,&quot;X&quot;:{&quot;Pos&quot;:0},&quot;Y&quot;:{&quot;Pos&quot;:0}},&quot;DecorateInfoX&quot;:{&quot;Pos&quot;:0,&quot;IsAbs&quot;:false},&quot;DecorateInfoY&quot;:{&quot;Pos&quot;:0,&quot;IsAbs&quot;:false},&quot;DecorateInfoW&quot;:{&quot;IsAbs&quot;:false},&quot;DecorateInfoH&quot;:{&quot;IsAbs&quot;:false},&quot;whChangeMode&quot;:0}"/>
  <p:tag name="KSO_WM_UNIT_SM_LIMIT_TYPE" val="2"/>
  <p:tag name="KSO_WM_CHIP_FILLAREA_FILL_RULE" val="{&quot;fill_align&quot;:&quot;lm&quot;,&quot;fill_mode&quot;:&quot;full&quot;,&quot;sacle_strategy&quot;:&quot;smart&quot;}"/>
  <p:tag name="KSO_WM_ASSEMBLE_CHIP_INDEX" val="b46a5ded9f054d938f178f453e75bfee"/>
  <p:tag name="KSO_WM_UNIT_PLACING_PICTURE" val="b46a5ded9f054d938f178f453e75bfee"/>
  <p:tag name="KSO_WM_UNIT_SUPPORT_UNIT_TYPE" val="[&quot;d&quot;,&quot;α&quot;,&quot;β&quot;]"/>
  <p:tag name="KSO_WM_TEMPLATE_ASSEMBLE_XID" val="60656f194054ed1e2fb8037c"/>
  <p:tag name="KSO_WM_TEMPLATE_ASSEMBLE_GROUPID" val="60656f194054ed1e2fb8037c"/>
  <p:tag name="KSO_WM_UNIT_PLACING_PICTURE_USER_VIEWPORT" val="{&quot;height&quot;:2748.151181102362,&quot;width&quot;:5031.615748031496}"/>
  <p:tag name="KSO_WM_UNIT_PLACING_PICTURE_INFO" val="{&quot;code&quot;:&quot;&quot;,&quot;full_picture&quot;:false,&quot;margin&quot;:{&quot;left&quot;:16.589721861882026,&quot;right&quot;:16.83245364431673},&quot;scheme&quot;:&quot;2-0&quot;,&quot;spacing&quot;:5}"/>
  <p:tag name="KSO_WM_UNIT_PLACING_PICTURE_USER_VIEWPORT_SMARTMENU" val="{&quot;height&quot;:2748.150808619432,&quot;width&quot;:5031.616304329149}"/>
  <p:tag name="KSO_WM_UNIT_PLACING_PICTURE_USER_RELATIVERECTANGLE_SMARTMENU" val="{&quot;bottom&quot;:0.012342370579141566,&quot;left&quot;:0,&quot;right&quot;:0,&quot;top&quot;:0.012342370579141566}"/>
</p:tagLst>
</file>

<file path=ppt/tags/tag19.xml><?xml version="1.0" encoding="utf-8"?>
<p:tagLst xmlns:p="http://schemas.openxmlformats.org/presentationml/2006/main">
  <p:tag name="KSO_WM_DIAGRAM_VERSION" val="3"/>
  <p:tag name="KSO_WM_DIAGRAM_COLOR_TRICK" val="1"/>
  <p:tag name="KSO_WM_DIAGRAM_COLOR_TEXT_CAN_REMOVE" val="n"/>
  <p:tag name="KSO_WM_UNIT_HIGHLIGHT" val="0"/>
  <p:tag name="KSO_WM_UNIT_COMPATIBLE" val="0"/>
  <p:tag name="KSO_WM_UNIT_DIAGRAM_ISNUMVISUAL" val="0"/>
  <p:tag name="KSO_WM_UNIT_DIAGRAM_ISREFERUNIT" val="0"/>
  <p:tag name="KSO_WM_DIAGRAM_GROUP_CODE" val="l1-1"/>
  <p:tag name="KSO_WM_UNIT_SUBTYPE" val="d"/>
  <p:tag name="KSO_WM_UNIT_TYPE" val="l_h_i"/>
  <p:tag name="KSO_WM_UNIT_INDEX" val="1_1_1"/>
  <p:tag name="KSO_WM_UNIT_ID" val="diagram20231967_3*l_h_i*1_1_1"/>
  <p:tag name="KSO_WM_TEMPLATE_CATEGORY" val="diagram"/>
  <p:tag name="KSO_WM_TEMPLATE_INDEX" val="20231967"/>
  <p:tag name="KSO_WM_UNIT_LAYERLEVEL" val="1_1_1"/>
  <p:tag name="KSO_WM_TAG_VERSION" val="3.0"/>
  <p:tag name="KSO_WM_BEAUTIFY_FLAG" val="#wm#"/>
  <p:tag name="KSO_WM_DIAGRAM_MAX_ITEMCNT" val="4"/>
  <p:tag name="KSO_WM_DIAGRAM_MIN_ITEMCNT" val="2"/>
  <p:tag name="KSO_WM_DIAGRAM_VIRTUALLY_FRAME" val="{&quot;height&quot;:474.0255118110237,&quot;left&quot;:15.744287109375,&quot;top&quot;:73.64566929133858,&quot;width&quot;:748.6921695835388}"/>
  <p:tag name="KSO_WM_DIAGRAM_COLOR_MATCH_VALUE" val="{&quot;shape&quot;:{&quot;fill&quot;:{&quot;solid&quot;:{&quot;brightness&quot;:0,&quot;colorType&quot;:1,&quot;foreColorIndex&quot;:5,&quot;transparency&quot;:0},&quot;type&quot;:1},&quot;glow&quot;:{&quot;colorType&quot;:0},&quot;line&quot;:{&quot;type&quot;:0},&quot;shadow&quot;:{&quot;colorType&quot;:0},&quot;threeD&quot;:{&quot;curvedSurface&quot;:{&quot;brightness&quot;:0,&quot;colorType&quot;:2,&quot;rgb&quot;:&quot;#000000&quot;},&quot;depth&quot;:{&quot;colorType&quot;:0}}},&quot;text&quot;:{&quot;fill&quot;:{&quot;solid&quot;:{&quot;brightness&quot;:0,&quot;colorType&quot;:1,&quot;foreColorIndex&quot;:2,&quot;transparency&quot;:0},&quot;type&quot;:1},&quot;glow&quot;:{&quot;colorType&quot;:0},&quot;line&quot;:{&quot;type&quot;:0},&quot;shadow&quot;:{&quot;colorType&quot;:0},&quot;threeD&quot;:{&quot;curvedSurface&quot;:{&quot;brightness&quot;:0,&quot;colorType&quot;:2,&quot;rgb&quot;:&quot;#000000&quot;},&quot;depth&quot;:{&quot;colorType&quot;:0}}}}"/>
  <p:tag name="KSO_WM_UNIT_FILL_TYPE" val="1"/>
  <p:tag name="KSO_WM_UNIT_FILL_FORE_SCHEMECOLOR_INDEX" val="5"/>
  <p:tag name="KSO_WM_UNIT_FILL_FORE_SCHEMECOLOR_INDEX_BRIGHTNESS" val="0"/>
  <p:tag name="KSO_WM_UNIT_TEXT_FILL_FORE_SCHEMECOLOR_INDEX" val="1"/>
  <p:tag name="KSO_WM_UNIT_TEXT_FILL_TYPE" val="1"/>
  <p:tag name="KSO_WM_DIAGRAM_USE_COLOR_VALUE" val="{&quot;color_scheme&quot;:1,&quot;color_type&quot;:1,&quot;theme_color_indexes&quot;:[]}"/>
  <p:tag name="KSO_WM_UNIT_PLACING_PICTURE_USER_VIEWPORT" val="{&quot;height&quot;:875.8820801965509,&quot;width&quot;:875.8820801965524}"/>
</p:tagLst>
</file>

<file path=ppt/tags/tag20.xml><?xml version="1.0" encoding="utf-8"?>
<p:tagLst xmlns:p="http://schemas.openxmlformats.org/presentationml/2006/main">
  <p:tag name="DATA_TYPE" val="OfficePlusSmartComponent"/>
  <p:tag name="OP_SCP_TAG_VERSION" val="1.0"/>
  <p:tag name="OP_SCP_CHANGE_COLOR" val="N"/>
  <p:tag name="OP_SCP_COMPONENT_TYPE" val="Relation"/>
  <p:tag name="OP_SCP_CONTENT_ID" val="MatlComponentContent-10000"/>
  <p:tag name="OP_SCP_COMPONENT_INFO" val="{&quot;title&quot;:&quot;蓝白色环形3项总分总结PPT组件&quot;,&quot;description&quot;:&quot;蓝白色环形3项总分总结PPT组件&quot;,&quot;keywords&quot;:[&quot;蓝色&quot;,&quot;白色&quot;,&quot;环形&quot;,&quot;3项&quot;,&quot;总分&quot;,&quot;总结&quot;,&quot;PPT组件&quot;],&quot;labels&quot;:[]}"/>
  <p:tag name="OP_SCP_GROUP_ID" val="bd8919d8-8d42-7ebd-7984-07bfa7a2e4c0"/>
  <p:tag name="OP_SCP_ITEM_COUNT" val="3"/>
</p:tagLst>
</file>

<file path=ppt/tags/tag21.xml><?xml version="1.0" encoding="utf-8"?>
<p:tagLst xmlns:p="http://schemas.openxmlformats.org/presentationml/2006/main">
  <p:tag name="OP_SCP_SHAPE_TYPE" val="Index"/>
  <p:tag name="OP_SCP_ITEM_INDEX" val="0"/>
  <p:tag name="OP_SCP_DEFAULT_TEXT" val="03"/>
</p:tagLst>
</file>

<file path=ppt/tags/tag22.xml><?xml version="1.0" encoding="utf-8"?>
<p:tagLst xmlns:p="http://schemas.openxmlformats.org/presentationml/2006/main">
  <p:tag name="OP_SCP_SHAPE_TYPE" val="Title"/>
  <p:tag name="OP_SCP_ITEM_INDEX" val="1"/>
  <p:tag name="OP_SCP_DEFAULT_TEXT" val="添加标题"/>
</p:tagLst>
</file>

<file path=ppt/tags/tag23.xml><?xml version="1.0" encoding="utf-8"?>
<p:tagLst xmlns:p="http://schemas.openxmlformats.org/presentationml/2006/main">
  <p:tag name="OP_SCP_SHAPE_TYPE" val="Body"/>
  <p:tag name="OP_SCP_ITEM_INDEX" val="1"/>
  <p:tag name="OP_SCP_DEFAULT_TEXT" val="单击此处添加文本"/>
</p:tagLst>
</file>

<file path=ppt/tags/tag24.xml><?xml version="1.0" encoding="utf-8"?>
<p:tagLst xmlns:p="http://schemas.openxmlformats.org/presentationml/2006/main">
  <p:tag name="OP_SCP_SHAPE_TYPE" val="Title"/>
  <p:tag name="OP_SCP_ITEM_INDEX" val="2"/>
  <p:tag name="OP_SCP_DEFAULT_TEXT" val="添加标题"/>
</p:tagLst>
</file>

<file path=ppt/tags/tag25.xml><?xml version="1.0" encoding="utf-8"?>
<p:tagLst xmlns:p="http://schemas.openxmlformats.org/presentationml/2006/main">
  <p:tag name="OP_SCP_SHAPE_TYPE" val="Body"/>
  <p:tag name="OP_SCP_ITEM_INDEX" val="2"/>
  <p:tag name="OP_SCP_DEFAULT_TEXT" val="单击此处添加文本"/>
</p:tagLst>
</file>

<file path=ppt/tags/tag26.xml><?xml version="1.0" encoding="utf-8"?>
<p:tagLst xmlns:p="http://schemas.openxmlformats.org/presentationml/2006/main">
  <p:tag name="OP_SCP_SHAPE_TYPE" val="Title"/>
  <p:tag name="OP_SCP_ITEM_INDEX" val="3"/>
  <p:tag name="OP_SCP_DEFAULT_TEXT" val="添加标题"/>
</p:tagLst>
</file>

<file path=ppt/tags/tag27.xml><?xml version="1.0" encoding="utf-8"?>
<p:tagLst xmlns:p="http://schemas.openxmlformats.org/presentationml/2006/main">
  <p:tag name="OP_SCP_SHAPE_TYPE" val="Body"/>
  <p:tag name="OP_SCP_ITEM_INDEX" val="3"/>
  <p:tag name="OP_SCP_DEFAULT_TEXT" val="单击此处添加文本"/>
</p:tagLst>
</file>

<file path=ppt/tags/tag28.xml><?xml version="1.0" encoding="utf-8"?>
<p:tagLst xmlns:p="http://schemas.openxmlformats.org/presentationml/2006/main">
  <p:tag name="TYPE" val="icon"/>
</p:tagLst>
</file>

<file path=ppt/tags/tag29.xml><?xml version="1.0" encoding="utf-8"?>
<p:tagLst xmlns:p="http://schemas.openxmlformats.org/presentationml/2006/main">
  <p:tag name="TYPE" val="icon"/>
</p:tagLst>
</file>

<file path=ppt/tags/tag30.xml><?xml version="1.0" encoding="utf-8"?>
<p:tagLst xmlns:p="http://schemas.openxmlformats.org/presentationml/2006/main">
  <p:tag name="TYPE" val="icon"/>
</p:tagLst>
</file>

<file path=ppt/theme/theme1.xml><?xml version="1.0" encoding="utf-8"?>
<a:theme xmlns:a="http://schemas.openxmlformats.org/drawingml/2006/main" name="WPS">
  <a:themeElements>
    <a:clrScheme name="WPS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874CB"/>
      </a:accent1>
      <a:accent2>
        <a:srgbClr val="EE822F"/>
      </a:accent2>
      <a:accent3>
        <a:srgbClr val="F2BA02"/>
      </a:accent3>
      <a:accent4>
        <a:srgbClr val="75BD42"/>
      </a:accent4>
      <a:accent5>
        <a:srgbClr val="30C0B4"/>
      </a:accent5>
      <a:accent6>
        <a:srgbClr val="E54C5E"/>
      </a:accent6>
      <a:hlink>
        <a:srgbClr val="0026E5"/>
      </a:hlink>
      <a:folHlink>
        <a:srgbClr val="7E1FAD"/>
      </a:folHlink>
    </a:clrScheme>
    <a:fontScheme name="WPS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微软雅黑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微软雅黑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WPS">
      <a:fillStyleLst>
        <a:solidFill>
          <a:schemeClr val="phClr"/>
        </a:solidFill>
        <a:gradFill>
          <a:gsLst>
            <a:gs pos="0">
              <a:schemeClr val="phClr">
                <a:lumOff val="17500"/>
              </a:schemeClr>
            </a:gs>
            <a:gs pos="100000">
              <a:schemeClr val="phClr"/>
            </a:gs>
          </a:gsLst>
          <a:lin ang="2700000" scaled="0"/>
        </a:gradFill>
        <a:gradFill>
          <a:gsLst>
            <a:gs pos="0">
              <a:schemeClr val="phClr">
                <a:hueOff val="-2520000"/>
              </a:schemeClr>
            </a:gs>
            <a:gs pos="100000">
              <a:schemeClr val="phClr"/>
            </a:gs>
          </a:gsLst>
          <a:lin ang="27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gradFill>
            <a:gsLst>
              <a:gs pos="0">
                <a:schemeClr val="phClr">
                  <a:hueOff val="-4200000"/>
                </a:schemeClr>
              </a:gs>
              <a:gs pos="100000">
                <a:schemeClr val="phClr"/>
              </a:gs>
            </a:gsLst>
            <a:lin ang="2700000" scaled="1"/>
          </a:gradFill>
          <a:prstDash val="solid"/>
          <a:miter lim="800000"/>
        </a:ln>
      </a:lnStyleLst>
      <a:effectStyleLst>
        <a:effectStyle>
          <a:effectLst>
            <a:outerShdw blurRad="101600" dist="50800" dir="5400000" algn="ctr" rotWithShape="0">
              <a:schemeClr val="phClr">
                <a:alpha val="60000"/>
              </a:schemeClr>
            </a:outerShdw>
          </a:effectLst>
        </a:effectStyle>
        <a:effectStyle>
          <a:effectLst>
            <a:reflection stA="50000" endA="300" endPos="40000" dist="25400" dir="5400000" sy="-100000" algn="bl" rotWithShape="0"/>
          </a:effectLst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3_Office 主题​​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mveerpa5">
      <a:majorFont>
        <a:latin typeface="Arial"/>
        <a:ea typeface="微软雅黑"/>
        <a:cs typeface=""/>
      </a:majorFont>
      <a:minorFont>
        <a:latin typeface="Arial"/>
        <a:ea typeface="微软雅黑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spDef>
      <a:spPr/>
      <a:bodyPr rtlCol="0" anchor="ctr"/>
      <a:lstStyle>
        <a:defPPr algn="ctr">
          <a:defRPr/>
        </a:defPPr>
      </a:lstStyle>
      <a:style>
        <a:lnRef idx="2">
          <a:schemeClr val="accent1">
            <a:shade val="50000"/>
          </a:schemeClr>
        </a:lnRef>
        <a:fillRef idx="1">
          <a:schemeClr val="accent1"/>
        </a:fillRef>
        <a:effectRef idx="0">
          <a:schemeClr val="accent1"/>
        </a:effectRef>
        <a:fontRef idx="minor">
          <a:schemeClr val="lt1"/>
        </a:fontRef>
      </a:style>
    </a:spDef>
  </a:objectDefaul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3.xml><?xml version="1.0" encoding="utf-8"?>
<a:theme xmlns:a="http://schemas.openxmlformats.org/drawingml/2006/main" name="Office 主题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1221</Words>
  <Application>WPS 演示</Application>
  <PresentationFormat>宽屏</PresentationFormat>
  <Paragraphs>79</Paragraphs>
  <Slides>3</Slides>
  <Notes>0</Notes>
  <HiddenSlides>0</HiddenSlides>
  <MMClips>0</MMClips>
  <ScaleCrop>false</ScaleCrop>
  <HeadingPairs>
    <vt:vector size="6" baseType="variant">
      <vt:variant>
        <vt:lpstr>已用的字体</vt:lpstr>
      </vt:variant>
      <vt:variant>
        <vt:i4>9</vt:i4>
      </vt:variant>
      <vt:variant>
        <vt:lpstr>主题</vt:lpstr>
      </vt:variant>
      <vt:variant>
        <vt:i4>2</vt:i4>
      </vt:variant>
      <vt:variant>
        <vt:lpstr>幻灯片标题</vt:lpstr>
      </vt:variant>
      <vt:variant>
        <vt:i4>3</vt:i4>
      </vt:variant>
    </vt:vector>
  </HeadingPairs>
  <TitlesOfParts>
    <vt:vector size="14" baseType="lpstr">
      <vt:lpstr>Arial</vt:lpstr>
      <vt:lpstr>宋体</vt:lpstr>
      <vt:lpstr>Wingdings</vt:lpstr>
      <vt:lpstr>微软雅黑</vt:lpstr>
      <vt:lpstr>Arial</vt:lpstr>
      <vt:lpstr>等线</vt:lpstr>
      <vt:lpstr>ui-sans-serif</vt:lpstr>
      <vt:lpstr>Calibri</vt:lpstr>
      <vt:lpstr>Arial Unicode MS</vt:lpstr>
      <vt:lpstr>WPS</vt:lpstr>
      <vt:lpstr>3_Office 主题​​</vt:lpstr>
      <vt:lpstr>PowerPoint 演示文稿</vt:lpstr>
      <vt:lpstr>PowerPoint 演示文稿</vt:lpstr>
      <vt:lpstr>PowerPoint 演示文稿</vt:lpstr>
    </vt:vector>
  </TitlesOfParts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李锦瑶</dc:creator>
  <cp:lastModifiedBy>就这样</cp:lastModifiedBy>
  <cp:revision>7</cp:revision>
  <dcterms:created xsi:type="dcterms:W3CDTF">2023-08-09T12:44:00Z</dcterms:created>
  <dcterms:modified xsi:type="dcterms:W3CDTF">2026-07-25T12:41:34Z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KSOProductBuildVer">
    <vt:lpwstr>2052-12.1.0.24034</vt:lpwstr>
  </property>
  <property fmtid="{D5CDD505-2E9C-101B-9397-08002B2CF9AE}" pid="3" name="ICV">
    <vt:lpwstr>1701A50C1BD746D0A8CE3ED40933A576_12</vt:lpwstr>
  </property>
</Properties>
</file>